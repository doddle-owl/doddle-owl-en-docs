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52" r:id="rId2"/>
    <p:sldId id="353" r:id="rId3"/>
    <p:sldId id="293" r:id="rId4"/>
    <p:sldId id="295" r:id="rId5"/>
    <p:sldId id="296" r:id="rId6"/>
    <p:sldId id="297" r:id="rId7"/>
    <p:sldId id="299" r:id="rId8"/>
    <p:sldId id="339" r:id="rId9"/>
    <p:sldId id="300" r:id="rId10"/>
    <p:sldId id="301" r:id="rId11"/>
    <p:sldId id="344" r:id="rId12"/>
    <p:sldId id="305" r:id="rId13"/>
    <p:sldId id="307" r:id="rId14"/>
    <p:sldId id="308" r:id="rId15"/>
    <p:sldId id="345" r:id="rId16"/>
    <p:sldId id="346" r:id="rId17"/>
    <p:sldId id="347" r:id="rId18"/>
    <p:sldId id="348" r:id="rId19"/>
    <p:sldId id="349" r:id="rId20"/>
    <p:sldId id="316" r:id="rId21"/>
    <p:sldId id="350" r:id="rId22"/>
    <p:sldId id="338" r:id="rId23"/>
    <p:sldId id="319" r:id="rId24"/>
    <p:sldId id="321" r:id="rId25"/>
    <p:sldId id="322" r:id="rId26"/>
    <p:sldId id="323" r:id="rId27"/>
    <p:sldId id="324" r:id="rId28"/>
    <p:sldId id="325" r:id="rId29"/>
    <p:sldId id="326" r:id="rId30"/>
    <p:sldId id="351" r:id="rId31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9900"/>
    <a:srgbClr val="FFCC00"/>
    <a:srgbClr val="FFCCFF"/>
    <a:srgbClr val="FF9933"/>
    <a:srgbClr val="CCFFCC"/>
    <a:srgbClr val="00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7"/>
    <p:restoredTop sz="89521" autoAdjust="0"/>
  </p:normalViewPr>
  <p:slideViewPr>
    <p:cSldViewPr>
      <p:cViewPr varScale="1">
        <p:scale>
          <a:sx n="102" d="100"/>
          <a:sy n="102" d="100"/>
        </p:scale>
        <p:origin x="216" y="4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45055-3E6C-B74E-A4EC-3E2BB82C846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8704F-489F-3747-A5AF-16421D0A2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90494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670992-8C38-6E4F-BF4E-1F57378C99C3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21D0B7D-7D95-6B48-B51A-9934F8294F47}" type="slidenum">
              <a:rPr lang="en-US" altLang="ja-JP"/>
              <a:pPr eaLnBrk="1" hangingPunct="1"/>
              <a:t>3</a:t>
            </a:fld>
            <a:endParaRPr lang="en-US" altLang="ja-JP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BB2351C-2441-464D-AB08-FF8F053C416E}" type="slidenum">
              <a:rPr lang="en-US" altLang="ja-JP"/>
              <a:pPr eaLnBrk="1" hangingPunct="1"/>
              <a:t>4</a:t>
            </a:fld>
            <a:endParaRPr lang="en-US" altLang="ja-JP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997CA96-5C7D-624C-AA0D-176A208A2B9E}" type="slidenum">
              <a:rPr lang="en-US" altLang="ja-JP"/>
              <a:pPr eaLnBrk="1" hangingPunct="1"/>
              <a:t>5</a:t>
            </a:fld>
            <a:endParaRPr lang="en-US" altLang="ja-JP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619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3619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CE6AEF5-4C2F-AC4C-8FC7-60424E408BFA}" type="slidenum">
              <a:rPr lang="en-US" altLang="ja-JP"/>
              <a:pPr eaLnBrk="1" hangingPunct="1"/>
              <a:t>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4BF4E29-B2F4-814E-996A-05F730D890FE}" type="slidenum">
              <a:rPr lang="en-US" altLang="ja-JP"/>
              <a:pPr eaLnBrk="1" hangingPunct="1"/>
              <a:t>7</a:t>
            </a:fld>
            <a:endParaRPr lang="en-US" altLang="ja-JP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1238" cy="3427413"/>
          </a:xfrm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3168" tIns="46584" rIns="93168" bIns="46584"/>
          <a:lstStyle/>
          <a:p>
            <a:pPr eaLnBrk="1" hangingPunct="1"/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824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3824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3C6608-5785-8046-A7CD-F251BF6C9B13}" type="slidenum">
              <a:rPr lang="en-US" altLang="ja-JP"/>
              <a:pPr eaLnBrk="1" hangingPunct="1"/>
              <a:t>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BD5711B5-DFB6-1D47-89D5-A28D1F0F44E4}" type="slidenum">
              <a:rPr lang="en-US" altLang="ja-JP"/>
              <a:pPr eaLnBrk="1" hangingPunct="1"/>
              <a:t>9</a:t>
            </a:fld>
            <a:endParaRPr lang="en-US" altLang="ja-JP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E8DDEDC-7AD1-104B-B91B-1F53850DDC6E}" type="slidenum">
              <a:rPr lang="en-US" altLang="ja-JP"/>
              <a:pPr eaLnBrk="1" hangingPunct="1"/>
              <a:t>10</a:t>
            </a:fld>
            <a:endParaRPr lang="en-US" altLang="ja-JP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4131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5B8BA47-3928-7641-816B-7908E931B2FD}" type="slidenum">
              <a:rPr lang="ja-JP" altLang="en-US"/>
              <a:pPr eaLnBrk="1" hangingPunct="1"/>
              <a:t>11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BF547C1-40D5-A34B-BA66-09AEFBFA75C5}" type="slidenum">
              <a:rPr lang="en-US" altLang="ja-JP"/>
              <a:pPr eaLnBrk="1" hangingPunct="1"/>
              <a:t>12</a:t>
            </a:fld>
            <a:endParaRPr lang="en-US" altLang="ja-JP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4A16D0B-BC25-B64D-81F0-CCF4E5D6A5F2}" type="slidenum">
              <a:rPr lang="en-US" altLang="ja-JP"/>
              <a:pPr eaLnBrk="1" hangingPunct="1"/>
              <a:t>13</a:t>
            </a:fld>
            <a:endParaRPr lang="en-US" altLang="ja-JP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05B6F4C-B7BE-754E-B749-F3E779CD330E}" type="slidenum">
              <a:rPr lang="en-US" altLang="ja-JP"/>
              <a:pPr eaLnBrk="1" hangingPunct="1"/>
              <a:t>14</a:t>
            </a:fld>
            <a:endParaRPr lang="en-US" altLang="ja-JP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155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192E0FB-6DB6-E54C-81D1-EA6BC1242C3A}" type="slidenum">
              <a:rPr lang="en-US" altLang="ja-JP"/>
              <a:pPr eaLnBrk="1" hangingPunct="1"/>
              <a:t>20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0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ja-JP" altLang="en-US" dirty="0"/>
          </a:p>
        </p:txBody>
      </p:sp>
      <p:sp>
        <p:nvSpPr>
          <p:cNvPr id="15360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AC32F4E-0644-AB49-99B1-280009F9B595}" type="slidenum">
              <a:rPr lang="en-US" altLang="ja-JP"/>
              <a:pPr eaLnBrk="1" hangingPunct="1"/>
              <a:t>22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462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3FA580E-A1B1-7349-BBA1-E33B0C9B9048}" type="slidenum">
              <a:rPr lang="en-US" altLang="ja-JP"/>
              <a:pPr eaLnBrk="1" hangingPunct="1"/>
              <a:t>23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667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1C3EB4A-D490-EA40-8AB9-FF8767C3459A}" type="slidenum">
              <a:rPr lang="en-US" altLang="ja-JP"/>
              <a:pPr eaLnBrk="1" hangingPunct="1"/>
              <a:t>24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7700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A268F7E-0B81-014D-9C25-036793A38700}" type="slidenum">
              <a:rPr lang="en-US" altLang="ja-JP"/>
              <a:pPr eaLnBrk="1" hangingPunct="1"/>
              <a:t>25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3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8724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0E29108-BA14-974B-8671-D31C4C5272EB}" type="slidenum">
              <a:rPr lang="en-US" altLang="ja-JP"/>
              <a:pPr eaLnBrk="1" hangingPunct="1"/>
              <a:t>26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974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5974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3190C7E-D2C1-7E4E-BB70-7B448458C2E5}" type="slidenum">
              <a:rPr lang="en-US" altLang="ja-JP"/>
              <a:pPr eaLnBrk="1" hangingPunct="1"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 dirty="0"/>
          </a:p>
        </p:txBody>
      </p:sp>
      <p:sp>
        <p:nvSpPr>
          <p:cNvPr id="160772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D76B58E-7D59-6342-A8EE-67B99433D8D6}" type="slidenum">
              <a:rPr lang="en-US" altLang="ja-JP"/>
              <a:pPr eaLnBrk="1" hangingPunct="1"/>
              <a:t>28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1795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  <p:sp>
        <p:nvSpPr>
          <p:cNvPr id="161796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7928D9A-1BC0-2D4F-A4EC-2FEB84B3DEC6}" type="slidenum">
              <a:rPr lang="en-US" altLang="ja-JP"/>
              <a:pPr eaLnBrk="1" hangingPunct="1"/>
              <a:t>29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70992-8C38-6E4F-BF4E-1F57378C99C3}" type="slidenum">
              <a:rPr lang="en-US" altLang="ja-JP" smtClean="0"/>
              <a:pPr/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035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FAC62-D067-AE49-BEF7-34DDD3D5C0C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936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5589B9-164E-E143-8E6A-BA5225C39D8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8189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A57F66-4686-DA49-8169-FD9095B0C3D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94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2BD005-E012-D343-9622-9D2A27A5E0E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4007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91FA75-8EF1-7C4E-BE3A-DFAE4D19092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783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33DDED-99EA-2642-B318-D91884C028F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424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60EDAF-AF3A-6942-BA52-E2747D204BC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37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8C6F56-A9AE-164E-92F7-4CD1EE71551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440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CCFF8-35F0-7E4F-9A99-A35917B2EF8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051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2F033-192F-624F-A9D4-1D248D13618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7400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1189A0-AE46-B448-923E-ADFFB4E9986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385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DDC3D6EE-D7C3-544B-8FCC-C83A0759592A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tiff"/><Relationship Id="rId3" Type="http://schemas.openxmlformats.org/officeDocument/2006/relationships/image" Target="../media/image19.png"/><Relationship Id="rId7" Type="http://schemas.openxmlformats.org/officeDocument/2006/relationships/image" Target="../media/image23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tif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>
            <a:extLst>
              <a:ext uri="{FF2B5EF4-FFF2-40B4-BE49-F238E27FC236}">
                <a16:creationId xmlns:a16="http://schemas.microsoft.com/office/drawing/2014/main" id="{A0712BA0-EDE2-3A2D-A0AF-2CAA6DAEA36B}"/>
              </a:ext>
            </a:extLst>
          </p:cNvPr>
          <p:cNvSpPr/>
          <p:nvPr/>
        </p:nvSpPr>
        <p:spPr bwMode="auto">
          <a:xfrm>
            <a:off x="2188223" y="76200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Ontology Selection</a:t>
            </a:r>
          </a:p>
          <a:p>
            <a:pPr algn="ctr"/>
            <a:r>
              <a:rPr kumimoji="1"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659B07E-4DB6-FC39-E2E6-6867EB6444CA}"/>
              </a:ext>
            </a:extLst>
          </p:cNvPr>
          <p:cNvSpPr/>
          <p:nvPr/>
        </p:nvSpPr>
        <p:spPr bwMode="auto">
          <a:xfrm>
            <a:off x="2188223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Modules</a:t>
            </a: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80E2384-45DC-1A3C-6F4B-0FE01D751EC3}"/>
              </a:ext>
            </a:extLst>
          </p:cNvPr>
          <p:cNvSpPr/>
          <p:nvPr/>
        </p:nvSpPr>
        <p:spPr bwMode="auto">
          <a:xfrm>
            <a:off x="4623594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Ontology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Construction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Modules</a:t>
            </a: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8E32653-5149-7BEC-38E6-740EE2E7B950}"/>
              </a:ext>
            </a:extLst>
          </p:cNvPr>
          <p:cNvSpPr/>
          <p:nvPr/>
        </p:nvSpPr>
        <p:spPr bwMode="auto">
          <a:xfrm>
            <a:off x="7086600" y="2971800"/>
            <a:ext cx="2057400" cy="25908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Ontology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Refinement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Modules</a:t>
            </a: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en-US" altLang="ja-JP" dirty="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  <a:p>
            <a:pPr algn="ctr"/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840DA6A8-00C7-1888-9C39-18CEDEF953F7}"/>
              </a:ext>
            </a:extLst>
          </p:cNvPr>
          <p:cNvSpPr/>
          <p:nvPr/>
        </p:nvSpPr>
        <p:spPr bwMode="auto">
          <a:xfrm>
            <a:off x="9837632" y="3782011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Translation</a:t>
            </a:r>
          </a:p>
          <a:p>
            <a:pPr algn="ctr"/>
            <a:r>
              <a:rPr kumimoji="1"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</a:t>
            </a:r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8" name="AutoShape 341">
            <a:extLst>
              <a:ext uri="{FF2B5EF4-FFF2-40B4-BE49-F238E27FC236}">
                <a16:creationId xmlns:a16="http://schemas.microsoft.com/office/drawing/2014/main" id="{3EC748B5-F1B3-65CE-51FE-DD2C8C99A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223" y="1447800"/>
            <a:ext cx="2057400" cy="1066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Reference </a:t>
            </a:r>
          </a:p>
          <a:p>
            <a:pPr algn="ctr" eaLnBrk="1" hangingPunct="1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Ontologies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4DBED86-8286-F4EA-4763-6223C5C2C5AA}"/>
              </a:ext>
            </a:extLst>
          </p:cNvPr>
          <p:cNvGrpSpPr>
            <a:grpSpLocks/>
          </p:cNvGrpSpPr>
          <p:nvPr/>
        </p:nvGrpSpPr>
        <p:grpSpPr bwMode="auto">
          <a:xfrm>
            <a:off x="258868" y="3588266"/>
            <a:ext cx="1309688" cy="1066800"/>
            <a:chOff x="249" y="2118"/>
            <a:chExt cx="788" cy="85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3DE9EBA2-C3D5-CC3F-542A-7989ECB29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41" name="Rectangle 6">
                <a:extLst>
                  <a:ext uri="{FF2B5EF4-FFF2-40B4-BE49-F238E27FC236}">
                    <a16:creationId xmlns:a16="http://schemas.microsoft.com/office/drawing/2014/main" id="{4EA53561-84B7-0619-008B-FD71AD9AE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149B385F-CF12-C94E-54AB-217F15020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Line 8">
                <a:extLst>
                  <a:ext uri="{FF2B5EF4-FFF2-40B4-BE49-F238E27FC236}">
                    <a16:creationId xmlns:a16="http://schemas.microsoft.com/office/drawing/2014/main" id="{349FED60-1DF9-C209-1BFE-BE2DD29F5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Line 9">
                <a:extLst>
                  <a:ext uri="{FF2B5EF4-FFF2-40B4-BE49-F238E27FC236}">
                    <a16:creationId xmlns:a16="http://schemas.microsoft.com/office/drawing/2014/main" id="{1CFB888A-56FD-F2CA-F463-5D331077F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Line 10">
                <a:extLst>
                  <a:ext uri="{FF2B5EF4-FFF2-40B4-BE49-F238E27FC236}">
                    <a16:creationId xmlns:a16="http://schemas.microsoft.com/office/drawing/2014/main" id="{45DCD9D2-3BE5-94C4-3F08-425721B21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Line 11">
                <a:extLst>
                  <a:ext uri="{FF2B5EF4-FFF2-40B4-BE49-F238E27FC236}">
                    <a16:creationId xmlns:a16="http://schemas.microsoft.com/office/drawing/2014/main" id="{EFFAC8B6-052A-05EC-563B-DD1445F7E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Line 12">
                <a:extLst>
                  <a:ext uri="{FF2B5EF4-FFF2-40B4-BE49-F238E27FC236}">
                    <a16:creationId xmlns:a16="http://schemas.microsoft.com/office/drawing/2014/main" id="{256B7B17-7700-A3A9-B799-051B7C900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Line 13">
                <a:extLst>
                  <a:ext uri="{FF2B5EF4-FFF2-40B4-BE49-F238E27FC236}">
                    <a16:creationId xmlns:a16="http://schemas.microsoft.com/office/drawing/2014/main" id="{593542BB-804E-788D-6A0E-39D0F1C5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D302F1A9-7C35-0C65-34EB-3EB7CD6AB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6E5D59D5-03A1-544C-A35B-F768690CC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32" name="Rectangle 16">
                <a:extLst>
                  <a:ext uri="{FF2B5EF4-FFF2-40B4-BE49-F238E27FC236}">
                    <a16:creationId xmlns:a16="http://schemas.microsoft.com/office/drawing/2014/main" id="{E99E6C14-EA1A-33C6-5850-882A9DF41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Rectangle 17">
                <a:extLst>
                  <a:ext uri="{FF2B5EF4-FFF2-40B4-BE49-F238E27FC236}">
                    <a16:creationId xmlns:a16="http://schemas.microsoft.com/office/drawing/2014/main" id="{BF99CE3D-65E3-CC05-A73A-44ACC3F6C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Line 18">
                <a:extLst>
                  <a:ext uri="{FF2B5EF4-FFF2-40B4-BE49-F238E27FC236}">
                    <a16:creationId xmlns:a16="http://schemas.microsoft.com/office/drawing/2014/main" id="{191D2063-A79C-1F75-4EC3-DAA77938B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Line 19">
                <a:extLst>
                  <a:ext uri="{FF2B5EF4-FFF2-40B4-BE49-F238E27FC236}">
                    <a16:creationId xmlns:a16="http://schemas.microsoft.com/office/drawing/2014/main" id="{32FEDF8F-2B85-677A-19A3-FC0A454F7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Line 20">
                <a:extLst>
                  <a:ext uri="{FF2B5EF4-FFF2-40B4-BE49-F238E27FC236}">
                    <a16:creationId xmlns:a16="http://schemas.microsoft.com/office/drawing/2014/main" id="{15A1C794-D07A-86E5-230A-9C0CD7456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Line 21">
                <a:extLst>
                  <a:ext uri="{FF2B5EF4-FFF2-40B4-BE49-F238E27FC236}">
                    <a16:creationId xmlns:a16="http://schemas.microsoft.com/office/drawing/2014/main" id="{3BAC4B3A-1F85-7377-212E-DB06EE538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Line 22">
                <a:extLst>
                  <a:ext uri="{FF2B5EF4-FFF2-40B4-BE49-F238E27FC236}">
                    <a16:creationId xmlns:a16="http://schemas.microsoft.com/office/drawing/2014/main" id="{78990042-59A9-0190-D5F3-C0CB6AFC7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88768101-A49D-17D1-2B03-416A7CD9A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Line 24">
                <a:extLst>
                  <a:ext uri="{FF2B5EF4-FFF2-40B4-BE49-F238E27FC236}">
                    <a16:creationId xmlns:a16="http://schemas.microsoft.com/office/drawing/2014/main" id="{EB658D06-19F1-DA72-641F-4B9E4DD1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F0D7E2A6-3242-CC5E-5666-04755435E0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A36A44F6-F2DB-14FB-B8CF-E21442749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Rectangle 27">
                <a:extLst>
                  <a:ext uri="{FF2B5EF4-FFF2-40B4-BE49-F238E27FC236}">
                    <a16:creationId xmlns:a16="http://schemas.microsoft.com/office/drawing/2014/main" id="{19633A3B-D755-681D-7EE6-A3D8236BC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Line 28">
                <a:extLst>
                  <a:ext uri="{FF2B5EF4-FFF2-40B4-BE49-F238E27FC236}">
                    <a16:creationId xmlns:a16="http://schemas.microsoft.com/office/drawing/2014/main" id="{7AE6EACC-49E2-2ED3-F63E-CBF7298AA1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Line 29">
                <a:extLst>
                  <a:ext uri="{FF2B5EF4-FFF2-40B4-BE49-F238E27FC236}">
                    <a16:creationId xmlns:a16="http://schemas.microsoft.com/office/drawing/2014/main" id="{772981E4-7599-C523-33CD-1078F6BF9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3A35F7E0-EC84-E378-A14D-866AB4352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305B619E-814C-AA30-69DC-0106F9B7B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EEE82A82-F7E1-3DC1-EFB2-9626E9D5F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Line 33">
                <a:extLst>
                  <a:ext uri="{FF2B5EF4-FFF2-40B4-BE49-F238E27FC236}">
                    <a16:creationId xmlns:a16="http://schemas.microsoft.com/office/drawing/2014/main" id="{B3225CF8-CFAB-CCC0-E6BE-2F3767FBA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Line 34">
                <a:extLst>
                  <a:ext uri="{FF2B5EF4-FFF2-40B4-BE49-F238E27FC236}">
                    <a16:creationId xmlns:a16="http://schemas.microsoft.com/office/drawing/2014/main" id="{D1C78B85-FA1D-EB8E-7784-928CBADDB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C54EDD14-A0F7-EA86-426C-49B40A094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14" name="Rectangle 36">
                <a:extLst>
                  <a:ext uri="{FF2B5EF4-FFF2-40B4-BE49-F238E27FC236}">
                    <a16:creationId xmlns:a16="http://schemas.microsoft.com/office/drawing/2014/main" id="{5A7B1271-8390-FA97-9A11-C5ED57EBE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Rectangle 37">
                <a:extLst>
                  <a:ext uri="{FF2B5EF4-FFF2-40B4-BE49-F238E27FC236}">
                    <a16:creationId xmlns:a16="http://schemas.microsoft.com/office/drawing/2014/main" id="{BF5861CA-6C20-DDB6-7E2F-D99280424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1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Line 38">
                <a:extLst>
                  <a:ext uri="{FF2B5EF4-FFF2-40B4-BE49-F238E27FC236}">
                    <a16:creationId xmlns:a16="http://schemas.microsoft.com/office/drawing/2014/main" id="{0CC2D2EC-4CD0-DE51-31EA-A17E343F8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Line 39">
                <a:extLst>
                  <a:ext uri="{FF2B5EF4-FFF2-40B4-BE49-F238E27FC236}">
                    <a16:creationId xmlns:a16="http://schemas.microsoft.com/office/drawing/2014/main" id="{DFB6503F-489D-2108-2EF7-87ACA6B30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Line 40">
                <a:extLst>
                  <a:ext uri="{FF2B5EF4-FFF2-40B4-BE49-F238E27FC236}">
                    <a16:creationId xmlns:a16="http://schemas.microsoft.com/office/drawing/2014/main" id="{323C3929-FA7D-995C-7A30-97C6C7857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Line 41">
                <a:extLst>
                  <a:ext uri="{FF2B5EF4-FFF2-40B4-BE49-F238E27FC236}">
                    <a16:creationId xmlns:a16="http://schemas.microsoft.com/office/drawing/2014/main" id="{EDC75983-0126-DF84-77D8-99AC8487E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Line 42">
                <a:extLst>
                  <a:ext uri="{FF2B5EF4-FFF2-40B4-BE49-F238E27FC236}">
                    <a16:creationId xmlns:a16="http://schemas.microsoft.com/office/drawing/2014/main" id="{11C32043-B656-F674-582C-DF8D40213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Line 43">
                <a:extLst>
                  <a:ext uri="{FF2B5EF4-FFF2-40B4-BE49-F238E27FC236}">
                    <a16:creationId xmlns:a16="http://schemas.microsoft.com/office/drawing/2014/main" id="{010E616F-E165-EC86-F8B9-195E0F328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Line 44">
                <a:extLst>
                  <a:ext uri="{FF2B5EF4-FFF2-40B4-BE49-F238E27FC236}">
                    <a16:creationId xmlns:a16="http://schemas.microsoft.com/office/drawing/2014/main" id="{A895FD0D-3D0D-BEAB-EFB0-7ED954EBF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 sz="1600">
                  <a:latin typeface="+mj-lt"/>
                  <a:ea typeface="Meiryo" charset="-128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0" name="Text Box 294">
            <a:extLst>
              <a:ext uri="{FF2B5EF4-FFF2-40B4-BE49-F238E27FC236}">
                <a16:creationId xmlns:a16="http://schemas.microsoft.com/office/drawing/2014/main" id="{DE4D7448-1FFE-2303-B915-16F446D1F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48" y="4731266"/>
            <a:ext cx="1624555" cy="9233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+mj-lt"/>
                <a:ea typeface="Meiryo" charset="-128"/>
                <a:cs typeface="Calibri" panose="020F0502020204030204" pitchFamily="34" charset="0"/>
              </a:rPr>
              <a:t>Domain Specific Documents</a:t>
            </a:r>
            <a:endParaRPr lang="ja-JP" altLang="en-US">
              <a:latin typeface="+mj-lt"/>
              <a:ea typeface="Meiryo" charset="-128"/>
              <a:cs typeface="Calibri" panose="020F0502020204030204" pitchFamily="34" charset="0"/>
            </a:endParaRPr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6B12500B-DBDE-8D21-8FD9-1EC01F28EBFB}"/>
              </a:ext>
            </a:extLst>
          </p:cNvPr>
          <p:cNvSpPr/>
          <p:nvPr/>
        </p:nvSpPr>
        <p:spPr bwMode="auto">
          <a:xfrm>
            <a:off x="2317111" y="3814381"/>
            <a:ext cx="1795175" cy="49426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Document</a:t>
            </a:r>
          </a:p>
          <a:p>
            <a:pPr algn="ctr"/>
            <a:r>
              <a:rPr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Selection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9334975D-8417-37F7-9BA6-EC6B2F86D748}"/>
              </a:ext>
            </a:extLst>
          </p:cNvPr>
          <p:cNvSpPr/>
          <p:nvPr/>
        </p:nvSpPr>
        <p:spPr bwMode="auto">
          <a:xfrm>
            <a:off x="2331086" y="4395611"/>
            <a:ext cx="1795175" cy="49426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Term</a:t>
            </a:r>
          </a:p>
          <a:p>
            <a:pPr algn="ctr"/>
            <a:r>
              <a:rPr kumimoji="1"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Selection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3" name="角丸四角形 52">
            <a:extLst>
              <a:ext uri="{FF2B5EF4-FFF2-40B4-BE49-F238E27FC236}">
                <a16:creationId xmlns:a16="http://schemas.microsoft.com/office/drawing/2014/main" id="{4B0A9E69-4A4A-09BF-BDF7-DB9E071E6D48}"/>
              </a:ext>
            </a:extLst>
          </p:cNvPr>
          <p:cNvSpPr/>
          <p:nvPr/>
        </p:nvSpPr>
        <p:spPr bwMode="auto">
          <a:xfrm>
            <a:off x="2317111" y="4972715"/>
            <a:ext cx="1795175" cy="49426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Input Concept</a:t>
            </a:r>
          </a:p>
          <a:p>
            <a:pPr algn="ctr"/>
            <a:r>
              <a:rPr kumimoji="1" lang="en-US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Selection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4" name="角丸四角形 53">
            <a:extLst>
              <a:ext uri="{FF2B5EF4-FFF2-40B4-BE49-F238E27FC236}">
                <a16:creationId xmlns:a16="http://schemas.microsoft.com/office/drawing/2014/main" id="{D48A21D0-24E6-C449-12AB-FB0C3CD416B6}"/>
              </a:ext>
            </a:extLst>
          </p:cNvPr>
          <p:cNvSpPr/>
          <p:nvPr/>
        </p:nvSpPr>
        <p:spPr bwMode="auto">
          <a:xfrm>
            <a:off x="4754706" y="3872616"/>
            <a:ext cx="1795175" cy="49058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Hierarchy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Construction</a:t>
            </a:r>
            <a:endParaRPr kumimoji="1"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5" name="角丸四角形 54">
            <a:extLst>
              <a:ext uri="{FF2B5EF4-FFF2-40B4-BE49-F238E27FC236}">
                <a16:creationId xmlns:a16="http://schemas.microsoft.com/office/drawing/2014/main" id="{E9A323CB-68B9-B673-8943-D5B1CDBD642C}"/>
              </a:ext>
            </a:extLst>
          </p:cNvPr>
          <p:cNvSpPr/>
          <p:nvPr/>
        </p:nvSpPr>
        <p:spPr bwMode="auto">
          <a:xfrm>
            <a:off x="4754706" y="4425348"/>
            <a:ext cx="1795175" cy="49058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Relationship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Construction</a:t>
            </a:r>
          </a:p>
        </p:txBody>
      </p:sp>
      <p:sp>
        <p:nvSpPr>
          <p:cNvPr id="56" name="角丸四角形 55">
            <a:extLst>
              <a:ext uri="{FF2B5EF4-FFF2-40B4-BE49-F238E27FC236}">
                <a16:creationId xmlns:a16="http://schemas.microsoft.com/office/drawing/2014/main" id="{168477D3-077C-69AC-AC39-8157084A46DF}"/>
              </a:ext>
            </a:extLst>
          </p:cNvPr>
          <p:cNvSpPr/>
          <p:nvPr/>
        </p:nvSpPr>
        <p:spPr bwMode="auto">
          <a:xfrm>
            <a:off x="7239000" y="3885294"/>
            <a:ext cx="1795175" cy="47790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Hierarchy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Refinement</a:t>
            </a:r>
            <a:endParaRPr lang="ja-JP" altLang="en-US" sz="1600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7" name="角丸四角形 56">
            <a:extLst>
              <a:ext uri="{FF2B5EF4-FFF2-40B4-BE49-F238E27FC236}">
                <a16:creationId xmlns:a16="http://schemas.microsoft.com/office/drawing/2014/main" id="{246E2334-8AEC-0C1A-A5C5-8B98803E1602}"/>
              </a:ext>
            </a:extLst>
          </p:cNvPr>
          <p:cNvSpPr/>
          <p:nvPr/>
        </p:nvSpPr>
        <p:spPr bwMode="auto">
          <a:xfrm>
            <a:off x="7239000" y="4431687"/>
            <a:ext cx="1795175" cy="47790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Relationship </a:t>
            </a:r>
          </a:p>
          <a:p>
            <a:pPr algn="ctr"/>
            <a:r>
              <a:rPr lang="en" altLang="ja-JP" sz="1600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Refinement</a:t>
            </a:r>
          </a:p>
        </p:txBody>
      </p:sp>
      <p:sp>
        <p:nvSpPr>
          <p:cNvPr id="58" name="角丸四角形 57">
            <a:extLst>
              <a:ext uri="{FF2B5EF4-FFF2-40B4-BE49-F238E27FC236}">
                <a16:creationId xmlns:a16="http://schemas.microsoft.com/office/drawing/2014/main" id="{E052DCEA-68B6-9ABC-4815-9580D7802505}"/>
              </a:ext>
            </a:extLst>
          </p:cNvPr>
          <p:cNvSpPr/>
          <p:nvPr/>
        </p:nvSpPr>
        <p:spPr bwMode="auto">
          <a:xfrm>
            <a:off x="7107887" y="1295400"/>
            <a:ext cx="2057400" cy="914400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Visualization</a:t>
            </a:r>
          </a:p>
          <a:p>
            <a:pPr algn="ctr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Module</a:t>
            </a:r>
            <a:endParaRPr kumimoji="1" lang="ja-JP" altLang="en-US">
              <a:latin typeface="+mj-lt"/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59" name="AutoShape 341">
            <a:extLst>
              <a:ext uri="{FF2B5EF4-FFF2-40B4-BE49-F238E27FC236}">
                <a16:creationId xmlns:a16="http://schemas.microsoft.com/office/drawing/2014/main" id="{86018B6A-4073-7BE5-2915-611AB8225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632" y="5373132"/>
            <a:ext cx="2057400" cy="1066800"/>
          </a:xfrm>
          <a:prstGeom prst="can">
            <a:avLst>
              <a:gd name="adj" fmla="val 25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+mj-lt"/>
                <a:ea typeface="Meiryo" panose="020B0604030504040204" pitchFamily="34" charset="-128"/>
                <a:cs typeface="Calibri" panose="020F0502020204030204" pitchFamily="34" charset="0"/>
              </a:rPr>
              <a:t>Domain Ontology</a:t>
            </a:r>
          </a:p>
        </p:txBody>
      </p:sp>
      <p:sp>
        <p:nvSpPr>
          <p:cNvPr id="60" name="下矢印 59">
            <a:extLst>
              <a:ext uri="{FF2B5EF4-FFF2-40B4-BE49-F238E27FC236}">
                <a16:creationId xmlns:a16="http://schemas.microsoft.com/office/drawing/2014/main" id="{115CCF6B-5A54-8023-8BCA-FCEB6A1B1A7F}"/>
              </a:ext>
            </a:extLst>
          </p:cNvPr>
          <p:cNvSpPr/>
          <p:nvPr/>
        </p:nvSpPr>
        <p:spPr bwMode="auto">
          <a:xfrm>
            <a:off x="3019672" y="1041611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1" name="下矢印 60">
            <a:extLst>
              <a:ext uri="{FF2B5EF4-FFF2-40B4-BE49-F238E27FC236}">
                <a16:creationId xmlns:a16="http://schemas.microsoft.com/office/drawing/2014/main" id="{EEA0E9B8-5B0A-6CC0-1776-4CA5700F7275}"/>
              </a:ext>
            </a:extLst>
          </p:cNvPr>
          <p:cNvSpPr/>
          <p:nvPr/>
        </p:nvSpPr>
        <p:spPr bwMode="auto">
          <a:xfrm>
            <a:off x="3023494" y="257852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2" name="下矢印 61">
            <a:extLst>
              <a:ext uri="{FF2B5EF4-FFF2-40B4-BE49-F238E27FC236}">
                <a16:creationId xmlns:a16="http://schemas.microsoft.com/office/drawing/2014/main" id="{B993621B-E76F-DADC-F7F2-71D50CD6C15A}"/>
              </a:ext>
            </a:extLst>
          </p:cNvPr>
          <p:cNvSpPr/>
          <p:nvPr/>
        </p:nvSpPr>
        <p:spPr bwMode="auto">
          <a:xfrm rot="16200000">
            <a:off x="1638493" y="4040247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3" name="下矢印 62">
            <a:extLst>
              <a:ext uri="{FF2B5EF4-FFF2-40B4-BE49-F238E27FC236}">
                <a16:creationId xmlns:a16="http://schemas.microsoft.com/office/drawing/2014/main" id="{4250EA01-88BD-9B09-62D8-B7392CB88EB1}"/>
              </a:ext>
            </a:extLst>
          </p:cNvPr>
          <p:cNvSpPr/>
          <p:nvPr/>
        </p:nvSpPr>
        <p:spPr bwMode="auto">
          <a:xfrm rot="16200000">
            <a:off x="4202364" y="4104775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4" name="下矢印 63">
            <a:extLst>
              <a:ext uri="{FF2B5EF4-FFF2-40B4-BE49-F238E27FC236}">
                <a16:creationId xmlns:a16="http://schemas.microsoft.com/office/drawing/2014/main" id="{704EA9F7-353D-5080-AA9D-9C256E10ED9F}"/>
              </a:ext>
            </a:extLst>
          </p:cNvPr>
          <p:cNvSpPr/>
          <p:nvPr/>
        </p:nvSpPr>
        <p:spPr bwMode="auto">
          <a:xfrm rot="16200000">
            <a:off x="6663135" y="4080665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5" name="下矢印 64">
            <a:extLst>
              <a:ext uri="{FF2B5EF4-FFF2-40B4-BE49-F238E27FC236}">
                <a16:creationId xmlns:a16="http://schemas.microsoft.com/office/drawing/2014/main" id="{6FBEE134-B990-DD26-E8C7-4474AC9BA25D}"/>
              </a:ext>
            </a:extLst>
          </p:cNvPr>
          <p:cNvSpPr/>
          <p:nvPr/>
        </p:nvSpPr>
        <p:spPr bwMode="auto">
          <a:xfrm rot="16200000">
            <a:off x="9253142" y="414418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6" name="下矢印 65">
            <a:extLst>
              <a:ext uri="{FF2B5EF4-FFF2-40B4-BE49-F238E27FC236}">
                <a16:creationId xmlns:a16="http://schemas.microsoft.com/office/drawing/2014/main" id="{FCC7ED4D-E1C9-2020-5B68-3B81D1B46016}"/>
              </a:ext>
            </a:extLst>
          </p:cNvPr>
          <p:cNvSpPr/>
          <p:nvPr/>
        </p:nvSpPr>
        <p:spPr bwMode="auto">
          <a:xfrm>
            <a:off x="10639135" y="4850833"/>
            <a:ext cx="454394" cy="367877"/>
          </a:xfrm>
          <a:prstGeom prst="downArrow">
            <a:avLst/>
          </a:prstGeom>
          <a:solidFill>
            <a:schemeClr val="tx1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70" name="上下矢印 69">
            <a:extLst>
              <a:ext uri="{FF2B5EF4-FFF2-40B4-BE49-F238E27FC236}">
                <a16:creationId xmlns:a16="http://schemas.microsoft.com/office/drawing/2014/main" id="{E922DB72-6379-6E2F-B711-A48ABC452A3A}"/>
              </a:ext>
            </a:extLst>
          </p:cNvPr>
          <p:cNvSpPr/>
          <p:nvPr/>
        </p:nvSpPr>
        <p:spPr bwMode="auto">
          <a:xfrm>
            <a:off x="7894271" y="2268810"/>
            <a:ext cx="484632" cy="607458"/>
          </a:xfrm>
          <a:prstGeom prst="upDownArrow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kumimoji="1" lang="ja-JP" altLang="en-US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50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185D3147-171B-C4D7-6974-81570ADCE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744" y="-74673"/>
            <a:ext cx="446325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Input Terms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3DD6FB3A-8719-03F6-4FA8-805EE3F2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00639"/>
            <a:ext cx="2159396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Classes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C0EF2172-51BA-3035-CA1B-54463392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8653" y="1800639"/>
            <a:ext cx="2523295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Properties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3C687D10-9306-8E47-7EB8-1ABC2EE7A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960" y="3580873"/>
            <a:ext cx="445248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Existing Ontologies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7" name="AutoShape 21">
            <a:extLst>
              <a:ext uri="{FF2B5EF4-FFF2-40B4-BE49-F238E27FC236}">
                <a16:creationId xmlns:a16="http://schemas.microsoft.com/office/drawing/2014/main" id="{0F13793A-7FAF-9D7C-7A04-33778B4F3848}"/>
              </a:ext>
            </a:extLst>
          </p:cNvPr>
          <p:cNvCxnSpPr>
            <a:cxnSpLocks noChangeShapeType="1"/>
            <a:stCxn id="34" idx="3"/>
            <a:endCxn id="5" idx="0"/>
          </p:cNvCxnSpPr>
          <p:nvPr/>
        </p:nvCxnSpPr>
        <p:spPr bwMode="auto">
          <a:xfrm>
            <a:off x="8382000" y="940266"/>
            <a:ext cx="1968301" cy="860373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AutoShape 22">
            <a:extLst>
              <a:ext uri="{FF2B5EF4-FFF2-40B4-BE49-F238E27FC236}">
                <a16:creationId xmlns:a16="http://schemas.microsoft.com/office/drawing/2014/main" id="{2D3CADD5-B2D6-DE75-5B33-526581C9824C}"/>
              </a:ext>
            </a:extLst>
          </p:cNvPr>
          <p:cNvCxnSpPr>
            <a:cxnSpLocks noChangeShapeType="1"/>
            <a:stCxn id="34" idx="1"/>
            <a:endCxn id="4" idx="0"/>
          </p:cNvCxnSpPr>
          <p:nvPr/>
        </p:nvCxnSpPr>
        <p:spPr bwMode="auto">
          <a:xfrm rot="10800000" flipV="1">
            <a:off x="1841698" y="940265"/>
            <a:ext cx="2077046" cy="860373"/>
          </a:xfrm>
          <a:prstGeom prst="bentConnector2">
            <a:avLst/>
          </a:prstGeom>
          <a:ln w="63500">
            <a:solidFill>
              <a:schemeClr val="tx1"/>
            </a:solidFill>
            <a:headEnd/>
            <a:tailEnd type="triangle" w="med" len="med"/>
          </a:ln>
          <a:effec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102E740-737C-4856-890D-AFED90338B0B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 bwMode="auto">
          <a:xfrm flipV="1">
            <a:off x="2921396" y="1646701"/>
            <a:ext cx="984648" cy="353993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28DF033-ED7B-E751-D69A-384AE08910DB}"/>
              </a:ext>
            </a:extLst>
          </p:cNvPr>
          <p:cNvCxnSpPr>
            <a:cxnSpLocks/>
            <a:stCxn id="34" idx="0"/>
            <a:endCxn id="3" idx="2"/>
          </p:cNvCxnSpPr>
          <p:nvPr/>
        </p:nvCxnSpPr>
        <p:spPr bwMode="auto">
          <a:xfrm flipV="1">
            <a:off x="6150372" y="325437"/>
            <a:ext cx="0" cy="344829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AutoShape 22">
            <a:extLst>
              <a:ext uri="{FF2B5EF4-FFF2-40B4-BE49-F238E27FC236}">
                <a16:creationId xmlns:a16="http://schemas.microsoft.com/office/drawing/2014/main" id="{29485E4B-0992-DFD4-EB4E-8A2176FE62A1}"/>
              </a:ext>
            </a:extLst>
          </p:cNvPr>
          <p:cNvCxnSpPr>
            <a:cxnSpLocks noChangeShapeType="1"/>
            <a:stCxn id="4" idx="2"/>
            <a:endCxn id="35" idx="1"/>
          </p:cNvCxnSpPr>
          <p:nvPr/>
        </p:nvCxnSpPr>
        <p:spPr bwMode="auto">
          <a:xfrm rot="16200000" flipH="1">
            <a:off x="2462623" y="1579824"/>
            <a:ext cx="835197" cy="2077046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AutoShape 22">
            <a:extLst>
              <a:ext uri="{FF2B5EF4-FFF2-40B4-BE49-F238E27FC236}">
                <a16:creationId xmlns:a16="http://schemas.microsoft.com/office/drawing/2014/main" id="{D596D598-06DC-A7F4-C4F8-7CA6020EC418}"/>
              </a:ext>
            </a:extLst>
          </p:cNvPr>
          <p:cNvCxnSpPr>
            <a:cxnSpLocks noChangeShapeType="1"/>
            <a:stCxn id="5" idx="2"/>
            <a:endCxn id="35" idx="3"/>
          </p:cNvCxnSpPr>
          <p:nvPr/>
        </p:nvCxnSpPr>
        <p:spPr bwMode="auto">
          <a:xfrm rot="5400000">
            <a:off x="8948553" y="1634197"/>
            <a:ext cx="835197" cy="1968301"/>
          </a:xfrm>
          <a:prstGeom prst="bentConnector2">
            <a:avLst/>
          </a:prstGeom>
          <a:ln w="63500">
            <a:headEnd/>
            <a:tailEnd type="triangl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5608E89-4B85-EBC1-D34C-F0729ADBFFAC}"/>
              </a:ext>
            </a:extLst>
          </p:cNvPr>
          <p:cNvCxnSpPr>
            <a:cxnSpLocks/>
            <a:stCxn id="36" idx="0"/>
            <a:endCxn id="6" idx="2"/>
          </p:cNvCxnSpPr>
          <p:nvPr/>
        </p:nvCxnSpPr>
        <p:spPr bwMode="auto">
          <a:xfrm flipV="1">
            <a:off x="6152462" y="3980983"/>
            <a:ext cx="1742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150F959-661E-EBA7-5125-AAF42D396FB1}"/>
              </a:ext>
            </a:extLst>
          </p:cNvPr>
          <p:cNvCxnSpPr>
            <a:cxnSpLocks/>
            <a:stCxn id="37" idx="0"/>
            <a:endCxn id="36" idx="2"/>
          </p:cNvCxnSpPr>
          <p:nvPr/>
        </p:nvCxnSpPr>
        <p:spPr bwMode="auto">
          <a:xfrm flipV="1">
            <a:off x="6143246" y="4808763"/>
            <a:ext cx="9216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57E113D-4EB6-15F9-AFDF-7A5A4746DFE7}"/>
              </a:ext>
            </a:extLst>
          </p:cNvPr>
          <p:cNvCxnSpPr>
            <a:cxnSpLocks/>
            <a:stCxn id="38" idx="0"/>
            <a:endCxn id="37" idx="2"/>
          </p:cNvCxnSpPr>
          <p:nvPr/>
        </p:nvCxnSpPr>
        <p:spPr bwMode="auto">
          <a:xfrm flipV="1">
            <a:off x="6141504" y="5636543"/>
            <a:ext cx="1742" cy="287780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C59CCFC7-7A66-7805-50D9-2CD514C8F42A}"/>
              </a:ext>
            </a:extLst>
          </p:cNvPr>
          <p:cNvSpPr/>
          <p:nvPr/>
        </p:nvSpPr>
        <p:spPr bwMode="auto">
          <a:xfrm>
            <a:off x="3906044" y="1376701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2. Property Acquisition</a:t>
            </a:r>
            <a:endParaRPr lang="ja-JP" altLang="en-US" sz="200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28255F54-1160-3B09-9355-CED59538742B}"/>
              </a:ext>
            </a:extLst>
          </p:cNvPr>
          <p:cNvSpPr/>
          <p:nvPr/>
        </p:nvSpPr>
        <p:spPr bwMode="auto">
          <a:xfrm>
            <a:off x="3918744" y="208313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3. </a:t>
            </a:r>
            <a:r>
              <a:rPr lang="en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Class Acquisition</a:t>
            </a:r>
            <a:endParaRPr lang="ja-JP" altLang="en-US" sz="200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D2F115E-DDD7-2577-365F-7814DF82B594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 bwMode="auto">
          <a:xfrm>
            <a:off x="8380448" y="1646701"/>
            <a:ext cx="708205" cy="353993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CDE5D070-7A76-E656-52FB-CCA655658FC7}"/>
              </a:ext>
            </a:extLst>
          </p:cNvPr>
          <p:cNvCxnSpPr>
            <a:cxnSpLocks/>
            <a:stCxn id="5" idx="1"/>
            <a:endCxn id="24" idx="3"/>
          </p:cNvCxnSpPr>
          <p:nvPr/>
        </p:nvCxnSpPr>
        <p:spPr bwMode="auto">
          <a:xfrm flipH="1">
            <a:off x="8382000" y="2000694"/>
            <a:ext cx="706653" cy="352442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4C4D6FC-0500-6C90-18BC-009CCFB73833}"/>
              </a:ext>
            </a:extLst>
          </p:cNvPr>
          <p:cNvCxnSpPr>
            <a:cxnSpLocks/>
            <a:stCxn id="24" idx="1"/>
            <a:endCxn id="4" idx="3"/>
          </p:cNvCxnSpPr>
          <p:nvPr/>
        </p:nvCxnSpPr>
        <p:spPr bwMode="auto">
          <a:xfrm flipH="1" flipV="1">
            <a:off x="2921396" y="2000694"/>
            <a:ext cx="997348" cy="352442"/>
          </a:xfrm>
          <a:prstGeom prst="straightConnector1">
            <a:avLst/>
          </a:prstGeom>
          <a:ln w="63500" cap="flat">
            <a:miter lim="800000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D0C97D2F-D318-41B3-951C-D5966503D80B}"/>
              </a:ext>
            </a:extLst>
          </p:cNvPr>
          <p:cNvSpPr/>
          <p:nvPr/>
        </p:nvSpPr>
        <p:spPr bwMode="auto">
          <a:xfrm>
            <a:off x="3918744" y="67026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1. </a:t>
            </a:r>
            <a:r>
              <a:rPr lang="en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Input Concept Acquisition</a:t>
            </a:r>
            <a:endParaRPr lang="ja-JP" altLang="en-US" sz="200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510BFDE0-DB9D-6FBF-2C24-63A37819B571}"/>
              </a:ext>
            </a:extLst>
          </p:cNvPr>
          <p:cNvSpPr/>
          <p:nvPr/>
        </p:nvSpPr>
        <p:spPr bwMode="auto">
          <a:xfrm>
            <a:off x="3918744" y="2765946"/>
            <a:ext cx="4463256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4. Existing Ontology Acquisition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BFAB00F2-B529-2A01-2E51-EA0F08CD75FB}"/>
              </a:ext>
            </a:extLst>
          </p:cNvPr>
          <p:cNvSpPr/>
          <p:nvPr/>
        </p:nvSpPr>
        <p:spPr bwMode="auto">
          <a:xfrm>
            <a:off x="3915260" y="4268763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5. Element Extraction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5ECDA5A7-13EA-1BF2-46E4-5667B98E4EA0}"/>
              </a:ext>
            </a:extLst>
          </p:cNvPr>
          <p:cNvSpPr/>
          <p:nvPr/>
        </p:nvSpPr>
        <p:spPr bwMode="auto">
          <a:xfrm>
            <a:off x="3906044" y="5096543"/>
            <a:ext cx="4474404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6. Property Filtering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E5A2DA6A-0501-6C39-87D0-D6C5DBCF0D72}"/>
              </a:ext>
            </a:extLst>
          </p:cNvPr>
          <p:cNvSpPr/>
          <p:nvPr/>
        </p:nvSpPr>
        <p:spPr bwMode="auto">
          <a:xfrm>
            <a:off x="3915260" y="5924323"/>
            <a:ext cx="4452488" cy="54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2000" dirty="0">
                <a:solidFill>
                  <a:schemeClr val="tx2"/>
                </a:solidFill>
                <a:ea typeface="Meiryo" panose="020B0604030504040204" pitchFamily="34" charset="-128"/>
                <a:cs typeface="Calibri" panose="020F0502020204030204" pitchFamily="34" charset="0"/>
              </a:rPr>
              <a:t>7. Ranking Existing Ontologies</a:t>
            </a:r>
            <a:endParaRPr lang="ja-JP" altLang="en-US" sz="2000" dirty="0">
              <a:solidFill>
                <a:schemeClr val="tx2"/>
              </a:solidFill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48080034-6165-CC4C-F30C-6EA6977D122B}"/>
              </a:ext>
            </a:extLst>
          </p:cNvPr>
          <p:cNvCxnSpPr>
            <a:cxnSpLocks/>
            <a:stCxn id="6" idx="0"/>
            <a:endCxn id="35" idx="2"/>
          </p:cNvCxnSpPr>
          <p:nvPr/>
        </p:nvCxnSpPr>
        <p:spPr bwMode="auto">
          <a:xfrm flipH="1" flipV="1">
            <a:off x="6150372" y="3305946"/>
            <a:ext cx="3832" cy="274927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Text Box 13">
            <a:extLst>
              <a:ext uri="{FF2B5EF4-FFF2-40B4-BE49-F238E27FC236}">
                <a16:creationId xmlns:a16="http://schemas.microsoft.com/office/drawing/2014/main" id="{53129D44-49A7-9543-C185-5B584969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260" y="6781800"/>
            <a:ext cx="4452488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2000" dirty="0">
                <a:ea typeface="Meiryo" panose="020B0604030504040204" pitchFamily="34" charset="-128"/>
                <a:cs typeface="Calibri" panose="020F0502020204030204" pitchFamily="34" charset="0"/>
              </a:rPr>
              <a:t>Ranking Results</a:t>
            </a:r>
            <a:endParaRPr lang="ja-JP" altLang="en-US" sz="2000" dirty="0">
              <a:ea typeface="Meiryo" panose="020B0604030504040204" pitchFamily="34" charset="-128"/>
              <a:cs typeface="Calibri" panose="020F0502020204030204" pitchFamily="34" charset="0"/>
            </a:endParaRPr>
          </a:p>
        </p:txBody>
      </p:sp>
      <p:cxnSp>
        <p:nvCxnSpPr>
          <p:cNvPr id="208" name="直線矢印コネクタ 207">
            <a:extLst>
              <a:ext uri="{FF2B5EF4-FFF2-40B4-BE49-F238E27FC236}">
                <a16:creationId xmlns:a16="http://schemas.microsoft.com/office/drawing/2014/main" id="{49E2491F-12B7-04EE-0000-3C69318401A1}"/>
              </a:ext>
            </a:extLst>
          </p:cNvPr>
          <p:cNvCxnSpPr>
            <a:cxnSpLocks/>
            <a:stCxn id="207" idx="0"/>
            <a:endCxn id="38" idx="2"/>
          </p:cNvCxnSpPr>
          <p:nvPr/>
        </p:nvCxnSpPr>
        <p:spPr bwMode="auto">
          <a:xfrm flipV="1">
            <a:off x="6141504" y="6464323"/>
            <a:ext cx="0" cy="317477"/>
          </a:xfrm>
          <a:prstGeom prst="straightConnector1">
            <a:avLst/>
          </a:prstGeom>
          <a:ln w="63500"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96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グループ化 41"/>
          <p:cNvGrpSpPr>
            <a:grpSpLocks/>
          </p:cNvGrpSpPr>
          <p:nvPr/>
        </p:nvGrpSpPr>
        <p:grpSpPr bwMode="auto">
          <a:xfrm>
            <a:off x="1600200" y="1752600"/>
            <a:ext cx="8915400" cy="4267200"/>
            <a:chOff x="76200" y="2133600"/>
            <a:chExt cx="8915400" cy="4267200"/>
          </a:xfrm>
        </p:grpSpPr>
        <p:sp>
          <p:nvSpPr>
            <p:cNvPr id="120" name="正方形/長方形 119"/>
            <p:cNvSpPr/>
            <p:nvPr/>
          </p:nvSpPr>
          <p:spPr>
            <a:xfrm>
              <a:off x="76200" y="4343400"/>
              <a:ext cx="8915400" cy="20574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119" name="正方形/長方形 118"/>
            <p:cNvSpPr/>
            <p:nvPr/>
          </p:nvSpPr>
          <p:spPr>
            <a:xfrm>
              <a:off x="4343400" y="2286000"/>
              <a:ext cx="4648200" cy="1828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76200" y="2286000"/>
              <a:ext cx="4191000" cy="1828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/>
            </a:p>
          </p:txBody>
        </p:sp>
        <p:sp>
          <p:nvSpPr>
            <p:cNvPr id="50182" name="Rectangle 5"/>
            <p:cNvSpPr>
              <a:spLocks noChangeArrowheads="1"/>
            </p:cNvSpPr>
            <p:nvPr/>
          </p:nvSpPr>
          <p:spPr bwMode="auto">
            <a:xfrm>
              <a:off x="1338263" y="4581525"/>
              <a:ext cx="201453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containsWordSense</a:t>
              </a:r>
            </a:p>
          </p:txBody>
        </p:sp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4418013" y="4648200"/>
              <a:ext cx="144938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word</a:t>
              </a:r>
            </a:p>
          </p:txBody>
        </p:sp>
        <p:sp>
          <p:nvSpPr>
            <p:cNvPr id="50184" name="Rectangle 9"/>
            <p:cNvSpPr>
              <a:spLocks noChangeArrowheads="1"/>
            </p:cNvSpPr>
            <p:nvPr/>
          </p:nvSpPr>
          <p:spPr bwMode="auto">
            <a:xfrm>
              <a:off x="6172200" y="4572000"/>
              <a:ext cx="1449388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ja-JP" sz="1600"/>
                <a:t>wn20schema:</a:t>
              </a:r>
            </a:p>
            <a:p>
              <a:pPr algn="ctr" eaLnBrk="1" hangingPunct="1"/>
              <a:r>
                <a:rPr lang="en-US" altLang="ja-JP" sz="1600"/>
                <a:t>lexicalForm</a:t>
              </a:r>
            </a:p>
          </p:txBody>
        </p:sp>
        <p:cxnSp>
          <p:nvCxnSpPr>
            <p:cNvPr id="50185" name="AutoShape 11"/>
            <p:cNvCxnSpPr>
              <a:cxnSpLocks noChangeShapeType="1"/>
              <a:stCxn id="51" idx="6"/>
              <a:endCxn id="52" idx="2"/>
            </p:cNvCxnSpPr>
            <p:nvPr/>
          </p:nvCxnSpPr>
          <p:spPr bwMode="auto">
            <a:xfrm>
              <a:off x="1981200" y="5295900"/>
              <a:ext cx="5334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6" name="AutoShape 12"/>
            <p:cNvCxnSpPr>
              <a:cxnSpLocks noChangeShapeType="1"/>
              <a:stCxn id="52" idx="6"/>
              <a:endCxn id="53" idx="2"/>
            </p:cNvCxnSpPr>
            <p:nvPr/>
          </p:nvCxnSpPr>
          <p:spPr bwMode="auto">
            <a:xfrm>
              <a:off x="4876800" y="5295900"/>
              <a:ext cx="6096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7" name="AutoShape 13"/>
            <p:cNvCxnSpPr>
              <a:cxnSpLocks noChangeShapeType="1"/>
              <a:stCxn id="53" idx="6"/>
              <a:endCxn id="55" idx="1"/>
            </p:cNvCxnSpPr>
            <p:nvPr/>
          </p:nvCxnSpPr>
          <p:spPr bwMode="auto">
            <a:xfrm>
              <a:off x="6858000" y="5295900"/>
              <a:ext cx="3810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88" name="AutoShape 17"/>
            <p:cNvCxnSpPr>
              <a:cxnSpLocks noChangeShapeType="1"/>
              <a:stCxn id="25" idx="6"/>
              <a:endCxn id="26" idx="1"/>
            </p:cNvCxnSpPr>
            <p:nvPr/>
          </p:nvCxnSpPr>
          <p:spPr bwMode="auto">
            <a:xfrm>
              <a:off x="1981200" y="3314700"/>
              <a:ext cx="457200" cy="1524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89" name="Rectangle 18"/>
            <p:cNvSpPr>
              <a:spLocks noChangeArrowheads="1"/>
            </p:cNvSpPr>
            <p:nvPr/>
          </p:nvSpPr>
          <p:spPr bwMode="auto">
            <a:xfrm>
              <a:off x="1447800" y="3505200"/>
              <a:ext cx="10160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rdfs:label</a:t>
              </a:r>
            </a:p>
          </p:txBody>
        </p:sp>
        <p:sp>
          <p:nvSpPr>
            <p:cNvPr id="25" name="円/楕円 24"/>
            <p:cNvSpPr/>
            <p:nvPr/>
          </p:nvSpPr>
          <p:spPr>
            <a:xfrm>
              <a:off x="152400" y="3124200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aConcept</a:t>
              </a:r>
              <a:endParaRPr lang="ja-JP" altLang="en-US" sz="2000" dirty="0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438400" y="3276600"/>
              <a:ext cx="16764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dirty="0"/>
                <a:t>概念の見出し</a:t>
              </a:r>
            </a:p>
          </p:txBody>
        </p:sp>
        <p:sp>
          <p:nvSpPr>
            <p:cNvPr id="31" name="円/楕円 30"/>
            <p:cNvSpPr/>
            <p:nvPr/>
          </p:nvSpPr>
          <p:spPr>
            <a:xfrm>
              <a:off x="2438400" y="2743200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owl:Class</a:t>
              </a:r>
              <a:endParaRPr lang="ja-JP" altLang="en-US" sz="2000" dirty="0"/>
            </a:p>
          </p:txBody>
        </p:sp>
        <p:cxnSp>
          <p:nvCxnSpPr>
            <p:cNvPr id="50193" name="AutoShape 17"/>
            <p:cNvCxnSpPr>
              <a:cxnSpLocks noChangeShapeType="1"/>
              <a:stCxn id="25" idx="6"/>
              <a:endCxn id="31" idx="2"/>
            </p:cNvCxnSpPr>
            <p:nvPr/>
          </p:nvCxnSpPr>
          <p:spPr bwMode="auto">
            <a:xfrm flipV="1">
              <a:off x="1981200" y="2933700"/>
              <a:ext cx="457200" cy="381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94" name="Rectangle 18"/>
            <p:cNvSpPr>
              <a:spLocks noChangeArrowheads="1"/>
            </p:cNvSpPr>
            <p:nvPr/>
          </p:nvSpPr>
          <p:spPr bwMode="auto">
            <a:xfrm>
              <a:off x="1447800" y="27432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cxnSp>
          <p:nvCxnSpPr>
            <p:cNvPr id="50195" name="AutoShape 17"/>
            <p:cNvCxnSpPr>
              <a:cxnSpLocks noChangeShapeType="1"/>
              <a:stCxn id="39" idx="6"/>
              <a:endCxn id="40" idx="1"/>
            </p:cNvCxnSpPr>
            <p:nvPr/>
          </p:nvCxnSpPr>
          <p:spPr bwMode="auto">
            <a:xfrm>
              <a:off x="6248400" y="3322638"/>
              <a:ext cx="533400" cy="2206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196" name="Rectangle 18"/>
            <p:cNvSpPr>
              <a:spLocks noChangeArrowheads="1"/>
            </p:cNvSpPr>
            <p:nvPr/>
          </p:nvSpPr>
          <p:spPr bwMode="auto">
            <a:xfrm>
              <a:off x="5187950" y="3548063"/>
              <a:ext cx="15176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skos:prefLabel</a:t>
              </a:r>
            </a:p>
          </p:txBody>
        </p:sp>
        <p:sp>
          <p:nvSpPr>
            <p:cNvPr id="39" name="円/楕円 38"/>
            <p:cNvSpPr/>
            <p:nvPr/>
          </p:nvSpPr>
          <p:spPr>
            <a:xfrm>
              <a:off x="4419600" y="3132138"/>
              <a:ext cx="18288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aConcept</a:t>
              </a:r>
              <a:endParaRPr lang="ja-JP" altLang="en-US" sz="2000" dirty="0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6781800" y="3352800"/>
              <a:ext cx="16764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dirty="0"/>
                <a:t>概念の見出し</a:t>
              </a:r>
            </a:p>
          </p:txBody>
        </p:sp>
        <p:sp>
          <p:nvSpPr>
            <p:cNvPr id="41" name="円/楕円 40"/>
            <p:cNvSpPr/>
            <p:nvPr/>
          </p:nvSpPr>
          <p:spPr>
            <a:xfrm>
              <a:off x="6477000" y="2663825"/>
              <a:ext cx="24384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skos:Concept</a:t>
              </a:r>
              <a:endParaRPr lang="ja-JP" altLang="en-US" sz="2000" dirty="0"/>
            </a:p>
          </p:txBody>
        </p:sp>
        <p:cxnSp>
          <p:nvCxnSpPr>
            <p:cNvPr id="50200" name="AutoShape 17"/>
            <p:cNvCxnSpPr>
              <a:cxnSpLocks noChangeShapeType="1"/>
              <a:stCxn id="39" idx="6"/>
              <a:endCxn id="41" idx="2"/>
            </p:cNvCxnSpPr>
            <p:nvPr/>
          </p:nvCxnSpPr>
          <p:spPr bwMode="auto">
            <a:xfrm flipV="1">
              <a:off x="6248400" y="2854325"/>
              <a:ext cx="228600" cy="46831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1" name="Rectangle 18"/>
            <p:cNvSpPr>
              <a:spLocks noChangeArrowheads="1"/>
            </p:cNvSpPr>
            <p:nvPr/>
          </p:nvSpPr>
          <p:spPr bwMode="auto">
            <a:xfrm>
              <a:off x="5562600" y="26670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1" name="円/楕円 50"/>
            <p:cNvSpPr/>
            <p:nvPr/>
          </p:nvSpPr>
          <p:spPr>
            <a:xfrm>
              <a:off x="304800" y="5105400"/>
              <a:ext cx="16764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aSynset</a:t>
              </a:r>
              <a:endParaRPr lang="ja-JP" altLang="en-US" sz="2000" dirty="0"/>
            </a:p>
          </p:txBody>
        </p:sp>
        <p:sp>
          <p:nvSpPr>
            <p:cNvPr id="52" name="円/楕円 51"/>
            <p:cNvSpPr/>
            <p:nvPr/>
          </p:nvSpPr>
          <p:spPr>
            <a:xfrm>
              <a:off x="2514600" y="5105400"/>
              <a:ext cx="23622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aWordSense</a:t>
              </a:r>
              <a:endParaRPr lang="ja-JP" altLang="en-US" sz="2000" dirty="0"/>
            </a:p>
          </p:txBody>
        </p:sp>
        <p:sp>
          <p:nvSpPr>
            <p:cNvPr id="53" name="円/楕円 52"/>
            <p:cNvSpPr/>
            <p:nvPr/>
          </p:nvSpPr>
          <p:spPr>
            <a:xfrm>
              <a:off x="5486400" y="5105400"/>
              <a:ext cx="1371600" cy="3810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2000" dirty="0" err="1"/>
                <a:t>aWord</a:t>
              </a:r>
              <a:endParaRPr lang="ja-JP" altLang="en-US" sz="2000" dirty="0"/>
            </a:p>
          </p:txBody>
        </p:sp>
        <p:sp>
          <p:nvSpPr>
            <p:cNvPr id="55" name="正方形/長方形 54"/>
            <p:cNvSpPr/>
            <p:nvPr/>
          </p:nvSpPr>
          <p:spPr>
            <a:xfrm>
              <a:off x="7239000" y="5105400"/>
              <a:ext cx="1676400" cy="381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ja-JP" altLang="en-US" sz="2000" dirty="0"/>
                <a:t>概念の見出し</a:t>
              </a:r>
            </a:p>
          </p:txBody>
        </p:sp>
        <p:sp>
          <p:nvSpPr>
            <p:cNvPr id="68" name="円/楕円 67"/>
            <p:cNvSpPr/>
            <p:nvPr/>
          </p:nvSpPr>
          <p:spPr>
            <a:xfrm>
              <a:off x="76200" y="5791200"/>
              <a:ext cx="2133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 err="1"/>
                <a:t>NounSynset</a:t>
              </a:r>
              <a:endParaRPr lang="en-US" altLang="ja-JP" sz="1600" dirty="0"/>
            </a:p>
          </p:txBody>
        </p:sp>
        <p:sp>
          <p:nvSpPr>
            <p:cNvPr id="70" name="円/楕円 69"/>
            <p:cNvSpPr/>
            <p:nvPr/>
          </p:nvSpPr>
          <p:spPr>
            <a:xfrm>
              <a:off x="2438400" y="5791200"/>
              <a:ext cx="2514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 err="1"/>
                <a:t>NounWordSense</a:t>
              </a:r>
              <a:endParaRPr lang="en-US" altLang="ja-JP" sz="1600" dirty="0"/>
            </a:p>
          </p:txBody>
        </p:sp>
        <p:sp>
          <p:nvSpPr>
            <p:cNvPr id="71" name="円/楕円 70"/>
            <p:cNvSpPr/>
            <p:nvPr/>
          </p:nvSpPr>
          <p:spPr>
            <a:xfrm>
              <a:off x="5105400" y="5791200"/>
              <a:ext cx="2133600" cy="53340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ja-JP" sz="1600" dirty="0"/>
                <a:t>wn20schema:</a:t>
              </a:r>
            </a:p>
            <a:p>
              <a:pPr algn="ctr">
                <a:defRPr/>
              </a:pPr>
              <a:r>
                <a:rPr lang="en-US" altLang="ja-JP" sz="1600" dirty="0"/>
                <a:t>Word</a:t>
              </a:r>
            </a:p>
          </p:txBody>
        </p:sp>
        <p:cxnSp>
          <p:nvCxnSpPr>
            <p:cNvPr id="50209" name="AutoShape 11"/>
            <p:cNvCxnSpPr>
              <a:cxnSpLocks noChangeShapeType="1"/>
              <a:stCxn id="51" idx="4"/>
              <a:endCxn id="68" idx="0"/>
            </p:cNvCxnSpPr>
            <p:nvPr/>
          </p:nvCxnSpPr>
          <p:spPr bwMode="auto">
            <a:xfrm rot="5400000">
              <a:off x="9906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0" name="AutoShape 11"/>
            <p:cNvCxnSpPr>
              <a:cxnSpLocks noChangeShapeType="1"/>
              <a:stCxn id="52" idx="4"/>
              <a:endCxn id="70" idx="0"/>
            </p:cNvCxnSpPr>
            <p:nvPr/>
          </p:nvCxnSpPr>
          <p:spPr bwMode="auto">
            <a:xfrm rot="5400000">
              <a:off x="35433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211" name="AutoShape 11"/>
            <p:cNvCxnSpPr>
              <a:cxnSpLocks noChangeShapeType="1"/>
              <a:stCxn id="53" idx="4"/>
              <a:endCxn id="71" idx="0"/>
            </p:cNvCxnSpPr>
            <p:nvPr/>
          </p:nvCxnSpPr>
          <p:spPr bwMode="auto">
            <a:xfrm rot="5400000">
              <a:off x="6019801" y="5638800"/>
              <a:ext cx="304800" cy="31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12" name="Rectangle 18"/>
            <p:cNvSpPr>
              <a:spLocks noChangeArrowheads="1"/>
            </p:cNvSpPr>
            <p:nvPr/>
          </p:nvSpPr>
          <p:spPr bwMode="auto">
            <a:xfrm>
              <a:off x="11430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0213" name="Rectangle 18"/>
            <p:cNvSpPr>
              <a:spLocks noChangeArrowheads="1"/>
            </p:cNvSpPr>
            <p:nvPr/>
          </p:nvSpPr>
          <p:spPr bwMode="auto">
            <a:xfrm>
              <a:off x="37338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50214" name="Rectangle 18"/>
            <p:cNvSpPr>
              <a:spLocks noChangeArrowheads="1"/>
            </p:cNvSpPr>
            <p:nvPr/>
          </p:nvSpPr>
          <p:spPr bwMode="auto">
            <a:xfrm>
              <a:off x="6248400" y="5486400"/>
              <a:ext cx="87153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600"/>
                <a:t>rdf:type</a:t>
              </a:r>
            </a:p>
          </p:txBody>
        </p:sp>
        <p:sp>
          <p:nvSpPr>
            <p:cNvPr id="88" name="Text Box 21"/>
            <p:cNvSpPr txBox="1">
              <a:spLocks noChangeArrowheads="1"/>
            </p:cNvSpPr>
            <p:nvPr/>
          </p:nvSpPr>
          <p:spPr bwMode="auto">
            <a:xfrm>
              <a:off x="4419600" y="2133600"/>
              <a:ext cx="27432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/>
                <a:t>SKOS</a:t>
              </a:r>
            </a:p>
          </p:txBody>
        </p:sp>
        <p:sp>
          <p:nvSpPr>
            <p:cNvPr id="17428" name="Text Box 20"/>
            <p:cNvSpPr txBox="1">
              <a:spLocks noChangeArrowheads="1"/>
            </p:cNvSpPr>
            <p:nvPr/>
          </p:nvSpPr>
          <p:spPr bwMode="auto">
            <a:xfrm>
              <a:off x="152400" y="2133600"/>
              <a:ext cx="30480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/>
                <a:t>OWL</a:t>
              </a:r>
              <a:r>
                <a:rPr lang="ja-JP" altLang="en-US" sz="2000" b="1" dirty="0"/>
                <a:t>基本語彙</a:t>
              </a:r>
              <a:endParaRPr lang="en-US" altLang="ja-JP" sz="2000" b="1" dirty="0"/>
            </a:p>
          </p:txBody>
        </p:sp>
        <p:sp>
          <p:nvSpPr>
            <p:cNvPr id="17429" name="Text Box 21"/>
            <p:cNvSpPr txBox="1">
              <a:spLocks noChangeArrowheads="1"/>
            </p:cNvSpPr>
            <p:nvPr/>
          </p:nvSpPr>
          <p:spPr bwMode="auto">
            <a:xfrm>
              <a:off x="152400" y="4191000"/>
              <a:ext cx="2743200" cy="40005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ja-JP" sz="2000" b="1" dirty="0" err="1"/>
                <a:t>WordNet</a:t>
              </a:r>
              <a:r>
                <a:rPr lang="en-US" altLang="ja-JP" sz="2000" b="1" dirty="0"/>
                <a:t> RDF/OWL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6" name="AutoShape 52"/>
          <p:cNvSpPr>
            <a:spLocks noChangeArrowheads="1"/>
          </p:cNvSpPr>
          <p:nvPr/>
        </p:nvSpPr>
        <p:spPr bwMode="auto">
          <a:xfrm>
            <a:off x="3429000" y="2667000"/>
            <a:ext cx="5181600" cy="1143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endParaRPr lang="ja-JP" altLang="ja-JP" sz="1000" b="1">
              <a:solidFill>
                <a:srgbClr val="000066"/>
              </a:solidFill>
            </a:endParaRPr>
          </a:p>
        </p:txBody>
      </p:sp>
      <p:sp>
        <p:nvSpPr>
          <p:cNvPr id="43044" name="AutoShape 85"/>
          <p:cNvSpPr>
            <a:spLocks noChangeArrowheads="1"/>
          </p:cNvSpPr>
          <p:nvPr/>
        </p:nvSpPr>
        <p:spPr bwMode="auto">
          <a:xfrm>
            <a:off x="4343400" y="914400"/>
            <a:ext cx="3200400" cy="5334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endParaRPr lang="ja-JP" altLang="ja-JP" sz="1000" b="1">
              <a:solidFill>
                <a:srgbClr val="000066"/>
              </a:solidFill>
            </a:endParaRPr>
          </a:p>
        </p:txBody>
      </p:sp>
      <p:sp>
        <p:nvSpPr>
          <p:cNvPr id="43048" name="AutoShape 89"/>
          <p:cNvSpPr>
            <a:spLocks noChangeArrowheads="1"/>
          </p:cNvSpPr>
          <p:nvPr/>
        </p:nvSpPr>
        <p:spPr bwMode="auto">
          <a:xfrm>
            <a:off x="4343400" y="4876800"/>
            <a:ext cx="3200400" cy="13716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>
              <a:defRPr/>
            </a:pPr>
            <a:endParaRPr lang="ja-JP" altLang="ja-JP" sz="1000" b="1">
              <a:solidFill>
                <a:srgbClr val="000066"/>
              </a:solidFill>
            </a:endParaRPr>
          </a:p>
        </p:txBody>
      </p:sp>
      <p:sp>
        <p:nvSpPr>
          <p:cNvPr id="43012" name="AutoShape 4"/>
          <p:cNvSpPr>
            <a:spLocks noChangeArrowheads="1"/>
          </p:cNvSpPr>
          <p:nvPr/>
        </p:nvSpPr>
        <p:spPr bwMode="auto">
          <a:xfrm>
            <a:off x="7924800" y="5029200"/>
            <a:ext cx="1295400" cy="1143000"/>
          </a:xfrm>
          <a:prstGeom prst="can">
            <a:avLst>
              <a:gd name="adj" fmla="val 2500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参照</a:t>
            </a:r>
            <a:endParaRPr lang="en-US" altLang="ja-JP" sz="1600" b="1" dirty="0">
              <a:solidFill>
                <a:srgbClr val="006600"/>
              </a:solidFill>
            </a:endParaRPr>
          </a:p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オントロジー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grpSp>
        <p:nvGrpSpPr>
          <p:cNvPr id="51206" name="グループ化 93"/>
          <p:cNvGrpSpPr>
            <a:grpSpLocks/>
          </p:cNvGrpSpPr>
          <p:nvPr/>
        </p:nvGrpSpPr>
        <p:grpSpPr bwMode="auto">
          <a:xfrm>
            <a:off x="5257800" y="-609600"/>
            <a:ext cx="1447800" cy="990600"/>
            <a:chOff x="3733800" y="-609600"/>
            <a:chExt cx="1447800" cy="990600"/>
          </a:xfrm>
        </p:grpSpPr>
        <p:grpSp>
          <p:nvGrpSpPr>
            <p:cNvPr id="51259" name="グループ化 89"/>
            <p:cNvGrpSpPr>
              <a:grpSpLocks/>
            </p:cNvGrpSpPr>
            <p:nvPr/>
          </p:nvGrpSpPr>
          <p:grpSpPr bwMode="auto">
            <a:xfrm>
              <a:off x="3733800" y="-609600"/>
              <a:ext cx="1197926" cy="836507"/>
              <a:chOff x="3733800" y="-609600"/>
              <a:chExt cx="1197926" cy="836507"/>
            </a:xfrm>
          </p:grpSpPr>
          <p:sp>
            <p:nvSpPr>
              <p:cNvPr id="51290" name="Rectangle 11"/>
              <p:cNvSpPr>
                <a:spLocks noChangeArrowheads="1"/>
              </p:cNvSpPr>
              <p:nvPr/>
            </p:nvSpPr>
            <p:spPr bwMode="auto">
              <a:xfrm>
                <a:off x="3825746" y="-545394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1291" name="Rectangle 12"/>
              <p:cNvSpPr>
                <a:spLocks noChangeArrowheads="1"/>
              </p:cNvSpPr>
              <p:nvPr/>
            </p:nvSpPr>
            <p:spPr bwMode="auto">
              <a:xfrm>
                <a:off x="3733800" y="-609600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ＭＳ Ｐゴシック" charset="-128"/>
                </a:endParaRPr>
              </a:p>
            </p:txBody>
          </p:sp>
          <p:sp>
            <p:nvSpPr>
              <p:cNvPr id="51292" name="Line 13"/>
              <p:cNvSpPr>
                <a:spLocks noChangeShapeType="1"/>
              </p:cNvSpPr>
              <p:nvPr/>
            </p:nvSpPr>
            <p:spPr bwMode="auto">
              <a:xfrm>
                <a:off x="3825746" y="-15924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3" name="Line 14"/>
              <p:cNvSpPr>
                <a:spLocks noChangeShapeType="1"/>
              </p:cNvSpPr>
              <p:nvPr/>
            </p:nvSpPr>
            <p:spPr bwMode="auto">
              <a:xfrm>
                <a:off x="3825746" y="-9503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4" name="Line 15"/>
              <p:cNvSpPr>
                <a:spLocks noChangeShapeType="1"/>
              </p:cNvSpPr>
              <p:nvPr/>
            </p:nvSpPr>
            <p:spPr bwMode="auto">
              <a:xfrm>
                <a:off x="3825746" y="-3083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5" name="Line 16"/>
              <p:cNvSpPr>
                <a:spLocks noChangeShapeType="1"/>
              </p:cNvSpPr>
              <p:nvPr/>
            </p:nvSpPr>
            <p:spPr bwMode="auto">
              <a:xfrm>
                <a:off x="3825746" y="3429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6" name="Line 17"/>
              <p:cNvSpPr>
                <a:spLocks noChangeShapeType="1"/>
              </p:cNvSpPr>
              <p:nvPr/>
            </p:nvSpPr>
            <p:spPr bwMode="auto">
              <a:xfrm>
                <a:off x="3825746" y="9849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7" name="Line 18"/>
              <p:cNvSpPr>
                <a:spLocks noChangeShapeType="1"/>
              </p:cNvSpPr>
              <p:nvPr/>
            </p:nvSpPr>
            <p:spPr bwMode="auto">
              <a:xfrm>
                <a:off x="3825746" y="-2234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98" name="Line 19"/>
              <p:cNvSpPr>
                <a:spLocks noChangeShapeType="1"/>
              </p:cNvSpPr>
              <p:nvPr/>
            </p:nvSpPr>
            <p:spPr bwMode="auto">
              <a:xfrm>
                <a:off x="3825746" y="-28765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1260" name="グループ化 90"/>
            <p:cNvGrpSpPr>
              <a:grpSpLocks/>
            </p:cNvGrpSpPr>
            <p:nvPr/>
          </p:nvGrpSpPr>
          <p:grpSpPr bwMode="auto">
            <a:xfrm>
              <a:off x="3816479" y="-556305"/>
              <a:ext cx="1197926" cy="836507"/>
              <a:chOff x="3816479" y="-556305"/>
              <a:chExt cx="1197926" cy="836507"/>
            </a:xfrm>
          </p:grpSpPr>
          <p:sp>
            <p:nvSpPr>
              <p:cNvPr id="51281" name="Rectangle 21"/>
              <p:cNvSpPr>
                <a:spLocks noChangeArrowheads="1"/>
              </p:cNvSpPr>
              <p:nvPr/>
            </p:nvSpPr>
            <p:spPr bwMode="auto">
              <a:xfrm>
                <a:off x="3908425" y="-492099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1282" name="Rectangle 22"/>
              <p:cNvSpPr>
                <a:spLocks noChangeArrowheads="1"/>
              </p:cNvSpPr>
              <p:nvPr/>
            </p:nvSpPr>
            <p:spPr bwMode="auto">
              <a:xfrm>
                <a:off x="3816479" y="-556305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ＭＳ Ｐゴシック" charset="-128"/>
                </a:endParaRPr>
              </a:p>
            </p:txBody>
          </p:sp>
          <p:sp>
            <p:nvSpPr>
              <p:cNvPr id="51283" name="Line 23"/>
              <p:cNvSpPr>
                <a:spLocks noChangeShapeType="1"/>
              </p:cNvSpPr>
              <p:nvPr/>
            </p:nvSpPr>
            <p:spPr bwMode="auto">
              <a:xfrm>
                <a:off x="3908425" y="-105949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4" name="Line 24"/>
              <p:cNvSpPr>
                <a:spLocks noChangeShapeType="1"/>
              </p:cNvSpPr>
              <p:nvPr/>
            </p:nvSpPr>
            <p:spPr bwMode="auto">
              <a:xfrm>
                <a:off x="3908425" y="-41743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5" name="Line 25"/>
              <p:cNvSpPr>
                <a:spLocks noChangeShapeType="1"/>
              </p:cNvSpPr>
              <p:nvPr/>
            </p:nvSpPr>
            <p:spPr bwMode="auto">
              <a:xfrm>
                <a:off x="3908425" y="22462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6" name="Line 26"/>
              <p:cNvSpPr>
                <a:spLocks noChangeShapeType="1"/>
              </p:cNvSpPr>
              <p:nvPr/>
            </p:nvSpPr>
            <p:spPr bwMode="auto">
              <a:xfrm>
                <a:off x="3908425" y="8758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7" name="Line 27"/>
              <p:cNvSpPr>
                <a:spLocks noChangeShapeType="1"/>
              </p:cNvSpPr>
              <p:nvPr/>
            </p:nvSpPr>
            <p:spPr bwMode="auto">
              <a:xfrm>
                <a:off x="3908425" y="15179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8" name="Line 28"/>
              <p:cNvSpPr>
                <a:spLocks noChangeShapeType="1"/>
              </p:cNvSpPr>
              <p:nvPr/>
            </p:nvSpPr>
            <p:spPr bwMode="auto">
              <a:xfrm>
                <a:off x="3908425" y="-17015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9" name="Line 29"/>
              <p:cNvSpPr>
                <a:spLocks noChangeShapeType="1"/>
              </p:cNvSpPr>
              <p:nvPr/>
            </p:nvSpPr>
            <p:spPr bwMode="auto">
              <a:xfrm>
                <a:off x="3908425" y="-2343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1261" name="グループ化 91"/>
            <p:cNvGrpSpPr>
              <a:grpSpLocks/>
            </p:cNvGrpSpPr>
            <p:nvPr/>
          </p:nvGrpSpPr>
          <p:grpSpPr bwMode="auto">
            <a:xfrm>
              <a:off x="3900995" y="-508802"/>
              <a:ext cx="1197926" cy="836507"/>
              <a:chOff x="3900995" y="-508802"/>
              <a:chExt cx="1197926" cy="836507"/>
            </a:xfrm>
          </p:grpSpPr>
          <p:sp>
            <p:nvSpPr>
              <p:cNvPr id="51272" name="Rectangle 31"/>
              <p:cNvSpPr>
                <a:spLocks noChangeArrowheads="1"/>
              </p:cNvSpPr>
              <p:nvPr/>
            </p:nvSpPr>
            <p:spPr bwMode="auto">
              <a:xfrm>
                <a:off x="3992941" y="-444596"/>
                <a:ext cx="1105980" cy="772301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1273" name="Rectangle 32"/>
              <p:cNvSpPr>
                <a:spLocks noChangeArrowheads="1"/>
              </p:cNvSpPr>
              <p:nvPr/>
            </p:nvSpPr>
            <p:spPr bwMode="auto">
              <a:xfrm>
                <a:off x="3900995" y="-508802"/>
                <a:ext cx="1105980" cy="77230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200">
                  <a:latin typeface="ＭＳ Ｐゴシック" charset="-128"/>
                </a:endParaRPr>
              </a:p>
            </p:txBody>
          </p:sp>
          <p:sp>
            <p:nvSpPr>
              <p:cNvPr id="51274" name="Line 33"/>
              <p:cNvSpPr>
                <a:spLocks noChangeShapeType="1"/>
              </p:cNvSpPr>
              <p:nvPr/>
            </p:nvSpPr>
            <p:spPr bwMode="auto">
              <a:xfrm>
                <a:off x="3992941" y="-58446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5" name="Line 34"/>
              <p:cNvSpPr>
                <a:spLocks noChangeShapeType="1"/>
              </p:cNvSpPr>
              <p:nvPr/>
            </p:nvSpPr>
            <p:spPr bwMode="auto">
              <a:xfrm>
                <a:off x="3992941" y="5760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6" name="Line 35"/>
              <p:cNvSpPr>
                <a:spLocks noChangeShapeType="1"/>
              </p:cNvSpPr>
              <p:nvPr/>
            </p:nvSpPr>
            <p:spPr bwMode="auto">
              <a:xfrm>
                <a:off x="3992941" y="69965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7" name="Line 36"/>
              <p:cNvSpPr>
                <a:spLocks noChangeShapeType="1"/>
              </p:cNvSpPr>
              <p:nvPr/>
            </p:nvSpPr>
            <p:spPr bwMode="auto">
              <a:xfrm>
                <a:off x="3992941" y="135088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8" name="Line 37"/>
              <p:cNvSpPr>
                <a:spLocks noChangeShapeType="1"/>
              </p:cNvSpPr>
              <p:nvPr/>
            </p:nvSpPr>
            <p:spPr bwMode="auto">
              <a:xfrm>
                <a:off x="3992941" y="199294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79" name="Line 38"/>
              <p:cNvSpPr>
                <a:spLocks noChangeShapeType="1"/>
              </p:cNvSpPr>
              <p:nvPr/>
            </p:nvSpPr>
            <p:spPr bwMode="auto">
              <a:xfrm>
                <a:off x="3992941" y="-122651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1280" name="Line 39"/>
              <p:cNvSpPr>
                <a:spLocks noChangeShapeType="1"/>
              </p:cNvSpPr>
              <p:nvPr/>
            </p:nvSpPr>
            <p:spPr bwMode="auto">
              <a:xfrm>
                <a:off x="3992941" y="-186857"/>
                <a:ext cx="922088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sp>
          <p:nvSpPr>
            <p:cNvPr id="51262" name="Rectangle 41"/>
            <p:cNvSpPr>
              <a:spLocks noChangeArrowheads="1"/>
            </p:cNvSpPr>
            <p:nvPr/>
          </p:nvSpPr>
          <p:spPr bwMode="auto">
            <a:xfrm>
              <a:off x="4075620" y="-391301"/>
              <a:ext cx="1105980" cy="77230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1263" name="Rectangle 42"/>
            <p:cNvSpPr>
              <a:spLocks noChangeArrowheads="1"/>
            </p:cNvSpPr>
            <p:nvPr/>
          </p:nvSpPr>
          <p:spPr bwMode="auto">
            <a:xfrm>
              <a:off x="3983674" y="-455507"/>
              <a:ext cx="1105980" cy="7723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ja-JP" altLang="ja-JP" sz="1200">
                <a:latin typeface="ＭＳ Ｐゴシック" charset="-128"/>
              </a:endParaRPr>
            </a:p>
          </p:txBody>
        </p:sp>
        <p:sp>
          <p:nvSpPr>
            <p:cNvPr id="51264" name="Line 43"/>
            <p:cNvSpPr>
              <a:spLocks noChangeShapeType="1"/>
            </p:cNvSpPr>
            <p:nvPr/>
          </p:nvSpPr>
          <p:spPr bwMode="auto">
            <a:xfrm>
              <a:off x="4075620" y="-5151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5" name="Line 44"/>
            <p:cNvSpPr>
              <a:spLocks noChangeShapeType="1"/>
            </p:cNvSpPr>
            <p:nvPr/>
          </p:nvSpPr>
          <p:spPr bwMode="auto">
            <a:xfrm>
              <a:off x="4075620" y="59055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6" name="Line 45"/>
            <p:cNvSpPr>
              <a:spLocks noChangeShapeType="1"/>
            </p:cNvSpPr>
            <p:nvPr/>
          </p:nvSpPr>
          <p:spPr bwMode="auto">
            <a:xfrm>
              <a:off x="4075620" y="123260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7" name="Line 46"/>
            <p:cNvSpPr>
              <a:spLocks noChangeShapeType="1"/>
            </p:cNvSpPr>
            <p:nvPr/>
          </p:nvSpPr>
          <p:spPr bwMode="auto">
            <a:xfrm>
              <a:off x="4075620" y="188383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8" name="Line 47"/>
            <p:cNvSpPr>
              <a:spLocks noChangeShapeType="1"/>
            </p:cNvSpPr>
            <p:nvPr/>
          </p:nvSpPr>
          <p:spPr bwMode="auto">
            <a:xfrm>
              <a:off x="4075620" y="252589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69" name="Line 48"/>
            <p:cNvSpPr>
              <a:spLocks noChangeShapeType="1"/>
            </p:cNvSpPr>
            <p:nvPr/>
          </p:nvSpPr>
          <p:spPr bwMode="auto">
            <a:xfrm>
              <a:off x="4075620" y="-69356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70" name="Line 49"/>
            <p:cNvSpPr>
              <a:spLocks noChangeShapeType="1"/>
            </p:cNvSpPr>
            <p:nvPr/>
          </p:nvSpPr>
          <p:spPr bwMode="auto">
            <a:xfrm>
              <a:off x="4075620" y="-133562"/>
              <a:ext cx="922088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 anchorCtr="1"/>
            <a:lstStyle/>
            <a:p>
              <a:endParaRPr lang="ja-JP" altLang="en-US"/>
            </a:p>
          </p:txBody>
        </p:sp>
        <p:sp>
          <p:nvSpPr>
            <p:cNvPr id="51271" name="Text Box 50"/>
            <p:cNvSpPr txBox="1">
              <a:spLocks noChangeArrowheads="1"/>
            </p:cNvSpPr>
            <p:nvPr/>
          </p:nvSpPr>
          <p:spPr bwMode="auto">
            <a:xfrm>
              <a:off x="3962400" y="-457200"/>
              <a:ext cx="1143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ja-JP" altLang="en-US" sz="1200"/>
                <a:t>領域専門文書</a:t>
              </a:r>
              <a:endParaRPr lang="en-US" altLang="ja-JP" sz="1200"/>
            </a:p>
          </p:txBody>
        </p:sp>
      </p:grpSp>
      <p:graphicFrame>
        <p:nvGraphicFramePr>
          <p:cNvPr id="12396" name="Group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113415"/>
              </p:ext>
            </p:extLst>
          </p:nvPr>
        </p:nvGraphicFramePr>
        <p:xfrm>
          <a:off x="3505200" y="2747963"/>
          <a:ext cx="5029200" cy="822960"/>
        </p:xfrm>
        <a:graphic>
          <a:graphicData uri="http://schemas.openxmlformats.org/drawingml/2006/table">
            <a:tbl>
              <a:tblPr/>
              <a:tblGrid>
                <a:gridCol w="6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用語</a:t>
                      </a:r>
                      <a:endParaRPr kumimoji="1" lang="en-US" altLang="ja-JP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品詞</a:t>
                      </a:r>
                      <a:endParaRPr kumimoji="1" lang="en-US" altLang="ja-JP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IDF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TF-IDF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上位概念</a:t>
                      </a:r>
                      <a:endParaRPr kumimoji="1" lang="en-US" altLang="ja-JP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名詞－一般</a:t>
                      </a:r>
                      <a:endParaRPr kumimoji="1" lang="en-US" altLang="ja-JP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30.11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[</a:t>
                      </a: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職業，肩書</a:t>
                      </a: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名詞－一般</a:t>
                      </a:r>
                      <a:endParaRPr kumimoji="1" lang="en-US" altLang="ja-JP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5.68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[</a:t>
                      </a:r>
                      <a:r>
                        <a:rPr kumimoji="1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抽象物</a:t>
                      </a:r>
                      <a:r>
                        <a:rPr kumimoji="1" lang="en-US" altLang="ja-JP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36" name="Text Box 84"/>
          <p:cNvSpPr txBox="1">
            <a:spLocks noChangeArrowheads="1"/>
          </p:cNvSpPr>
          <p:nvPr/>
        </p:nvSpPr>
        <p:spPr bwMode="auto">
          <a:xfrm>
            <a:off x="4684714" y="1066801"/>
            <a:ext cx="247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形態素解析および複合語抽出</a:t>
            </a:r>
            <a:endParaRPr lang="en-US" altLang="ja-JP" sz="1400"/>
          </a:p>
        </p:txBody>
      </p:sp>
      <p:sp>
        <p:nvSpPr>
          <p:cNvPr id="43045" name="AutoShape 86"/>
          <p:cNvSpPr>
            <a:spLocks noChangeArrowheads="1"/>
          </p:cNvSpPr>
          <p:nvPr/>
        </p:nvSpPr>
        <p:spPr bwMode="auto">
          <a:xfrm>
            <a:off x="5029200" y="685800"/>
            <a:ext cx="17526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入力文書選択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sp>
        <p:nvSpPr>
          <p:cNvPr id="51238" name="Text Box 87"/>
          <p:cNvSpPr txBox="1">
            <a:spLocks noChangeArrowheads="1"/>
          </p:cNvSpPr>
          <p:nvPr/>
        </p:nvSpPr>
        <p:spPr bwMode="auto">
          <a:xfrm>
            <a:off x="4495801" y="3505201"/>
            <a:ext cx="3470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………………………………………..</a:t>
            </a:r>
          </a:p>
        </p:txBody>
      </p:sp>
      <p:sp>
        <p:nvSpPr>
          <p:cNvPr id="51239" name="Line 95"/>
          <p:cNvSpPr>
            <a:spLocks noChangeShapeType="1"/>
          </p:cNvSpPr>
          <p:nvPr/>
        </p:nvSpPr>
        <p:spPr bwMode="auto">
          <a:xfrm>
            <a:off x="5181600" y="5410200"/>
            <a:ext cx="7620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40" name="Line 96"/>
          <p:cNvSpPr>
            <a:spLocks noChangeShapeType="1"/>
          </p:cNvSpPr>
          <p:nvPr/>
        </p:nvSpPr>
        <p:spPr bwMode="auto">
          <a:xfrm>
            <a:off x="5181600" y="5638800"/>
            <a:ext cx="7620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41" name="Line 97"/>
          <p:cNvSpPr>
            <a:spLocks noChangeShapeType="1"/>
          </p:cNvSpPr>
          <p:nvPr/>
        </p:nvSpPr>
        <p:spPr bwMode="auto">
          <a:xfrm>
            <a:off x="5181600" y="5867400"/>
            <a:ext cx="7620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242" name="Rectangle 98"/>
          <p:cNvSpPr>
            <a:spLocks noChangeArrowheads="1"/>
          </p:cNvSpPr>
          <p:nvPr/>
        </p:nvSpPr>
        <p:spPr bwMode="auto">
          <a:xfrm>
            <a:off x="4572000" y="5257800"/>
            <a:ext cx="762000" cy="76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/>
              <a:t>T1</a:t>
            </a:r>
          </a:p>
          <a:p>
            <a:pPr algn="ctr" eaLnBrk="1" hangingPunct="1"/>
            <a:r>
              <a:rPr lang="en-US" altLang="ja-JP" sz="1600"/>
              <a:t>T2</a:t>
            </a:r>
          </a:p>
          <a:p>
            <a:pPr algn="ctr" eaLnBrk="1" hangingPunct="1"/>
            <a:r>
              <a:rPr lang="en-US" altLang="ja-JP" sz="1600"/>
              <a:t>T3</a:t>
            </a:r>
          </a:p>
        </p:txBody>
      </p:sp>
      <p:sp>
        <p:nvSpPr>
          <p:cNvPr id="51243" name="Rectangle 99"/>
          <p:cNvSpPr>
            <a:spLocks noChangeArrowheads="1"/>
          </p:cNvSpPr>
          <p:nvPr/>
        </p:nvSpPr>
        <p:spPr bwMode="auto">
          <a:xfrm>
            <a:off x="5791200" y="5257800"/>
            <a:ext cx="1371600" cy="762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/>
              <a:t>  EDR : Ci</a:t>
            </a:r>
          </a:p>
          <a:p>
            <a:pPr eaLnBrk="1" hangingPunct="1"/>
            <a:r>
              <a:rPr lang="en-US" altLang="ja-JP" sz="1400"/>
              <a:t>  WordNet: Cj</a:t>
            </a:r>
          </a:p>
          <a:p>
            <a:pPr eaLnBrk="1" hangingPunct="1"/>
            <a:r>
              <a:rPr lang="en-US" altLang="ja-JP" sz="1400"/>
              <a:t>  EDR : Ck</a:t>
            </a:r>
          </a:p>
        </p:txBody>
      </p:sp>
      <p:sp>
        <p:nvSpPr>
          <p:cNvPr id="51244" name="Text Box 100"/>
          <p:cNvSpPr txBox="1">
            <a:spLocks noChangeArrowheads="1"/>
          </p:cNvSpPr>
          <p:nvPr/>
        </p:nvSpPr>
        <p:spPr bwMode="auto">
          <a:xfrm>
            <a:off x="4513264" y="5943600"/>
            <a:ext cx="3106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/>
              <a:t>………………………………………..</a:t>
            </a:r>
          </a:p>
        </p:txBody>
      </p:sp>
      <p:sp>
        <p:nvSpPr>
          <p:cNvPr id="51245" name="Text Box 101"/>
          <p:cNvSpPr txBox="1">
            <a:spLocks noChangeArrowheads="1"/>
          </p:cNvSpPr>
          <p:nvPr/>
        </p:nvSpPr>
        <p:spPr bwMode="auto">
          <a:xfrm>
            <a:off x="4495800" y="5029201"/>
            <a:ext cx="954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b="1"/>
              <a:t>入力語集合</a:t>
            </a:r>
            <a:endParaRPr lang="en-US" altLang="ja-JP" sz="1200" b="1"/>
          </a:p>
        </p:txBody>
      </p:sp>
      <p:sp>
        <p:nvSpPr>
          <p:cNvPr id="51246" name="Text Box 102"/>
          <p:cNvSpPr txBox="1">
            <a:spLocks noChangeArrowheads="1"/>
          </p:cNvSpPr>
          <p:nvPr/>
        </p:nvSpPr>
        <p:spPr bwMode="auto">
          <a:xfrm>
            <a:off x="5867401" y="5029201"/>
            <a:ext cx="1108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b="1"/>
              <a:t>入力概念集合</a:t>
            </a:r>
            <a:endParaRPr lang="en-US" altLang="ja-JP" sz="1200" b="1"/>
          </a:p>
        </p:txBody>
      </p:sp>
      <p:sp>
        <p:nvSpPr>
          <p:cNvPr id="78" name="左右矢印 77"/>
          <p:cNvSpPr/>
          <p:nvPr/>
        </p:nvSpPr>
        <p:spPr>
          <a:xfrm>
            <a:off x="7162800" y="5486400"/>
            <a:ext cx="762000" cy="304800"/>
          </a:xfrm>
          <a:prstGeom prst="left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9" name="AutoShape 51"/>
          <p:cNvSpPr>
            <a:spLocks noChangeArrowheads="1"/>
          </p:cNvSpPr>
          <p:nvPr/>
        </p:nvSpPr>
        <p:spPr bwMode="auto">
          <a:xfrm>
            <a:off x="5791200" y="3556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0" name="正方形/長方形 79"/>
          <p:cNvSpPr/>
          <p:nvPr/>
        </p:nvSpPr>
        <p:spPr>
          <a:xfrm>
            <a:off x="5105400" y="1752600"/>
            <a:ext cx="17526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600" dirty="0"/>
              <a:t>用語集合</a:t>
            </a:r>
          </a:p>
        </p:txBody>
      </p:sp>
      <p:sp>
        <p:nvSpPr>
          <p:cNvPr id="81" name="正方形/長方形 80"/>
          <p:cNvSpPr/>
          <p:nvPr/>
        </p:nvSpPr>
        <p:spPr>
          <a:xfrm>
            <a:off x="5105400" y="4038600"/>
            <a:ext cx="17526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600" dirty="0"/>
              <a:t>入力語集合</a:t>
            </a:r>
          </a:p>
        </p:txBody>
      </p:sp>
      <p:sp>
        <p:nvSpPr>
          <p:cNvPr id="82" name="正方形/長方形 81"/>
          <p:cNvSpPr/>
          <p:nvPr/>
        </p:nvSpPr>
        <p:spPr>
          <a:xfrm>
            <a:off x="5105400" y="6553200"/>
            <a:ext cx="17526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600" dirty="0"/>
              <a:t>入力概念集合</a:t>
            </a:r>
          </a:p>
        </p:txBody>
      </p:sp>
      <p:sp>
        <p:nvSpPr>
          <p:cNvPr id="83" name="AutoShape 86"/>
          <p:cNvSpPr>
            <a:spLocks noChangeArrowheads="1"/>
          </p:cNvSpPr>
          <p:nvPr/>
        </p:nvSpPr>
        <p:spPr bwMode="auto">
          <a:xfrm>
            <a:off x="5105400" y="2362200"/>
            <a:ext cx="17526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入力語選択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sp>
        <p:nvSpPr>
          <p:cNvPr id="84" name="AutoShape 51"/>
          <p:cNvSpPr>
            <a:spLocks noChangeArrowheads="1"/>
          </p:cNvSpPr>
          <p:nvPr/>
        </p:nvSpPr>
        <p:spPr bwMode="auto">
          <a:xfrm>
            <a:off x="5791200" y="14224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5" name="AutoShape 51"/>
          <p:cNvSpPr>
            <a:spLocks noChangeArrowheads="1"/>
          </p:cNvSpPr>
          <p:nvPr/>
        </p:nvSpPr>
        <p:spPr bwMode="auto">
          <a:xfrm>
            <a:off x="5791200" y="20574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7" name="AutoShape 51"/>
          <p:cNvSpPr>
            <a:spLocks noChangeArrowheads="1"/>
          </p:cNvSpPr>
          <p:nvPr/>
        </p:nvSpPr>
        <p:spPr bwMode="auto">
          <a:xfrm>
            <a:off x="5791200" y="37338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8" name="AutoShape 86"/>
          <p:cNvSpPr>
            <a:spLocks noChangeArrowheads="1"/>
          </p:cNvSpPr>
          <p:nvPr/>
        </p:nvSpPr>
        <p:spPr bwMode="auto">
          <a:xfrm>
            <a:off x="5105400" y="4648200"/>
            <a:ext cx="17526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ja-JP" altLang="en-US" sz="1600" b="1" dirty="0">
                <a:solidFill>
                  <a:srgbClr val="006600"/>
                </a:solidFill>
              </a:rPr>
              <a:t>入力概念選択</a:t>
            </a:r>
            <a:endParaRPr lang="en-US" altLang="ja-JP" sz="1600" b="1" dirty="0">
              <a:solidFill>
                <a:srgbClr val="006600"/>
              </a:solidFill>
            </a:endParaRPr>
          </a:p>
        </p:txBody>
      </p:sp>
      <p:sp>
        <p:nvSpPr>
          <p:cNvPr id="89" name="AutoShape 51"/>
          <p:cNvSpPr>
            <a:spLocks noChangeArrowheads="1"/>
          </p:cNvSpPr>
          <p:nvPr/>
        </p:nvSpPr>
        <p:spPr bwMode="auto">
          <a:xfrm>
            <a:off x="5791200" y="62230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86" name="AutoShape 51"/>
          <p:cNvSpPr>
            <a:spLocks noChangeArrowheads="1"/>
          </p:cNvSpPr>
          <p:nvPr/>
        </p:nvSpPr>
        <p:spPr bwMode="auto">
          <a:xfrm>
            <a:off x="5791200" y="4343400"/>
            <a:ext cx="457200" cy="330200"/>
          </a:xfrm>
          <a:prstGeom prst="downArrow">
            <a:avLst>
              <a:gd name="adj1" fmla="val 49769"/>
              <a:gd name="adj2" fmla="val 40625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4" name="Rectangle 248"/>
          <p:cNvSpPr>
            <a:spLocks noChangeArrowheads="1"/>
          </p:cNvSpPr>
          <p:nvPr/>
        </p:nvSpPr>
        <p:spPr bwMode="auto">
          <a:xfrm>
            <a:off x="1524000" y="4495800"/>
            <a:ext cx="9144000" cy="2362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1"/>
            <a:ext cx="5383213" cy="792163"/>
          </a:xfrm>
        </p:spPr>
        <p:txBody>
          <a:bodyPr/>
          <a:lstStyle/>
          <a:p>
            <a:pPr eaLnBrk="1" hangingPunct="1"/>
            <a:r>
              <a:rPr lang="ja-JP" altLang="en-US" sz="4000"/>
              <a:t>階層構築・洗練</a:t>
            </a:r>
            <a:endParaRPr lang="ja-JP" altLang="en-US"/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2895600" y="2949576"/>
            <a:ext cx="2286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参照オントロジーの</a:t>
            </a:r>
          </a:p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概念階層</a:t>
            </a: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>
            <a:off x="2781300" y="1647825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ＭＳ Ｐゴシック" charset="-128"/>
              </a:rPr>
              <a:t>照合</a:t>
            </a:r>
          </a:p>
        </p:txBody>
      </p:sp>
      <p:sp>
        <p:nvSpPr>
          <p:cNvPr id="52230" name="Text Box 5"/>
          <p:cNvSpPr txBox="1">
            <a:spLocks noChangeArrowheads="1"/>
          </p:cNvSpPr>
          <p:nvPr/>
        </p:nvSpPr>
        <p:spPr bwMode="auto">
          <a:xfrm>
            <a:off x="1676400" y="2927351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入力概念</a:t>
            </a:r>
            <a:endParaRPr lang="en-US" altLang="ja-JP" sz="2000" b="1">
              <a:solidFill>
                <a:srgbClr val="003300"/>
              </a:solidFill>
              <a:latin typeface="ＭＳ Ｐゴシック" charset="-128"/>
            </a:endParaRPr>
          </a:p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集合</a:t>
            </a:r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1676400" y="2111375"/>
            <a:ext cx="1219200" cy="685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1820864" y="22431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2036764" y="24590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2324101" y="231616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1" name="Oval 11"/>
          <p:cNvSpPr>
            <a:spLocks noChangeArrowheads="1"/>
          </p:cNvSpPr>
          <p:nvPr/>
        </p:nvSpPr>
        <p:spPr bwMode="auto">
          <a:xfrm>
            <a:off x="2613026" y="231616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2" name="Oval 12"/>
          <p:cNvSpPr>
            <a:spLocks noChangeArrowheads="1"/>
          </p:cNvSpPr>
          <p:nvPr/>
        </p:nvSpPr>
        <p:spPr bwMode="auto">
          <a:xfrm>
            <a:off x="2397126" y="2532063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3" name="Oval 13"/>
          <p:cNvSpPr>
            <a:spLocks noChangeArrowheads="1"/>
          </p:cNvSpPr>
          <p:nvPr/>
        </p:nvSpPr>
        <p:spPr bwMode="auto">
          <a:xfrm>
            <a:off x="2108201" y="22431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4" name="Oval 14"/>
          <p:cNvSpPr>
            <a:spLocks noChangeArrowheads="1"/>
          </p:cNvSpPr>
          <p:nvPr/>
        </p:nvSpPr>
        <p:spPr bwMode="auto">
          <a:xfrm>
            <a:off x="1820864" y="260667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5" name="Oval 15"/>
          <p:cNvSpPr>
            <a:spLocks noChangeArrowheads="1"/>
          </p:cNvSpPr>
          <p:nvPr/>
        </p:nvSpPr>
        <p:spPr bwMode="auto">
          <a:xfrm>
            <a:off x="2613026" y="246062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096" name="Oval 16"/>
          <p:cNvSpPr>
            <a:spLocks noChangeArrowheads="1"/>
          </p:cNvSpPr>
          <p:nvPr/>
        </p:nvSpPr>
        <p:spPr bwMode="auto">
          <a:xfrm>
            <a:off x="2179639" y="2606676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grpSp>
        <p:nvGrpSpPr>
          <p:cNvPr id="52241" name="Group 17"/>
          <p:cNvGrpSpPr>
            <a:grpSpLocks/>
          </p:cNvGrpSpPr>
          <p:nvPr/>
        </p:nvGrpSpPr>
        <p:grpSpPr bwMode="auto">
          <a:xfrm>
            <a:off x="5410200" y="2035175"/>
            <a:ext cx="990600" cy="762000"/>
            <a:chOff x="249" y="3076"/>
            <a:chExt cx="1036" cy="602"/>
          </a:xfrm>
        </p:grpSpPr>
        <p:grpSp>
          <p:nvGrpSpPr>
            <p:cNvPr id="52393" name="Group 18"/>
            <p:cNvGrpSpPr>
              <a:grpSpLocks/>
            </p:cNvGrpSpPr>
            <p:nvPr/>
          </p:nvGrpSpPr>
          <p:grpSpPr bwMode="auto">
            <a:xfrm>
              <a:off x="983" y="3121"/>
              <a:ext cx="233" cy="467"/>
              <a:chOff x="1380" y="2668"/>
              <a:chExt cx="233" cy="467"/>
            </a:xfrm>
          </p:grpSpPr>
          <p:sp>
            <p:nvSpPr>
              <p:cNvPr id="52408" name="Oval 19"/>
              <p:cNvSpPr>
                <a:spLocks noChangeArrowheads="1"/>
              </p:cNvSpPr>
              <p:nvPr/>
            </p:nvSpPr>
            <p:spPr bwMode="auto">
              <a:xfrm>
                <a:off x="1380" y="2668"/>
                <a:ext cx="117" cy="8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409" name="Oval 22"/>
              <p:cNvSpPr>
                <a:spLocks noChangeArrowheads="1"/>
              </p:cNvSpPr>
              <p:nvPr/>
            </p:nvSpPr>
            <p:spPr bwMode="auto">
              <a:xfrm>
                <a:off x="1392" y="2926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cxnSp>
            <p:nvCxnSpPr>
              <p:cNvPr id="52410" name="AutoShape 23"/>
              <p:cNvCxnSpPr>
                <a:cxnSpLocks noChangeShapeType="1"/>
                <a:stCxn id="52408" idx="4"/>
                <a:endCxn id="46259" idx="0"/>
              </p:cNvCxnSpPr>
              <p:nvPr/>
            </p:nvCxnSpPr>
            <p:spPr bwMode="auto">
              <a:xfrm rot="16200000" flipH="1">
                <a:off x="1445" y="2743"/>
                <a:ext cx="162" cy="17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11" name="AutoShape 24"/>
              <p:cNvCxnSpPr>
                <a:cxnSpLocks noChangeShapeType="1"/>
                <a:stCxn id="52409" idx="4"/>
                <a:endCxn id="46258" idx="0"/>
              </p:cNvCxnSpPr>
              <p:nvPr/>
            </p:nvCxnSpPr>
            <p:spPr bwMode="auto">
              <a:xfrm rot="16200000" flipH="1">
                <a:off x="1390" y="3070"/>
                <a:ext cx="126" cy="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12" name="AutoShape 25"/>
              <p:cNvCxnSpPr>
                <a:cxnSpLocks noChangeShapeType="1"/>
                <a:stCxn id="52409" idx="0"/>
                <a:endCxn id="52408" idx="4"/>
              </p:cNvCxnSpPr>
              <p:nvPr/>
            </p:nvCxnSpPr>
            <p:spPr bwMode="auto">
              <a:xfrm rot="16200000" flipV="1">
                <a:off x="1357" y="2832"/>
                <a:ext cx="176" cy="12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394" name="Group 26"/>
            <p:cNvGrpSpPr>
              <a:grpSpLocks/>
            </p:cNvGrpSpPr>
            <p:nvPr/>
          </p:nvGrpSpPr>
          <p:grpSpPr bwMode="auto">
            <a:xfrm>
              <a:off x="318" y="3076"/>
              <a:ext cx="350" cy="470"/>
              <a:chOff x="356" y="3171"/>
              <a:chExt cx="350" cy="470"/>
            </a:xfrm>
          </p:grpSpPr>
          <p:sp>
            <p:nvSpPr>
              <p:cNvPr id="52403" name="Oval 27"/>
              <p:cNvSpPr>
                <a:spLocks noChangeArrowheads="1"/>
              </p:cNvSpPr>
              <p:nvPr/>
            </p:nvSpPr>
            <p:spPr bwMode="auto">
              <a:xfrm>
                <a:off x="588" y="3171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404" name="Oval 28"/>
              <p:cNvSpPr>
                <a:spLocks noChangeArrowheads="1"/>
              </p:cNvSpPr>
              <p:nvPr/>
            </p:nvSpPr>
            <p:spPr bwMode="auto">
              <a:xfrm>
                <a:off x="471" y="3391"/>
                <a:ext cx="117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cxnSp>
            <p:nvCxnSpPr>
              <p:cNvPr id="52405" name="AutoShape 31"/>
              <p:cNvCxnSpPr>
                <a:cxnSpLocks noChangeShapeType="1"/>
                <a:stCxn id="52403" idx="4"/>
                <a:endCxn id="52404" idx="0"/>
              </p:cNvCxnSpPr>
              <p:nvPr/>
            </p:nvCxnSpPr>
            <p:spPr bwMode="auto">
              <a:xfrm rot="5400000">
                <a:off x="520" y="3264"/>
                <a:ext cx="137" cy="11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06" name="AutoShape 32"/>
              <p:cNvCxnSpPr>
                <a:cxnSpLocks noChangeShapeType="1"/>
                <a:stCxn id="52404" idx="4"/>
                <a:endCxn id="46256" idx="0"/>
              </p:cNvCxnSpPr>
              <p:nvPr/>
            </p:nvCxnSpPr>
            <p:spPr bwMode="auto">
              <a:xfrm rot="5400000">
                <a:off x="360" y="3470"/>
                <a:ext cx="166" cy="17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407" name="AutoShape 33"/>
              <p:cNvCxnSpPr>
                <a:cxnSpLocks noChangeShapeType="1"/>
                <a:stCxn id="52404" idx="4"/>
                <a:endCxn id="46255" idx="0"/>
              </p:cNvCxnSpPr>
              <p:nvPr/>
            </p:nvCxnSpPr>
            <p:spPr bwMode="auto">
              <a:xfrm rot="16200000" flipH="1">
                <a:off x="479" y="3525"/>
                <a:ext cx="166" cy="65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2395" name="Group 34"/>
            <p:cNvGrpSpPr>
              <a:grpSpLocks/>
            </p:cNvGrpSpPr>
            <p:nvPr/>
          </p:nvGrpSpPr>
          <p:grpSpPr bwMode="auto">
            <a:xfrm>
              <a:off x="756" y="3121"/>
              <a:ext cx="119" cy="213"/>
              <a:chOff x="1429" y="2704"/>
              <a:chExt cx="119" cy="213"/>
            </a:xfrm>
          </p:grpSpPr>
          <p:sp>
            <p:nvSpPr>
              <p:cNvPr id="52401" name="Oval 35"/>
              <p:cNvSpPr>
                <a:spLocks noChangeArrowheads="1"/>
              </p:cNvSpPr>
              <p:nvPr/>
            </p:nvSpPr>
            <p:spPr bwMode="auto">
              <a:xfrm>
                <a:off x="1429" y="2704"/>
                <a:ext cx="118" cy="8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cxnSp>
            <p:nvCxnSpPr>
              <p:cNvPr id="52402" name="AutoShape 37"/>
              <p:cNvCxnSpPr>
                <a:cxnSpLocks noChangeShapeType="1"/>
                <a:stCxn id="52401" idx="4"/>
                <a:endCxn id="46257" idx="0"/>
              </p:cNvCxnSpPr>
              <p:nvPr/>
            </p:nvCxnSpPr>
            <p:spPr bwMode="auto">
              <a:xfrm rot="16200000" flipH="1">
                <a:off x="1453" y="2822"/>
                <a:ext cx="130" cy="6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255" name="Oval 38"/>
            <p:cNvSpPr>
              <a:spLocks noChangeArrowheads="1"/>
            </p:cNvSpPr>
            <p:nvPr/>
          </p:nvSpPr>
          <p:spPr bwMode="auto">
            <a:xfrm>
              <a:off x="488" y="3545"/>
              <a:ext cx="136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256" name="Oval 39"/>
            <p:cNvSpPr>
              <a:spLocks noChangeArrowheads="1"/>
            </p:cNvSpPr>
            <p:nvPr/>
          </p:nvSpPr>
          <p:spPr bwMode="auto">
            <a:xfrm>
              <a:off x="249" y="3545"/>
              <a:ext cx="138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257" name="Oval 40"/>
            <p:cNvSpPr>
              <a:spLocks noChangeArrowheads="1"/>
            </p:cNvSpPr>
            <p:nvPr/>
          </p:nvSpPr>
          <p:spPr bwMode="auto">
            <a:xfrm>
              <a:off x="807" y="3334"/>
              <a:ext cx="138" cy="8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258" name="Oval 41"/>
            <p:cNvSpPr>
              <a:spLocks noChangeArrowheads="1"/>
            </p:cNvSpPr>
            <p:nvPr/>
          </p:nvSpPr>
          <p:spPr bwMode="auto">
            <a:xfrm>
              <a:off x="989" y="3588"/>
              <a:ext cx="136" cy="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259" name="Oval 42"/>
            <p:cNvSpPr>
              <a:spLocks noChangeArrowheads="1"/>
            </p:cNvSpPr>
            <p:nvPr/>
          </p:nvSpPr>
          <p:spPr bwMode="auto">
            <a:xfrm>
              <a:off x="1147" y="3364"/>
              <a:ext cx="138" cy="8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</p:grpSp>
      <p:grpSp>
        <p:nvGrpSpPr>
          <p:cNvPr id="52242" name="Group 44"/>
          <p:cNvGrpSpPr>
            <a:grpSpLocks/>
          </p:cNvGrpSpPr>
          <p:nvPr/>
        </p:nvGrpSpPr>
        <p:grpSpPr bwMode="auto">
          <a:xfrm>
            <a:off x="3562350" y="1990725"/>
            <a:ext cx="1060450" cy="825500"/>
            <a:chOff x="612" y="1162"/>
            <a:chExt cx="1160" cy="792"/>
          </a:xfrm>
        </p:grpSpPr>
        <p:grpSp>
          <p:nvGrpSpPr>
            <p:cNvPr id="52361" name="Group 45"/>
            <p:cNvGrpSpPr>
              <a:grpSpLocks/>
            </p:cNvGrpSpPr>
            <p:nvPr/>
          </p:nvGrpSpPr>
          <p:grpSpPr bwMode="auto">
            <a:xfrm>
              <a:off x="867" y="1162"/>
              <a:ext cx="667" cy="701"/>
              <a:chOff x="867" y="1133"/>
              <a:chExt cx="667" cy="701"/>
            </a:xfrm>
          </p:grpSpPr>
          <p:sp>
            <p:nvSpPr>
              <p:cNvPr id="52378" name="Oval 46"/>
              <p:cNvSpPr>
                <a:spLocks noChangeArrowheads="1"/>
              </p:cNvSpPr>
              <p:nvPr/>
            </p:nvSpPr>
            <p:spPr bwMode="auto">
              <a:xfrm>
                <a:off x="1079" y="1133"/>
                <a:ext cx="118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379" name="Oval 47"/>
              <p:cNvSpPr>
                <a:spLocks noChangeArrowheads="1"/>
              </p:cNvSpPr>
              <p:nvPr/>
            </p:nvSpPr>
            <p:spPr bwMode="auto">
              <a:xfrm>
                <a:off x="1282" y="1369"/>
                <a:ext cx="117" cy="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380" name="Oval 48"/>
              <p:cNvSpPr>
                <a:spLocks noChangeArrowheads="1"/>
              </p:cNvSpPr>
              <p:nvPr/>
            </p:nvSpPr>
            <p:spPr bwMode="auto">
              <a:xfrm>
                <a:off x="962" y="1353"/>
                <a:ext cx="117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381" name="Oval 49"/>
              <p:cNvSpPr>
                <a:spLocks noChangeArrowheads="1"/>
              </p:cNvSpPr>
              <p:nvPr/>
            </p:nvSpPr>
            <p:spPr bwMode="auto">
              <a:xfrm>
                <a:off x="1129" y="1365"/>
                <a:ext cx="117" cy="82"/>
              </a:xfrm>
              <a:prstGeom prst="ellipse">
                <a:avLst/>
              </a:prstGeom>
              <a:solidFill>
                <a:schemeClr val="hlink"/>
              </a:solidFill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382" name="Oval 54"/>
              <p:cNvSpPr>
                <a:spLocks noChangeArrowheads="1"/>
              </p:cNvSpPr>
              <p:nvPr/>
            </p:nvSpPr>
            <p:spPr bwMode="auto">
              <a:xfrm>
                <a:off x="1138" y="1639"/>
                <a:ext cx="117" cy="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383" name="Oval 55"/>
              <p:cNvSpPr>
                <a:spLocks noChangeArrowheads="1"/>
              </p:cNvSpPr>
              <p:nvPr/>
            </p:nvSpPr>
            <p:spPr bwMode="auto">
              <a:xfrm>
                <a:off x="1294" y="1627"/>
                <a:ext cx="118" cy="8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cxnSp>
            <p:nvCxnSpPr>
              <p:cNvPr id="52384" name="AutoShape 56"/>
              <p:cNvCxnSpPr>
                <a:cxnSpLocks noChangeShapeType="1"/>
                <a:stCxn id="52378" idx="4"/>
                <a:endCxn id="52380" idx="0"/>
              </p:cNvCxnSpPr>
              <p:nvPr/>
            </p:nvCxnSpPr>
            <p:spPr bwMode="auto">
              <a:xfrm rot="5400000">
                <a:off x="1011" y="1226"/>
                <a:ext cx="137" cy="11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5" name="AutoShape 57"/>
              <p:cNvCxnSpPr>
                <a:cxnSpLocks noChangeShapeType="1"/>
                <a:stCxn id="52378" idx="5"/>
                <a:endCxn id="52379" idx="0"/>
              </p:cNvCxnSpPr>
              <p:nvPr/>
            </p:nvCxnSpPr>
            <p:spPr bwMode="auto">
              <a:xfrm rot="16200000" flipH="1">
                <a:off x="1178" y="1206"/>
                <a:ext cx="165" cy="161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6" name="AutoShape 58"/>
              <p:cNvCxnSpPr>
                <a:cxnSpLocks noChangeShapeType="1"/>
                <a:stCxn id="52380" idx="4"/>
                <a:endCxn id="46213" idx="0"/>
              </p:cNvCxnSpPr>
              <p:nvPr/>
            </p:nvCxnSpPr>
            <p:spPr bwMode="auto">
              <a:xfrm rot="5400000">
                <a:off x="844" y="1459"/>
                <a:ext cx="199" cy="153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7" name="AutoShape 59"/>
              <p:cNvCxnSpPr>
                <a:cxnSpLocks noChangeShapeType="1"/>
                <a:stCxn id="52380" idx="4"/>
                <a:endCxn id="46214" idx="0"/>
              </p:cNvCxnSpPr>
              <p:nvPr/>
            </p:nvCxnSpPr>
            <p:spPr bwMode="auto">
              <a:xfrm rot="16200000" flipH="1">
                <a:off x="928" y="1529"/>
                <a:ext cx="199" cy="1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8" name="AutoShape 60"/>
              <p:cNvCxnSpPr>
                <a:cxnSpLocks noChangeShapeType="1"/>
                <a:stCxn id="52378" idx="4"/>
                <a:endCxn id="52381" idx="0"/>
              </p:cNvCxnSpPr>
              <p:nvPr/>
            </p:nvCxnSpPr>
            <p:spPr bwMode="auto">
              <a:xfrm>
                <a:off x="1138" y="1220"/>
                <a:ext cx="49" cy="141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89" name="AutoShape 61"/>
              <p:cNvCxnSpPr>
                <a:cxnSpLocks noChangeShapeType="1"/>
                <a:stCxn id="52379" idx="4"/>
                <a:endCxn id="46212" idx="0"/>
              </p:cNvCxnSpPr>
              <p:nvPr/>
            </p:nvCxnSpPr>
            <p:spPr bwMode="auto">
              <a:xfrm rot="16200000" flipH="1">
                <a:off x="1345" y="1446"/>
                <a:ext cx="184" cy="194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0" name="AutoShape 62"/>
              <p:cNvCxnSpPr>
                <a:cxnSpLocks noChangeShapeType="1"/>
                <a:stCxn id="52383" idx="4"/>
              </p:cNvCxnSpPr>
              <p:nvPr/>
            </p:nvCxnSpPr>
            <p:spPr bwMode="auto">
              <a:xfrm>
                <a:off x="1353" y="1714"/>
                <a:ext cx="23" cy="12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1" name="AutoShape 63"/>
              <p:cNvCxnSpPr>
                <a:cxnSpLocks noChangeShapeType="1"/>
                <a:stCxn id="52379" idx="4"/>
                <a:endCxn id="52382" idx="0"/>
              </p:cNvCxnSpPr>
              <p:nvPr/>
            </p:nvCxnSpPr>
            <p:spPr bwMode="auto">
              <a:xfrm flipH="1">
                <a:off x="1197" y="1455"/>
                <a:ext cx="144" cy="180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392" name="AutoShape 64"/>
              <p:cNvCxnSpPr>
                <a:cxnSpLocks noChangeShapeType="1"/>
                <a:stCxn id="52383" idx="0"/>
                <a:endCxn id="52379" idx="4"/>
              </p:cNvCxnSpPr>
              <p:nvPr/>
            </p:nvCxnSpPr>
            <p:spPr bwMode="auto">
              <a:xfrm flipH="1" flipV="1">
                <a:off x="1341" y="1455"/>
                <a:ext cx="12" cy="168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2362" name="Oval 65"/>
            <p:cNvSpPr>
              <a:spLocks noChangeArrowheads="1"/>
            </p:cNvSpPr>
            <p:nvPr/>
          </p:nvSpPr>
          <p:spPr bwMode="auto">
            <a:xfrm>
              <a:off x="839" y="1871"/>
              <a:ext cx="118" cy="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2363" name="AutoShape 66"/>
            <p:cNvCxnSpPr>
              <a:cxnSpLocks noChangeShapeType="1"/>
              <a:endCxn id="52362" idx="0"/>
            </p:cNvCxnSpPr>
            <p:nvPr/>
          </p:nvCxnSpPr>
          <p:spPr bwMode="auto">
            <a:xfrm rot="10800000" flipV="1">
              <a:off x="898" y="1748"/>
              <a:ext cx="163" cy="12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4" name="AutoShape 67"/>
            <p:cNvCxnSpPr>
              <a:cxnSpLocks noChangeShapeType="1"/>
              <a:stCxn id="52379" idx="4"/>
              <a:endCxn id="52370" idx="0"/>
            </p:cNvCxnSpPr>
            <p:nvPr/>
          </p:nvCxnSpPr>
          <p:spPr bwMode="auto">
            <a:xfrm rot="16200000" flipH="1">
              <a:off x="1445" y="1376"/>
              <a:ext cx="165" cy="37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5" name="AutoShape 68"/>
            <p:cNvCxnSpPr>
              <a:cxnSpLocks noChangeShapeType="1"/>
              <a:stCxn id="52380" idx="4"/>
              <a:endCxn id="52372" idx="0"/>
            </p:cNvCxnSpPr>
            <p:nvPr/>
          </p:nvCxnSpPr>
          <p:spPr bwMode="auto">
            <a:xfrm rot="5400000">
              <a:off x="756" y="1380"/>
              <a:ext cx="180" cy="3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6" name="AutoShape 69"/>
            <p:cNvCxnSpPr>
              <a:cxnSpLocks noChangeShapeType="1"/>
              <a:endCxn id="52375" idx="0"/>
            </p:cNvCxnSpPr>
            <p:nvPr/>
          </p:nvCxnSpPr>
          <p:spPr bwMode="auto">
            <a:xfrm rot="10800000" flipV="1">
              <a:off x="716" y="1748"/>
              <a:ext cx="345" cy="12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7" name="AutoShape 70"/>
            <p:cNvCxnSpPr>
              <a:cxnSpLocks noChangeShapeType="1"/>
              <a:stCxn id="46212" idx="4"/>
            </p:cNvCxnSpPr>
            <p:nvPr/>
          </p:nvCxnSpPr>
          <p:spPr bwMode="auto">
            <a:xfrm rot="16200000" flipH="1">
              <a:off x="1559" y="1729"/>
              <a:ext cx="117" cy="16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8" name="AutoShape 71"/>
            <p:cNvCxnSpPr>
              <a:cxnSpLocks noChangeShapeType="1"/>
              <a:stCxn id="52383" idx="4"/>
              <a:endCxn id="52374" idx="0"/>
            </p:cNvCxnSpPr>
            <p:nvPr/>
          </p:nvCxnSpPr>
          <p:spPr bwMode="auto">
            <a:xfrm rot="16200000" flipH="1">
              <a:off x="1376" y="1716"/>
              <a:ext cx="132" cy="17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69" name="AutoShape 72"/>
            <p:cNvCxnSpPr>
              <a:cxnSpLocks noChangeShapeType="1"/>
              <a:stCxn id="52378" idx="3"/>
              <a:endCxn id="52371" idx="0"/>
            </p:cNvCxnSpPr>
            <p:nvPr/>
          </p:nvCxnSpPr>
          <p:spPr bwMode="auto">
            <a:xfrm rot="5400000">
              <a:off x="881" y="1158"/>
              <a:ext cx="140" cy="29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370" name="Oval 73"/>
            <p:cNvSpPr>
              <a:spLocks noChangeArrowheads="1"/>
            </p:cNvSpPr>
            <p:nvPr/>
          </p:nvSpPr>
          <p:spPr bwMode="auto">
            <a:xfrm>
              <a:off x="1655" y="1645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71" name="Oval 74"/>
            <p:cNvSpPr>
              <a:spLocks noChangeArrowheads="1"/>
            </p:cNvSpPr>
            <p:nvPr/>
          </p:nvSpPr>
          <p:spPr bwMode="auto">
            <a:xfrm>
              <a:off x="748" y="1373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72" name="Oval 75"/>
            <p:cNvSpPr>
              <a:spLocks noChangeArrowheads="1"/>
            </p:cNvSpPr>
            <p:nvPr/>
          </p:nvSpPr>
          <p:spPr bwMode="auto">
            <a:xfrm>
              <a:off x="612" y="1645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73" name="Oval 76"/>
            <p:cNvSpPr>
              <a:spLocks noChangeArrowheads="1"/>
            </p:cNvSpPr>
            <p:nvPr/>
          </p:nvSpPr>
          <p:spPr bwMode="auto">
            <a:xfrm>
              <a:off x="1655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74" name="Oval 77"/>
            <p:cNvSpPr>
              <a:spLocks noChangeArrowheads="1"/>
            </p:cNvSpPr>
            <p:nvPr/>
          </p:nvSpPr>
          <p:spPr bwMode="auto">
            <a:xfrm>
              <a:off x="1473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75" name="Oval 78"/>
            <p:cNvSpPr>
              <a:spLocks noChangeArrowheads="1"/>
            </p:cNvSpPr>
            <p:nvPr/>
          </p:nvSpPr>
          <p:spPr bwMode="auto">
            <a:xfrm>
              <a:off x="657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76" name="Oval 79"/>
            <p:cNvSpPr>
              <a:spLocks noChangeArrowheads="1"/>
            </p:cNvSpPr>
            <p:nvPr/>
          </p:nvSpPr>
          <p:spPr bwMode="auto">
            <a:xfrm>
              <a:off x="1066" y="1871"/>
              <a:ext cx="117" cy="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2377" name="AutoShape 80"/>
            <p:cNvCxnSpPr>
              <a:cxnSpLocks noChangeShapeType="1"/>
              <a:endCxn id="52376" idx="0"/>
            </p:cNvCxnSpPr>
            <p:nvPr/>
          </p:nvCxnSpPr>
          <p:spPr bwMode="auto">
            <a:xfrm rot="16200000" flipH="1">
              <a:off x="1031" y="1778"/>
              <a:ext cx="123" cy="6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2243" name="AutoShape 81"/>
          <p:cNvSpPr>
            <a:spLocks noChangeArrowheads="1"/>
          </p:cNvSpPr>
          <p:nvPr/>
        </p:nvSpPr>
        <p:spPr bwMode="auto">
          <a:xfrm>
            <a:off x="3505200" y="1981200"/>
            <a:ext cx="1143000" cy="914400"/>
          </a:xfrm>
          <a:prstGeom prst="can">
            <a:avLst>
              <a:gd name="adj" fmla="val 25000"/>
            </a:avLst>
          </a:prstGeom>
          <a:solidFill>
            <a:srgbClr val="CCFFCC">
              <a:alpha val="0"/>
            </a:srgbClr>
          </a:solidFill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46211" name="Oval 83"/>
          <p:cNvSpPr>
            <a:spLocks noChangeArrowheads="1"/>
          </p:cNvSpPr>
          <p:nvPr/>
        </p:nvSpPr>
        <p:spPr bwMode="auto">
          <a:xfrm>
            <a:off x="4191001" y="2725738"/>
            <a:ext cx="125413" cy="936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212" name="Oval 84"/>
          <p:cNvSpPr>
            <a:spLocks noChangeArrowheads="1"/>
          </p:cNvSpPr>
          <p:nvPr/>
        </p:nvSpPr>
        <p:spPr bwMode="auto">
          <a:xfrm>
            <a:off x="4343401" y="2514601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213" name="Oval 85"/>
          <p:cNvSpPr>
            <a:spLocks noChangeArrowheads="1"/>
          </p:cNvSpPr>
          <p:nvPr/>
        </p:nvSpPr>
        <p:spPr bwMode="auto">
          <a:xfrm>
            <a:off x="3733801" y="2514601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214" name="Oval 86"/>
          <p:cNvSpPr>
            <a:spLocks noChangeArrowheads="1"/>
          </p:cNvSpPr>
          <p:nvPr/>
        </p:nvSpPr>
        <p:spPr bwMode="auto">
          <a:xfrm>
            <a:off x="3886201" y="2514601"/>
            <a:ext cx="125413" cy="936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215" name="Oval 87"/>
          <p:cNvSpPr>
            <a:spLocks noChangeArrowheads="1"/>
          </p:cNvSpPr>
          <p:nvPr/>
        </p:nvSpPr>
        <p:spPr bwMode="auto">
          <a:xfrm>
            <a:off x="4024313" y="2227263"/>
            <a:ext cx="125412" cy="936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2249" name="Text Box 145"/>
          <p:cNvSpPr txBox="1">
            <a:spLocks noChangeArrowheads="1"/>
          </p:cNvSpPr>
          <p:nvPr/>
        </p:nvSpPr>
        <p:spPr bwMode="auto">
          <a:xfrm>
            <a:off x="5170234" y="2949575"/>
            <a:ext cx="16610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入力概念に</a:t>
            </a:r>
          </a:p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関連するパス</a:t>
            </a:r>
          </a:p>
        </p:txBody>
      </p:sp>
      <p:sp>
        <p:nvSpPr>
          <p:cNvPr id="44051" name="AutoShape 146"/>
          <p:cNvSpPr>
            <a:spLocks noChangeArrowheads="1"/>
          </p:cNvSpPr>
          <p:nvPr/>
        </p:nvSpPr>
        <p:spPr bwMode="auto">
          <a:xfrm>
            <a:off x="2971800" y="22637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4052" name="AutoShape 150"/>
          <p:cNvSpPr>
            <a:spLocks noChangeArrowheads="1"/>
          </p:cNvSpPr>
          <p:nvPr/>
        </p:nvSpPr>
        <p:spPr bwMode="auto">
          <a:xfrm>
            <a:off x="4800600" y="22637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4053" name="AutoShape 151"/>
          <p:cNvSpPr>
            <a:spLocks noChangeArrowheads="1"/>
          </p:cNvSpPr>
          <p:nvPr/>
        </p:nvSpPr>
        <p:spPr bwMode="auto">
          <a:xfrm>
            <a:off x="6629400" y="22637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4054" name="AutoShape 152"/>
          <p:cNvSpPr>
            <a:spLocks noChangeArrowheads="1"/>
          </p:cNvSpPr>
          <p:nvPr/>
        </p:nvSpPr>
        <p:spPr bwMode="auto">
          <a:xfrm>
            <a:off x="8610600" y="22447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2254" name="Text Box 153"/>
          <p:cNvSpPr txBox="1">
            <a:spLocks noChangeArrowheads="1"/>
          </p:cNvSpPr>
          <p:nvPr/>
        </p:nvSpPr>
        <p:spPr bwMode="auto">
          <a:xfrm>
            <a:off x="7079270" y="2949575"/>
            <a:ext cx="148309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ベストマッチ</a:t>
            </a:r>
          </a:p>
          <a:p>
            <a:pPr algn="ctr" eaLnBrk="1" hangingPunct="1"/>
            <a:r>
              <a:rPr lang="ja-JP" altLang="en-US" sz="2000" b="1">
                <a:solidFill>
                  <a:srgbClr val="003300"/>
                </a:solidFill>
                <a:latin typeface="ＭＳ Ｐゴシック" charset="-128"/>
              </a:rPr>
              <a:t>モデル</a:t>
            </a:r>
          </a:p>
        </p:txBody>
      </p:sp>
      <p:sp>
        <p:nvSpPr>
          <p:cNvPr id="52255" name="Text Box 154"/>
          <p:cNvSpPr txBox="1">
            <a:spLocks noChangeArrowheads="1"/>
          </p:cNvSpPr>
          <p:nvPr/>
        </p:nvSpPr>
        <p:spPr bwMode="auto">
          <a:xfrm>
            <a:off x="9144000" y="2949576"/>
            <a:ext cx="14366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ＭＳ Ｐゴシック" charset="-128"/>
              </a:rPr>
              <a:t>概念階層</a:t>
            </a:r>
          </a:p>
          <a:p>
            <a:pPr algn="ctr" eaLnBrk="1" hangingPunct="1"/>
            <a:r>
              <a:rPr lang="ja-JP" altLang="en-US" sz="2000" b="1">
                <a:latin typeface="ＭＳ Ｐゴシック" charset="-128"/>
              </a:rPr>
              <a:t>初期モデル</a:t>
            </a:r>
          </a:p>
        </p:txBody>
      </p:sp>
      <p:sp>
        <p:nvSpPr>
          <p:cNvPr id="52256" name="Text Box 155"/>
          <p:cNvSpPr txBox="1">
            <a:spLocks noChangeArrowheads="1"/>
          </p:cNvSpPr>
          <p:nvPr/>
        </p:nvSpPr>
        <p:spPr bwMode="auto">
          <a:xfrm>
            <a:off x="4686300" y="1647825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ＭＳ Ｐゴシック" charset="-128"/>
              </a:rPr>
              <a:t>抽出</a:t>
            </a:r>
          </a:p>
        </p:txBody>
      </p:sp>
      <p:sp>
        <p:nvSpPr>
          <p:cNvPr id="52257" name="Text Box 156"/>
          <p:cNvSpPr txBox="1">
            <a:spLocks noChangeArrowheads="1"/>
          </p:cNvSpPr>
          <p:nvPr/>
        </p:nvSpPr>
        <p:spPr bwMode="auto">
          <a:xfrm>
            <a:off x="6475414" y="1647825"/>
            <a:ext cx="8016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ＭＳ Ｐゴシック" charset="-128"/>
              </a:rPr>
              <a:t>合成</a:t>
            </a:r>
          </a:p>
        </p:txBody>
      </p:sp>
      <p:sp>
        <p:nvSpPr>
          <p:cNvPr id="52258" name="Text Box 157"/>
          <p:cNvSpPr txBox="1">
            <a:spLocks noChangeArrowheads="1"/>
          </p:cNvSpPr>
          <p:nvPr/>
        </p:nvSpPr>
        <p:spPr bwMode="auto">
          <a:xfrm>
            <a:off x="8420100" y="1647825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>
                <a:latin typeface="ＭＳ Ｐゴシック" charset="-128"/>
              </a:rPr>
              <a:t>剪定</a:t>
            </a:r>
          </a:p>
        </p:txBody>
      </p:sp>
      <p:sp>
        <p:nvSpPr>
          <p:cNvPr id="44060" name="Rectangle 158"/>
          <p:cNvSpPr>
            <a:spLocks noChangeArrowheads="1"/>
          </p:cNvSpPr>
          <p:nvPr/>
        </p:nvSpPr>
        <p:spPr bwMode="auto">
          <a:xfrm>
            <a:off x="1524000" y="1524000"/>
            <a:ext cx="9144000" cy="2362200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4061" name="Text Box 159"/>
          <p:cNvSpPr txBox="1">
            <a:spLocks noChangeArrowheads="1"/>
          </p:cNvSpPr>
          <p:nvPr/>
        </p:nvSpPr>
        <p:spPr bwMode="auto">
          <a:xfrm>
            <a:off x="1524001" y="1057276"/>
            <a:ext cx="1412875" cy="4667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ja-JP" altLang="en-US" sz="2400" b="1"/>
              <a:t>階層構築</a:t>
            </a:r>
          </a:p>
        </p:txBody>
      </p:sp>
      <p:sp>
        <p:nvSpPr>
          <p:cNvPr id="52261" name="Text Box 178"/>
          <p:cNvSpPr txBox="1">
            <a:spLocks noChangeArrowheads="1"/>
          </p:cNvSpPr>
          <p:nvPr/>
        </p:nvSpPr>
        <p:spPr bwMode="auto">
          <a:xfrm>
            <a:off x="1778001" y="6384925"/>
            <a:ext cx="2468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ＭＳ Ｐゴシック" charset="-128"/>
              </a:rPr>
              <a:t>概念階層初期モデル</a:t>
            </a:r>
          </a:p>
        </p:txBody>
      </p:sp>
      <p:sp>
        <p:nvSpPr>
          <p:cNvPr id="52262" name="Text Box 179"/>
          <p:cNvSpPr txBox="1">
            <a:spLocks noChangeArrowheads="1"/>
          </p:cNvSpPr>
          <p:nvPr/>
        </p:nvSpPr>
        <p:spPr bwMode="auto">
          <a:xfrm>
            <a:off x="1981201" y="4800601"/>
            <a:ext cx="199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一般的な階層構造</a:t>
            </a:r>
          </a:p>
        </p:txBody>
      </p:sp>
      <p:sp>
        <p:nvSpPr>
          <p:cNvPr id="52263" name="Text Box 201"/>
          <p:cNvSpPr txBox="1">
            <a:spLocks noChangeArrowheads="1"/>
          </p:cNvSpPr>
          <p:nvPr/>
        </p:nvSpPr>
        <p:spPr bwMode="auto">
          <a:xfrm>
            <a:off x="7270750" y="6384925"/>
            <a:ext cx="33210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ＭＳ Ｐゴシック" charset="-128"/>
              </a:rPr>
              <a:t>領域オントロジーの概念階層</a:t>
            </a:r>
          </a:p>
        </p:txBody>
      </p:sp>
      <p:sp>
        <p:nvSpPr>
          <p:cNvPr id="52264" name="Text Box 238"/>
          <p:cNvSpPr txBox="1">
            <a:spLocks noChangeArrowheads="1"/>
          </p:cNvSpPr>
          <p:nvPr/>
        </p:nvSpPr>
        <p:spPr bwMode="auto">
          <a:xfrm>
            <a:off x="4953000" y="5410200"/>
            <a:ext cx="1828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/>
              <a:t>照合結果分析</a:t>
            </a:r>
          </a:p>
        </p:txBody>
      </p:sp>
      <p:sp>
        <p:nvSpPr>
          <p:cNvPr id="52265" name="Text Box 239"/>
          <p:cNvSpPr txBox="1">
            <a:spLocks noChangeArrowheads="1"/>
          </p:cNvSpPr>
          <p:nvPr/>
        </p:nvSpPr>
        <p:spPr bwMode="auto">
          <a:xfrm>
            <a:off x="4953000" y="5867400"/>
            <a:ext cx="1828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/>
              <a:t>剪定結果分析</a:t>
            </a:r>
          </a:p>
        </p:txBody>
      </p:sp>
      <p:sp>
        <p:nvSpPr>
          <p:cNvPr id="52266" name="Text Box 240"/>
          <p:cNvSpPr txBox="1">
            <a:spLocks noChangeArrowheads="1"/>
          </p:cNvSpPr>
          <p:nvPr/>
        </p:nvSpPr>
        <p:spPr bwMode="auto">
          <a:xfrm>
            <a:off x="4953000" y="6329364"/>
            <a:ext cx="1828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/>
              <a:t>多重継承の除去</a:t>
            </a:r>
          </a:p>
        </p:txBody>
      </p:sp>
      <p:sp>
        <p:nvSpPr>
          <p:cNvPr id="44084" name="AutoShape 241"/>
          <p:cNvSpPr>
            <a:spLocks noChangeArrowheads="1"/>
          </p:cNvSpPr>
          <p:nvPr/>
        </p:nvSpPr>
        <p:spPr bwMode="auto">
          <a:xfrm>
            <a:off x="3886200" y="561975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4085" name="AutoShape 242"/>
          <p:cNvSpPr>
            <a:spLocks noChangeArrowheads="1"/>
          </p:cNvSpPr>
          <p:nvPr/>
        </p:nvSpPr>
        <p:spPr bwMode="auto">
          <a:xfrm>
            <a:off x="7315200" y="561975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2269" name="Text Box 243"/>
          <p:cNvSpPr txBox="1">
            <a:spLocks noChangeArrowheads="1"/>
          </p:cNvSpPr>
          <p:nvPr/>
        </p:nvSpPr>
        <p:spPr bwMode="auto">
          <a:xfrm>
            <a:off x="7519988" y="4814888"/>
            <a:ext cx="26146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領域に特化した階層構造</a:t>
            </a:r>
          </a:p>
        </p:txBody>
      </p:sp>
      <p:sp>
        <p:nvSpPr>
          <p:cNvPr id="52270" name="Rectangle 246"/>
          <p:cNvSpPr>
            <a:spLocks noChangeArrowheads="1"/>
          </p:cNvSpPr>
          <p:nvPr/>
        </p:nvSpPr>
        <p:spPr bwMode="auto">
          <a:xfrm>
            <a:off x="4648200" y="4953000"/>
            <a:ext cx="23622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2271" name="Text Box 247"/>
          <p:cNvSpPr txBox="1">
            <a:spLocks noChangeArrowheads="1"/>
          </p:cNvSpPr>
          <p:nvPr/>
        </p:nvSpPr>
        <p:spPr bwMode="auto">
          <a:xfrm>
            <a:off x="4816476" y="4967288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 b="1"/>
              <a:t>概念変動管理</a:t>
            </a:r>
          </a:p>
        </p:txBody>
      </p:sp>
      <p:sp>
        <p:nvSpPr>
          <p:cNvPr id="44105" name="Text Box 249"/>
          <p:cNvSpPr txBox="1">
            <a:spLocks noChangeArrowheads="1"/>
          </p:cNvSpPr>
          <p:nvPr/>
        </p:nvSpPr>
        <p:spPr bwMode="auto">
          <a:xfrm>
            <a:off x="1524001" y="4029076"/>
            <a:ext cx="1412875" cy="4667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ja-JP" altLang="en-US" sz="2400" b="1"/>
              <a:t>階層洗練</a:t>
            </a:r>
          </a:p>
        </p:txBody>
      </p:sp>
      <p:sp>
        <p:nvSpPr>
          <p:cNvPr id="52273" name="Text Box 250"/>
          <p:cNvSpPr txBox="1">
            <a:spLocks noChangeArrowheads="1"/>
          </p:cNvSpPr>
          <p:nvPr/>
        </p:nvSpPr>
        <p:spPr bwMode="auto">
          <a:xfrm>
            <a:off x="5295900" y="4581526"/>
            <a:ext cx="11049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ＭＳ Ｐゴシック" charset="-128"/>
              </a:rPr>
              <a:t>階層洗練</a:t>
            </a:r>
          </a:p>
        </p:txBody>
      </p:sp>
      <p:grpSp>
        <p:nvGrpSpPr>
          <p:cNvPr id="52274" name="グループ化 194"/>
          <p:cNvGrpSpPr>
            <a:grpSpLocks/>
          </p:cNvGrpSpPr>
          <p:nvPr/>
        </p:nvGrpSpPr>
        <p:grpSpPr bwMode="auto">
          <a:xfrm>
            <a:off x="7270750" y="1806575"/>
            <a:ext cx="1187450" cy="998538"/>
            <a:chOff x="5823454" y="1752600"/>
            <a:chExt cx="1186946" cy="998762"/>
          </a:xfrm>
        </p:grpSpPr>
        <p:sp>
          <p:nvSpPr>
            <p:cNvPr id="52349" name="Oval 94"/>
            <p:cNvSpPr>
              <a:spLocks noChangeArrowheads="1"/>
            </p:cNvSpPr>
            <p:nvPr/>
          </p:nvSpPr>
          <p:spPr bwMode="auto">
            <a:xfrm>
              <a:off x="6082561" y="1974616"/>
              <a:ext cx="216102" cy="83333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50" name="Oval 95"/>
            <p:cNvSpPr>
              <a:spLocks noChangeArrowheads="1"/>
            </p:cNvSpPr>
            <p:nvPr/>
          </p:nvSpPr>
          <p:spPr bwMode="auto">
            <a:xfrm>
              <a:off x="6665283" y="1974616"/>
              <a:ext cx="216102" cy="833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51" name="Oval 96"/>
            <p:cNvSpPr>
              <a:spLocks noChangeArrowheads="1"/>
            </p:cNvSpPr>
            <p:nvPr/>
          </p:nvSpPr>
          <p:spPr bwMode="auto">
            <a:xfrm>
              <a:off x="6536267" y="2436548"/>
              <a:ext cx="216102" cy="8436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46188" name="Oval 97"/>
            <p:cNvSpPr>
              <a:spLocks noChangeArrowheads="1"/>
            </p:cNvSpPr>
            <p:nvPr/>
          </p:nvSpPr>
          <p:spPr bwMode="auto">
            <a:xfrm>
              <a:off x="6082107" y="2205139"/>
              <a:ext cx="215808" cy="8415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189" name="Oval 98"/>
            <p:cNvSpPr>
              <a:spLocks noChangeArrowheads="1"/>
            </p:cNvSpPr>
            <p:nvPr/>
          </p:nvSpPr>
          <p:spPr bwMode="auto">
            <a:xfrm>
              <a:off x="6405820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198" name="Oval 107"/>
            <p:cNvSpPr>
              <a:spLocks noChangeArrowheads="1"/>
            </p:cNvSpPr>
            <p:nvPr/>
          </p:nvSpPr>
          <p:spPr bwMode="auto">
            <a:xfrm>
              <a:off x="6666059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52355" name="Oval 108"/>
            <p:cNvSpPr>
              <a:spLocks noChangeArrowheads="1"/>
            </p:cNvSpPr>
            <p:nvPr/>
          </p:nvSpPr>
          <p:spPr bwMode="auto">
            <a:xfrm>
              <a:off x="5823454" y="2205068"/>
              <a:ext cx="216102" cy="843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56" name="Oval 109"/>
            <p:cNvSpPr>
              <a:spLocks noChangeArrowheads="1"/>
            </p:cNvSpPr>
            <p:nvPr/>
          </p:nvSpPr>
          <p:spPr bwMode="auto">
            <a:xfrm>
              <a:off x="5824860" y="2436548"/>
              <a:ext cx="215026" cy="8436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46202" name="Oval 111"/>
            <p:cNvSpPr>
              <a:spLocks noChangeArrowheads="1"/>
            </p:cNvSpPr>
            <p:nvPr/>
          </p:nvSpPr>
          <p:spPr bwMode="auto">
            <a:xfrm>
              <a:off x="5823454" y="2668793"/>
              <a:ext cx="215808" cy="825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205" name="Oval 114"/>
            <p:cNvSpPr>
              <a:spLocks noChangeArrowheads="1"/>
            </p:cNvSpPr>
            <p:nvPr/>
          </p:nvSpPr>
          <p:spPr bwMode="auto">
            <a:xfrm>
              <a:off x="6794592" y="2436966"/>
              <a:ext cx="215808" cy="8415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52359" name="Oval 115"/>
            <p:cNvSpPr>
              <a:spLocks noChangeArrowheads="1"/>
            </p:cNvSpPr>
            <p:nvPr/>
          </p:nvSpPr>
          <p:spPr bwMode="auto">
            <a:xfrm>
              <a:off x="6665283" y="2205068"/>
              <a:ext cx="216102" cy="8436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46207" name="Oval 97"/>
            <p:cNvSpPr>
              <a:spLocks noChangeArrowheads="1"/>
            </p:cNvSpPr>
            <p:nvPr/>
          </p:nvSpPr>
          <p:spPr bwMode="auto">
            <a:xfrm>
              <a:off x="6337586" y="1752600"/>
              <a:ext cx="215808" cy="8415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</p:grpSp>
      <p:grpSp>
        <p:nvGrpSpPr>
          <p:cNvPr id="52275" name="グループ化 195"/>
          <p:cNvGrpSpPr>
            <a:grpSpLocks/>
          </p:cNvGrpSpPr>
          <p:nvPr/>
        </p:nvGrpSpPr>
        <p:grpSpPr bwMode="auto">
          <a:xfrm>
            <a:off x="9220200" y="1730375"/>
            <a:ext cx="1295400" cy="1200150"/>
            <a:chOff x="7772400" y="1752600"/>
            <a:chExt cx="1295400" cy="1199586"/>
          </a:xfrm>
        </p:grpSpPr>
        <p:sp>
          <p:nvSpPr>
            <p:cNvPr id="52340" name="Oval 118"/>
            <p:cNvSpPr>
              <a:spLocks noChangeArrowheads="1"/>
            </p:cNvSpPr>
            <p:nvPr/>
          </p:nvSpPr>
          <p:spPr bwMode="auto">
            <a:xfrm>
              <a:off x="7931026" y="2125181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2341" name="Oval 119"/>
            <p:cNvSpPr>
              <a:spLocks noChangeArrowheads="1"/>
            </p:cNvSpPr>
            <p:nvPr/>
          </p:nvSpPr>
          <p:spPr bwMode="auto">
            <a:xfrm>
              <a:off x="8533672" y="2456452"/>
              <a:ext cx="242877" cy="132786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46170" name="Oval 120"/>
            <p:cNvSpPr>
              <a:spLocks noChangeArrowheads="1"/>
            </p:cNvSpPr>
            <p:nvPr/>
          </p:nvSpPr>
          <p:spPr bwMode="auto">
            <a:xfrm>
              <a:off x="8066088" y="2453945"/>
              <a:ext cx="242887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171" name="Oval 121"/>
            <p:cNvSpPr>
              <a:spLocks noChangeArrowheads="1"/>
            </p:cNvSpPr>
            <p:nvPr/>
          </p:nvSpPr>
          <p:spPr bwMode="auto">
            <a:xfrm>
              <a:off x="8386763" y="2822072"/>
              <a:ext cx="242887" cy="130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179" name="Oval 129"/>
            <p:cNvSpPr>
              <a:spLocks noChangeArrowheads="1"/>
            </p:cNvSpPr>
            <p:nvPr/>
          </p:nvSpPr>
          <p:spPr bwMode="auto">
            <a:xfrm>
              <a:off x="8678863" y="2822072"/>
              <a:ext cx="242887" cy="13011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180" name="Oval 130"/>
            <p:cNvSpPr>
              <a:spLocks noChangeArrowheads="1"/>
            </p:cNvSpPr>
            <p:nvPr/>
          </p:nvSpPr>
          <p:spPr bwMode="auto">
            <a:xfrm>
              <a:off x="7772400" y="2458706"/>
              <a:ext cx="242888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46182" name="Oval 132"/>
            <p:cNvSpPr>
              <a:spLocks noChangeArrowheads="1"/>
            </p:cNvSpPr>
            <p:nvPr/>
          </p:nvSpPr>
          <p:spPr bwMode="auto">
            <a:xfrm>
              <a:off x="8823325" y="2457119"/>
              <a:ext cx="244475" cy="1317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52347" name="Oval 133"/>
            <p:cNvSpPr>
              <a:spLocks noChangeArrowheads="1"/>
            </p:cNvSpPr>
            <p:nvPr/>
          </p:nvSpPr>
          <p:spPr bwMode="auto">
            <a:xfrm>
              <a:off x="8678794" y="2094488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46184" name="Oval 120"/>
            <p:cNvSpPr>
              <a:spLocks noChangeArrowheads="1"/>
            </p:cNvSpPr>
            <p:nvPr/>
          </p:nvSpPr>
          <p:spPr bwMode="auto">
            <a:xfrm>
              <a:off x="8305800" y="1752600"/>
              <a:ext cx="242888" cy="1332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</p:grpSp>
      <p:sp>
        <p:nvSpPr>
          <p:cNvPr id="46157" name="Oval 15"/>
          <p:cNvSpPr>
            <a:spLocks noChangeArrowheads="1"/>
          </p:cNvSpPr>
          <p:nvPr/>
        </p:nvSpPr>
        <p:spPr bwMode="auto">
          <a:xfrm>
            <a:off x="2590801" y="26622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158" name="Oval 15"/>
          <p:cNvSpPr>
            <a:spLocks noChangeArrowheads="1"/>
          </p:cNvSpPr>
          <p:nvPr/>
        </p:nvSpPr>
        <p:spPr bwMode="auto">
          <a:xfrm>
            <a:off x="2524126" y="2205038"/>
            <a:ext cx="142875" cy="809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6159" name="Oval 15"/>
          <p:cNvSpPr>
            <a:spLocks noChangeArrowheads="1"/>
          </p:cNvSpPr>
          <p:nvPr/>
        </p:nvSpPr>
        <p:spPr bwMode="auto">
          <a:xfrm>
            <a:off x="1752601" y="2438401"/>
            <a:ext cx="142875" cy="809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4114" name="Rectangle 133"/>
          <p:cNvSpPr>
            <a:spLocks noChangeArrowheads="1"/>
          </p:cNvSpPr>
          <p:nvPr/>
        </p:nvSpPr>
        <p:spPr bwMode="auto">
          <a:xfrm>
            <a:off x="6972300" y="381000"/>
            <a:ext cx="3695700" cy="1066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2280" name="Rectangle 132"/>
          <p:cNvSpPr>
            <a:spLocks noChangeArrowheads="1"/>
          </p:cNvSpPr>
          <p:nvPr/>
        </p:nvSpPr>
        <p:spPr bwMode="auto">
          <a:xfrm>
            <a:off x="7620000" y="1001714"/>
            <a:ext cx="165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ＭＳ Ｐゴシック" charset="-128"/>
              </a:rPr>
              <a:t>不要中間ノード</a:t>
            </a:r>
          </a:p>
        </p:txBody>
      </p:sp>
      <p:sp>
        <p:nvSpPr>
          <p:cNvPr id="46163" name="Oval 134"/>
          <p:cNvSpPr>
            <a:spLocks noChangeArrowheads="1"/>
          </p:cNvSpPr>
          <p:nvPr/>
        </p:nvSpPr>
        <p:spPr bwMode="auto">
          <a:xfrm>
            <a:off x="7086601" y="530226"/>
            <a:ext cx="461963" cy="1555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2282" name="Rectangle 135"/>
          <p:cNvSpPr>
            <a:spLocks noChangeArrowheads="1"/>
          </p:cNvSpPr>
          <p:nvPr/>
        </p:nvSpPr>
        <p:spPr bwMode="auto">
          <a:xfrm>
            <a:off x="7623176" y="381000"/>
            <a:ext cx="235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>
                <a:latin typeface="ＭＳ Ｐゴシック" charset="-128"/>
              </a:rPr>
              <a:t>入力概念ノード</a:t>
            </a:r>
          </a:p>
        </p:txBody>
      </p:sp>
      <p:sp>
        <p:nvSpPr>
          <p:cNvPr id="52283" name="Rectangle 136"/>
          <p:cNvSpPr>
            <a:spLocks noChangeArrowheads="1"/>
          </p:cNvSpPr>
          <p:nvPr/>
        </p:nvSpPr>
        <p:spPr bwMode="auto">
          <a:xfrm>
            <a:off x="7620001" y="685800"/>
            <a:ext cx="304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ＭＳ Ｐゴシック" charset="-128"/>
              </a:rPr>
              <a:t>SIN (a Salient Internal Nodes)</a:t>
            </a:r>
          </a:p>
        </p:txBody>
      </p:sp>
      <p:sp>
        <p:nvSpPr>
          <p:cNvPr id="52284" name="Oval 137"/>
          <p:cNvSpPr>
            <a:spLocks noChangeArrowheads="1"/>
          </p:cNvSpPr>
          <p:nvPr/>
        </p:nvSpPr>
        <p:spPr bwMode="auto">
          <a:xfrm>
            <a:off x="7086600" y="1143000"/>
            <a:ext cx="457200" cy="152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2285" name="Oval 138"/>
          <p:cNvSpPr>
            <a:spLocks noChangeArrowheads="1"/>
          </p:cNvSpPr>
          <p:nvPr/>
        </p:nvSpPr>
        <p:spPr bwMode="auto">
          <a:xfrm>
            <a:off x="7086601" y="815976"/>
            <a:ext cx="454025" cy="174625"/>
          </a:xfrm>
          <a:prstGeom prst="ellips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2286" name="AutoShape 24"/>
          <p:cNvCxnSpPr>
            <a:cxnSpLocks noChangeShapeType="1"/>
            <a:stCxn id="52356" idx="4"/>
            <a:endCxn id="46202" idx="0"/>
          </p:cNvCxnSpPr>
          <p:nvPr/>
        </p:nvCxnSpPr>
        <p:spPr bwMode="auto">
          <a:xfrm rot="5400000">
            <a:off x="7305675" y="2647950"/>
            <a:ext cx="147638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7" name="AutoShape 24"/>
          <p:cNvCxnSpPr>
            <a:cxnSpLocks noChangeShapeType="1"/>
            <a:stCxn id="52355" idx="4"/>
            <a:endCxn id="52356" idx="0"/>
          </p:cNvCxnSpPr>
          <p:nvPr/>
        </p:nvCxnSpPr>
        <p:spPr bwMode="auto">
          <a:xfrm rot="16200000" flipH="1">
            <a:off x="7305675" y="2416175"/>
            <a:ext cx="147638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8" name="AutoShape 24"/>
          <p:cNvCxnSpPr>
            <a:cxnSpLocks noChangeShapeType="1"/>
            <a:stCxn id="52349" idx="3"/>
            <a:endCxn id="52355" idx="0"/>
          </p:cNvCxnSpPr>
          <p:nvPr/>
        </p:nvCxnSpPr>
        <p:spPr bwMode="auto">
          <a:xfrm rot="5400000">
            <a:off x="7390607" y="2088357"/>
            <a:ext cx="158750" cy="1825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89" name="AutoShape 24"/>
          <p:cNvCxnSpPr>
            <a:cxnSpLocks noChangeShapeType="1"/>
            <a:stCxn id="52349" idx="4"/>
            <a:endCxn id="46188" idx="0"/>
          </p:cNvCxnSpPr>
          <p:nvPr/>
        </p:nvCxnSpPr>
        <p:spPr bwMode="auto">
          <a:xfrm rot="5400000">
            <a:off x="7565232" y="2185195"/>
            <a:ext cx="146050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0" name="AutoShape 24"/>
          <p:cNvCxnSpPr>
            <a:cxnSpLocks noChangeShapeType="1"/>
            <a:stCxn id="52351" idx="4"/>
            <a:endCxn id="46189" idx="0"/>
          </p:cNvCxnSpPr>
          <p:nvPr/>
        </p:nvCxnSpPr>
        <p:spPr bwMode="auto">
          <a:xfrm rot="5400000">
            <a:off x="7952582" y="2583657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1" name="AutoShape 24"/>
          <p:cNvCxnSpPr>
            <a:cxnSpLocks noChangeShapeType="1"/>
            <a:stCxn id="52351" idx="4"/>
            <a:endCxn id="46198" idx="0"/>
          </p:cNvCxnSpPr>
          <p:nvPr/>
        </p:nvCxnSpPr>
        <p:spPr bwMode="auto">
          <a:xfrm rot="16200000" flipH="1">
            <a:off x="8082757" y="2583657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2" name="AutoShape 24"/>
          <p:cNvCxnSpPr>
            <a:cxnSpLocks noChangeShapeType="1"/>
            <a:stCxn id="52359" idx="4"/>
            <a:endCxn id="52351" idx="0"/>
          </p:cNvCxnSpPr>
          <p:nvPr/>
        </p:nvCxnSpPr>
        <p:spPr bwMode="auto">
          <a:xfrm rot="5400000">
            <a:off x="8082757" y="2351882"/>
            <a:ext cx="147638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3" name="AutoShape 24"/>
          <p:cNvCxnSpPr>
            <a:cxnSpLocks noChangeShapeType="1"/>
            <a:stCxn id="52359" idx="4"/>
            <a:endCxn id="46205" idx="0"/>
          </p:cNvCxnSpPr>
          <p:nvPr/>
        </p:nvCxnSpPr>
        <p:spPr bwMode="auto">
          <a:xfrm rot="16200000" flipH="1">
            <a:off x="8212138" y="2352676"/>
            <a:ext cx="147638" cy="128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4" name="AutoShape 24"/>
          <p:cNvCxnSpPr>
            <a:cxnSpLocks noChangeShapeType="1"/>
            <a:stCxn id="52350" idx="4"/>
            <a:endCxn id="52359" idx="0"/>
          </p:cNvCxnSpPr>
          <p:nvPr/>
        </p:nvCxnSpPr>
        <p:spPr bwMode="auto">
          <a:xfrm rot="5400000">
            <a:off x="8147844" y="2185194"/>
            <a:ext cx="1460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5" name="AutoShape 24"/>
          <p:cNvCxnSpPr>
            <a:cxnSpLocks noChangeShapeType="1"/>
            <a:stCxn id="46207" idx="4"/>
            <a:endCxn id="52349" idx="0"/>
          </p:cNvCxnSpPr>
          <p:nvPr/>
        </p:nvCxnSpPr>
        <p:spPr bwMode="auto">
          <a:xfrm rot="5400000">
            <a:off x="7696994" y="1832769"/>
            <a:ext cx="138112" cy="2540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6" name="AutoShape 24"/>
          <p:cNvCxnSpPr>
            <a:cxnSpLocks noChangeShapeType="1"/>
            <a:stCxn id="46207" idx="4"/>
            <a:endCxn id="52350" idx="0"/>
          </p:cNvCxnSpPr>
          <p:nvPr/>
        </p:nvCxnSpPr>
        <p:spPr bwMode="auto">
          <a:xfrm rot="16200000" flipH="1">
            <a:off x="7988301" y="1795463"/>
            <a:ext cx="138112" cy="3286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7" name="AutoShape 24"/>
          <p:cNvCxnSpPr>
            <a:cxnSpLocks noChangeShapeType="1"/>
            <a:stCxn id="52340" idx="4"/>
            <a:endCxn id="46180" idx="0"/>
          </p:cNvCxnSpPr>
          <p:nvPr/>
        </p:nvCxnSpPr>
        <p:spPr bwMode="auto">
          <a:xfrm rot="5400000">
            <a:off x="9319419" y="2256632"/>
            <a:ext cx="201613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8" name="AutoShape 24"/>
          <p:cNvCxnSpPr>
            <a:cxnSpLocks noChangeShapeType="1"/>
            <a:stCxn id="52340" idx="4"/>
            <a:endCxn id="46170" idx="0"/>
          </p:cNvCxnSpPr>
          <p:nvPr/>
        </p:nvCxnSpPr>
        <p:spPr bwMode="auto">
          <a:xfrm rot="16200000" flipH="1">
            <a:off x="9468644" y="2266156"/>
            <a:ext cx="196850" cy="1349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99" name="AutoShape 24"/>
          <p:cNvCxnSpPr>
            <a:cxnSpLocks noChangeShapeType="1"/>
            <a:stCxn id="52341" idx="4"/>
            <a:endCxn id="46171" idx="0"/>
          </p:cNvCxnSpPr>
          <p:nvPr/>
        </p:nvCxnSpPr>
        <p:spPr bwMode="auto">
          <a:xfrm rot="5400000">
            <a:off x="9913144" y="2610644"/>
            <a:ext cx="233362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0" name="AutoShape 24"/>
          <p:cNvCxnSpPr>
            <a:cxnSpLocks noChangeShapeType="1"/>
            <a:stCxn id="52341" idx="4"/>
            <a:endCxn id="46179" idx="0"/>
          </p:cNvCxnSpPr>
          <p:nvPr/>
        </p:nvCxnSpPr>
        <p:spPr bwMode="auto">
          <a:xfrm rot="16200000" flipH="1">
            <a:off x="10058401" y="2611438"/>
            <a:ext cx="233362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1" name="AutoShape 24"/>
          <p:cNvCxnSpPr>
            <a:cxnSpLocks noChangeShapeType="1"/>
            <a:stCxn id="52347" idx="4"/>
            <a:endCxn id="52341" idx="0"/>
          </p:cNvCxnSpPr>
          <p:nvPr/>
        </p:nvCxnSpPr>
        <p:spPr bwMode="auto">
          <a:xfrm rot="5400000">
            <a:off x="10059989" y="2247901"/>
            <a:ext cx="230187" cy="1444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2" name="AutoShape 24"/>
          <p:cNvCxnSpPr>
            <a:cxnSpLocks noChangeShapeType="1"/>
            <a:stCxn id="52347" idx="4"/>
            <a:endCxn id="46182" idx="0"/>
          </p:cNvCxnSpPr>
          <p:nvPr/>
        </p:nvCxnSpPr>
        <p:spPr bwMode="auto">
          <a:xfrm rot="16200000" flipH="1">
            <a:off x="10205245" y="2247107"/>
            <a:ext cx="230187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3" name="AutoShape 24"/>
          <p:cNvCxnSpPr>
            <a:cxnSpLocks noChangeShapeType="1"/>
            <a:stCxn id="46184" idx="4"/>
            <a:endCxn id="52340" idx="0"/>
          </p:cNvCxnSpPr>
          <p:nvPr/>
        </p:nvCxnSpPr>
        <p:spPr bwMode="auto">
          <a:xfrm rot="5400000">
            <a:off x="9567069" y="1796257"/>
            <a:ext cx="239713" cy="374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4" name="AutoShape 24"/>
          <p:cNvCxnSpPr>
            <a:cxnSpLocks noChangeShapeType="1"/>
            <a:stCxn id="46184" idx="4"/>
            <a:endCxn id="52347" idx="0"/>
          </p:cNvCxnSpPr>
          <p:nvPr/>
        </p:nvCxnSpPr>
        <p:spPr bwMode="auto">
          <a:xfrm rot="16200000" flipH="1">
            <a:off x="9956801" y="1781176"/>
            <a:ext cx="207963" cy="3730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2305" name="グループ化 296"/>
          <p:cNvGrpSpPr>
            <a:grpSpLocks/>
          </p:cNvGrpSpPr>
          <p:nvPr/>
        </p:nvGrpSpPr>
        <p:grpSpPr bwMode="auto">
          <a:xfrm>
            <a:off x="2286000" y="5181600"/>
            <a:ext cx="1295400" cy="1200150"/>
            <a:chOff x="1981200" y="3981450"/>
            <a:chExt cx="1295400" cy="1200150"/>
          </a:xfrm>
        </p:grpSpPr>
        <p:grpSp>
          <p:nvGrpSpPr>
            <p:cNvPr id="52322" name="グループ化 195"/>
            <p:cNvGrpSpPr>
              <a:grpSpLocks/>
            </p:cNvGrpSpPr>
            <p:nvPr/>
          </p:nvGrpSpPr>
          <p:grpSpPr bwMode="auto">
            <a:xfrm>
              <a:off x="1981200" y="3981450"/>
              <a:ext cx="1295400" cy="1200150"/>
              <a:chOff x="7772400" y="1752600"/>
              <a:chExt cx="1295400" cy="1199586"/>
            </a:xfrm>
          </p:grpSpPr>
          <p:sp>
            <p:nvSpPr>
              <p:cNvPr id="52331" name="Oval 118"/>
              <p:cNvSpPr>
                <a:spLocks noChangeArrowheads="1"/>
              </p:cNvSpPr>
              <p:nvPr/>
            </p:nvSpPr>
            <p:spPr bwMode="auto">
              <a:xfrm>
                <a:off x="7931026" y="2125181"/>
                <a:ext cx="242877" cy="131802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2332" name="Oval 119"/>
              <p:cNvSpPr>
                <a:spLocks noChangeArrowheads="1"/>
              </p:cNvSpPr>
              <p:nvPr/>
            </p:nvSpPr>
            <p:spPr bwMode="auto">
              <a:xfrm>
                <a:off x="8533672" y="2456452"/>
                <a:ext cx="242877" cy="132786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282" name="Oval 120"/>
              <p:cNvSpPr>
                <a:spLocks noChangeArrowheads="1"/>
              </p:cNvSpPr>
              <p:nvPr/>
            </p:nvSpPr>
            <p:spPr bwMode="auto">
              <a:xfrm>
                <a:off x="8066088" y="2453945"/>
                <a:ext cx="242887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/>
              </a:p>
            </p:txBody>
          </p:sp>
          <p:sp>
            <p:nvSpPr>
              <p:cNvPr id="283" name="Oval 121"/>
              <p:cNvSpPr>
                <a:spLocks noChangeArrowheads="1"/>
              </p:cNvSpPr>
              <p:nvPr/>
            </p:nvSpPr>
            <p:spPr bwMode="auto">
              <a:xfrm>
                <a:off x="8386763" y="2822072"/>
                <a:ext cx="242887" cy="1301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/>
              </a:p>
            </p:txBody>
          </p:sp>
          <p:sp>
            <p:nvSpPr>
              <p:cNvPr id="284" name="Oval 129"/>
              <p:cNvSpPr>
                <a:spLocks noChangeArrowheads="1"/>
              </p:cNvSpPr>
              <p:nvPr/>
            </p:nvSpPr>
            <p:spPr bwMode="auto">
              <a:xfrm>
                <a:off x="8678863" y="2822072"/>
                <a:ext cx="242887" cy="13011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/>
              </a:p>
            </p:txBody>
          </p:sp>
          <p:sp>
            <p:nvSpPr>
              <p:cNvPr id="285" name="Oval 130"/>
              <p:cNvSpPr>
                <a:spLocks noChangeArrowheads="1"/>
              </p:cNvSpPr>
              <p:nvPr/>
            </p:nvSpPr>
            <p:spPr bwMode="auto">
              <a:xfrm>
                <a:off x="7772400" y="2458706"/>
                <a:ext cx="242888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/>
              </a:p>
            </p:txBody>
          </p:sp>
          <p:sp>
            <p:nvSpPr>
              <p:cNvPr id="286" name="Oval 132"/>
              <p:cNvSpPr>
                <a:spLocks noChangeArrowheads="1"/>
              </p:cNvSpPr>
              <p:nvPr/>
            </p:nvSpPr>
            <p:spPr bwMode="auto">
              <a:xfrm>
                <a:off x="8823325" y="2457119"/>
                <a:ext cx="244475" cy="131701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/>
              </a:p>
            </p:txBody>
          </p:sp>
          <p:sp>
            <p:nvSpPr>
              <p:cNvPr id="52338" name="Oval 133"/>
              <p:cNvSpPr>
                <a:spLocks noChangeArrowheads="1"/>
              </p:cNvSpPr>
              <p:nvPr/>
            </p:nvSpPr>
            <p:spPr bwMode="auto">
              <a:xfrm>
                <a:off x="8678794" y="2094488"/>
                <a:ext cx="242877" cy="131802"/>
              </a:xfrm>
              <a:prstGeom prst="ellipse">
                <a:avLst/>
              </a:prstGeom>
              <a:solidFill>
                <a:schemeClr val="bg1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288" name="Oval 120"/>
              <p:cNvSpPr>
                <a:spLocks noChangeArrowheads="1"/>
              </p:cNvSpPr>
              <p:nvPr/>
            </p:nvSpPr>
            <p:spPr bwMode="auto">
              <a:xfrm>
                <a:off x="8305800" y="1752600"/>
                <a:ext cx="242888" cy="1332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952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ja-JP" altLang="en-US"/>
              </a:p>
            </p:txBody>
          </p:sp>
        </p:grpSp>
        <p:cxnSp>
          <p:nvCxnSpPr>
            <p:cNvPr id="52323" name="AutoShape 24"/>
            <p:cNvCxnSpPr>
              <a:cxnSpLocks noChangeShapeType="1"/>
            </p:cNvCxnSpPr>
            <p:nvPr/>
          </p:nvCxnSpPr>
          <p:spPr bwMode="auto">
            <a:xfrm rot="5400000">
              <a:off x="2080695" y="4508014"/>
              <a:ext cx="202515" cy="1586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4" name="AutoShape 24"/>
            <p:cNvCxnSpPr>
              <a:cxnSpLocks noChangeShapeType="1"/>
            </p:cNvCxnSpPr>
            <p:nvPr/>
          </p:nvCxnSpPr>
          <p:spPr bwMode="auto">
            <a:xfrm rot="16200000" flipH="1">
              <a:off x="2229788" y="4517547"/>
              <a:ext cx="197595" cy="13464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5" name="AutoShape 24"/>
            <p:cNvCxnSpPr>
              <a:cxnSpLocks noChangeShapeType="1"/>
            </p:cNvCxnSpPr>
            <p:nvPr/>
          </p:nvCxnSpPr>
          <p:spPr bwMode="auto">
            <a:xfrm rot="5400000">
              <a:off x="2674476" y="4861284"/>
              <a:ext cx="232238" cy="14663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6" name="AutoShape 24"/>
            <p:cNvCxnSpPr>
              <a:cxnSpLocks noChangeShapeType="1"/>
            </p:cNvCxnSpPr>
            <p:nvPr/>
          </p:nvCxnSpPr>
          <p:spPr bwMode="auto">
            <a:xfrm rot="16200000" flipH="1">
              <a:off x="2820353" y="4862039"/>
              <a:ext cx="232238" cy="1451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7" name="AutoShape 24"/>
            <p:cNvCxnSpPr>
              <a:cxnSpLocks noChangeShapeType="1"/>
            </p:cNvCxnSpPr>
            <p:nvPr/>
          </p:nvCxnSpPr>
          <p:spPr bwMode="auto">
            <a:xfrm rot="5400000">
              <a:off x="2821337" y="4497937"/>
              <a:ext cx="230270" cy="14512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8" name="AutoShape 24"/>
            <p:cNvCxnSpPr>
              <a:cxnSpLocks noChangeShapeType="1"/>
            </p:cNvCxnSpPr>
            <p:nvPr/>
          </p:nvCxnSpPr>
          <p:spPr bwMode="auto">
            <a:xfrm rot="16200000" flipH="1">
              <a:off x="2966710" y="4497685"/>
              <a:ext cx="230270" cy="145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29" name="AutoShape 24"/>
            <p:cNvCxnSpPr>
              <a:cxnSpLocks noChangeShapeType="1"/>
            </p:cNvCxnSpPr>
            <p:nvPr/>
          </p:nvCxnSpPr>
          <p:spPr bwMode="auto">
            <a:xfrm rot="5400000">
              <a:off x="2328698" y="4046865"/>
              <a:ext cx="239908" cy="37477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330" name="AutoShape 24"/>
            <p:cNvCxnSpPr>
              <a:cxnSpLocks noChangeShapeType="1"/>
            </p:cNvCxnSpPr>
            <p:nvPr/>
          </p:nvCxnSpPr>
          <p:spPr bwMode="auto">
            <a:xfrm rot="16200000" flipH="1">
              <a:off x="2717936" y="4032401"/>
              <a:ext cx="209201" cy="37299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2306" name="グループ化 195"/>
          <p:cNvGrpSpPr>
            <a:grpSpLocks/>
          </p:cNvGrpSpPr>
          <p:nvPr/>
        </p:nvGrpSpPr>
        <p:grpSpPr bwMode="auto">
          <a:xfrm>
            <a:off x="8150226" y="5332414"/>
            <a:ext cx="1427163" cy="839787"/>
            <a:chOff x="7633177" y="1752600"/>
            <a:chExt cx="1426701" cy="838605"/>
          </a:xfrm>
        </p:grpSpPr>
        <p:sp>
          <p:nvSpPr>
            <p:cNvPr id="52314" name="Oval 118"/>
            <p:cNvSpPr>
              <a:spLocks noChangeArrowheads="1"/>
            </p:cNvSpPr>
            <p:nvPr/>
          </p:nvSpPr>
          <p:spPr bwMode="auto">
            <a:xfrm>
              <a:off x="7791803" y="2125181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310" name="Oval 120"/>
            <p:cNvSpPr>
              <a:spLocks noChangeArrowheads="1"/>
            </p:cNvSpPr>
            <p:nvPr/>
          </p:nvSpPr>
          <p:spPr bwMode="auto">
            <a:xfrm>
              <a:off x="7926770" y="2454872"/>
              <a:ext cx="242808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311" name="Oval 121"/>
            <p:cNvSpPr>
              <a:spLocks noChangeArrowheads="1"/>
            </p:cNvSpPr>
            <p:nvPr/>
          </p:nvSpPr>
          <p:spPr bwMode="auto">
            <a:xfrm>
              <a:off x="8306059" y="2459628"/>
              <a:ext cx="241222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312" name="Oval 129"/>
            <p:cNvSpPr>
              <a:spLocks noChangeArrowheads="1"/>
            </p:cNvSpPr>
            <p:nvPr/>
          </p:nvSpPr>
          <p:spPr bwMode="auto">
            <a:xfrm>
              <a:off x="8306059" y="2133064"/>
              <a:ext cx="242809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313" name="Oval 130"/>
            <p:cNvSpPr>
              <a:spLocks noChangeArrowheads="1"/>
            </p:cNvSpPr>
            <p:nvPr/>
          </p:nvSpPr>
          <p:spPr bwMode="auto">
            <a:xfrm>
              <a:off x="7633177" y="2459628"/>
              <a:ext cx="242809" cy="13157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314" name="Oval 132"/>
            <p:cNvSpPr>
              <a:spLocks noChangeArrowheads="1"/>
            </p:cNvSpPr>
            <p:nvPr/>
          </p:nvSpPr>
          <p:spPr bwMode="auto">
            <a:xfrm>
              <a:off x="8815482" y="2456458"/>
              <a:ext cx="244396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  <p:sp>
          <p:nvSpPr>
            <p:cNvPr id="52320" name="Oval 133"/>
            <p:cNvSpPr>
              <a:spLocks noChangeArrowheads="1"/>
            </p:cNvSpPr>
            <p:nvPr/>
          </p:nvSpPr>
          <p:spPr bwMode="auto">
            <a:xfrm>
              <a:off x="8807352" y="2128592"/>
              <a:ext cx="242877" cy="131802"/>
            </a:xfrm>
            <a:prstGeom prst="ellipse">
              <a:avLst/>
            </a:prstGeom>
            <a:solidFill>
              <a:schemeClr val="bg1"/>
            </a:solidFill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316" name="Oval 120"/>
            <p:cNvSpPr>
              <a:spLocks noChangeArrowheads="1"/>
            </p:cNvSpPr>
            <p:nvPr/>
          </p:nvSpPr>
          <p:spPr bwMode="auto">
            <a:xfrm>
              <a:off x="8306059" y="1752600"/>
              <a:ext cx="242809" cy="13316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ja-JP" altLang="en-US"/>
            </a:p>
          </p:txBody>
        </p:sp>
      </p:grpSp>
      <p:cxnSp>
        <p:nvCxnSpPr>
          <p:cNvPr id="52307" name="AutoShape 24"/>
          <p:cNvCxnSpPr>
            <a:cxnSpLocks noChangeShapeType="1"/>
            <a:endCxn id="313" idx="0"/>
          </p:cNvCxnSpPr>
          <p:nvPr/>
        </p:nvCxnSpPr>
        <p:spPr bwMode="auto">
          <a:xfrm rot="5400000">
            <a:off x="8250238" y="5859463"/>
            <a:ext cx="203200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8" name="AutoShape 24"/>
          <p:cNvCxnSpPr>
            <a:cxnSpLocks noChangeShapeType="1"/>
            <a:stCxn id="52314" idx="4"/>
            <a:endCxn id="310" idx="0"/>
          </p:cNvCxnSpPr>
          <p:nvPr/>
        </p:nvCxnSpPr>
        <p:spPr bwMode="auto">
          <a:xfrm rot="16200000" flipH="1">
            <a:off x="8399464" y="5868989"/>
            <a:ext cx="198437" cy="134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09" name="AutoShape 24"/>
          <p:cNvCxnSpPr>
            <a:cxnSpLocks noChangeShapeType="1"/>
          </p:cNvCxnSpPr>
          <p:nvPr/>
        </p:nvCxnSpPr>
        <p:spPr bwMode="auto">
          <a:xfrm rot="5400000">
            <a:off x="8846344" y="5942807"/>
            <a:ext cx="195263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0" name="AutoShape 24"/>
          <p:cNvCxnSpPr>
            <a:cxnSpLocks noChangeShapeType="1"/>
          </p:cNvCxnSpPr>
          <p:nvPr/>
        </p:nvCxnSpPr>
        <p:spPr bwMode="auto">
          <a:xfrm rot="5400000">
            <a:off x="8820944" y="5590381"/>
            <a:ext cx="2476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1" name="AutoShape 24"/>
          <p:cNvCxnSpPr>
            <a:cxnSpLocks noChangeShapeType="1"/>
            <a:stCxn id="52320" idx="4"/>
            <a:endCxn id="314" idx="0"/>
          </p:cNvCxnSpPr>
          <p:nvPr/>
        </p:nvCxnSpPr>
        <p:spPr bwMode="auto">
          <a:xfrm rot="16200000" flipH="1">
            <a:off x="9352757" y="5934870"/>
            <a:ext cx="195263" cy="95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2" name="AutoShape 24"/>
          <p:cNvCxnSpPr>
            <a:cxnSpLocks noChangeShapeType="1"/>
            <a:stCxn id="316" idx="3"/>
            <a:endCxn id="52314" idx="0"/>
          </p:cNvCxnSpPr>
          <p:nvPr/>
        </p:nvCxnSpPr>
        <p:spPr bwMode="auto">
          <a:xfrm rot="5400000">
            <a:off x="8515351" y="5362576"/>
            <a:ext cx="258762" cy="4270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313" name="AutoShape 24"/>
          <p:cNvCxnSpPr>
            <a:cxnSpLocks noChangeShapeType="1"/>
            <a:stCxn id="316" idx="5"/>
            <a:endCxn id="52320" idx="0"/>
          </p:cNvCxnSpPr>
          <p:nvPr/>
        </p:nvCxnSpPr>
        <p:spPr bwMode="auto">
          <a:xfrm rot="16200000" flipH="1">
            <a:off x="9107489" y="5370514"/>
            <a:ext cx="261937" cy="414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 flipH="1">
            <a:off x="1676401" y="2286001"/>
            <a:ext cx="1630363" cy="14779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ja-JP" altLang="en-US" dirty="0"/>
              <a:t>ゲージ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レーダー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ゲージ情報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レーダー情報</a:t>
            </a:r>
            <a:endParaRPr lang="en-US" altLang="ja-JP" dirty="0"/>
          </a:p>
          <a:p>
            <a:pPr>
              <a:defRPr/>
            </a:pPr>
            <a:r>
              <a:rPr lang="ja-JP" altLang="en-US" dirty="0"/>
              <a:t>モデル情報</a:t>
            </a:r>
          </a:p>
        </p:txBody>
      </p:sp>
      <p:sp>
        <p:nvSpPr>
          <p:cNvPr id="53251" name="テキスト ボックス 4"/>
          <p:cNvSpPr txBox="1">
            <a:spLocks noChangeArrowheads="1"/>
          </p:cNvSpPr>
          <p:nvPr/>
        </p:nvSpPr>
        <p:spPr bwMode="auto">
          <a:xfrm>
            <a:off x="1828801" y="3810000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b="1"/>
              <a:t>入力語集合</a:t>
            </a:r>
          </a:p>
        </p:txBody>
      </p:sp>
      <p:sp>
        <p:nvSpPr>
          <p:cNvPr id="53252" name="テキスト ボックス 25"/>
          <p:cNvSpPr txBox="1">
            <a:spLocks noChangeArrowheads="1"/>
          </p:cNvSpPr>
          <p:nvPr/>
        </p:nvSpPr>
        <p:spPr bwMode="auto">
          <a:xfrm>
            <a:off x="4191000" y="3733801"/>
            <a:ext cx="1811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/>
              <a:t>完全照合概念の</a:t>
            </a:r>
            <a:endParaRPr lang="en-US" altLang="ja-JP" b="1"/>
          </a:p>
          <a:p>
            <a:pPr algn="ctr" eaLnBrk="1" hangingPunct="1"/>
            <a:r>
              <a:rPr lang="ja-JP" altLang="en-US" b="1"/>
              <a:t>概念階層</a:t>
            </a:r>
          </a:p>
        </p:txBody>
      </p:sp>
      <p:sp>
        <p:nvSpPr>
          <p:cNvPr id="53253" name="テキスト ボックス 64"/>
          <p:cNvSpPr txBox="1">
            <a:spLocks noChangeArrowheads="1"/>
          </p:cNvSpPr>
          <p:nvPr/>
        </p:nvSpPr>
        <p:spPr bwMode="auto">
          <a:xfrm>
            <a:off x="6732588" y="5334001"/>
            <a:ext cx="27416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/>
              <a:t>部分照合概念の概念階層</a:t>
            </a:r>
            <a:endParaRPr lang="en-US" altLang="ja-JP" b="1"/>
          </a:p>
          <a:p>
            <a:pPr algn="ctr" eaLnBrk="1" hangingPunct="1"/>
            <a:r>
              <a:rPr lang="ja-JP" altLang="en-US" b="1"/>
              <a:t>（語尾による階層化）</a:t>
            </a:r>
          </a:p>
        </p:txBody>
      </p:sp>
      <p:sp>
        <p:nvSpPr>
          <p:cNvPr id="53254" name="テキスト ボックス 65"/>
          <p:cNvSpPr txBox="1">
            <a:spLocks noChangeArrowheads="1"/>
          </p:cNvSpPr>
          <p:nvPr/>
        </p:nvSpPr>
        <p:spPr bwMode="auto">
          <a:xfrm>
            <a:off x="3352801" y="1752600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名詞的概念</a:t>
            </a:r>
          </a:p>
        </p:txBody>
      </p:sp>
      <p:sp>
        <p:nvSpPr>
          <p:cNvPr id="53255" name="テキスト ボックス 66"/>
          <p:cNvSpPr txBox="1">
            <a:spLocks noChangeArrowheads="1"/>
          </p:cNvSpPr>
          <p:nvPr/>
        </p:nvSpPr>
        <p:spPr bwMode="auto">
          <a:xfrm>
            <a:off x="4114800" y="21336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具体物</a:t>
            </a:r>
          </a:p>
        </p:txBody>
      </p:sp>
      <p:sp>
        <p:nvSpPr>
          <p:cNvPr id="53256" name="テキスト ボックス 67"/>
          <p:cNvSpPr txBox="1">
            <a:spLocks noChangeArrowheads="1"/>
          </p:cNvSpPr>
          <p:nvPr/>
        </p:nvSpPr>
        <p:spPr bwMode="auto">
          <a:xfrm>
            <a:off x="4648201" y="2514600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</a:t>
            </a:r>
          </a:p>
        </p:txBody>
      </p:sp>
      <p:sp>
        <p:nvSpPr>
          <p:cNvPr id="53257" name="テキスト ボックス 68"/>
          <p:cNvSpPr txBox="1">
            <a:spLocks noChangeArrowheads="1"/>
          </p:cNvSpPr>
          <p:nvPr/>
        </p:nvSpPr>
        <p:spPr bwMode="auto">
          <a:xfrm>
            <a:off x="5110164" y="2895600"/>
            <a:ext cx="833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</a:t>
            </a:r>
          </a:p>
        </p:txBody>
      </p:sp>
      <p:sp>
        <p:nvSpPr>
          <p:cNvPr id="53258" name="テキスト ボックス 69"/>
          <p:cNvSpPr txBox="1">
            <a:spLocks noChangeArrowheads="1"/>
          </p:cNvSpPr>
          <p:nvPr/>
        </p:nvSpPr>
        <p:spPr bwMode="auto">
          <a:xfrm>
            <a:off x="5133976" y="3276600"/>
            <a:ext cx="103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</a:t>
            </a:r>
          </a:p>
        </p:txBody>
      </p:sp>
      <p:cxnSp>
        <p:nvCxnSpPr>
          <p:cNvPr id="72" name="図形 71"/>
          <p:cNvCxnSpPr>
            <a:stCxn id="53254" idx="2"/>
            <a:endCxn id="53255" idx="1"/>
          </p:cNvCxnSpPr>
          <p:nvPr/>
        </p:nvCxnSpPr>
        <p:spPr>
          <a:xfrm rot="16200000" flipH="1">
            <a:off x="3971132" y="2174082"/>
            <a:ext cx="195262" cy="9207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図形 72"/>
          <p:cNvCxnSpPr>
            <a:stCxn id="53255" idx="2"/>
            <a:endCxn id="53256" idx="1"/>
          </p:cNvCxnSpPr>
          <p:nvPr/>
        </p:nvCxnSpPr>
        <p:spPr>
          <a:xfrm rot="16200000" flipH="1">
            <a:off x="4502944" y="2553494"/>
            <a:ext cx="195262" cy="952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図形 75"/>
          <p:cNvCxnSpPr>
            <a:stCxn id="53256" idx="2"/>
            <a:endCxn id="53257" idx="1"/>
          </p:cNvCxnSpPr>
          <p:nvPr/>
        </p:nvCxnSpPr>
        <p:spPr>
          <a:xfrm rot="16200000" flipH="1">
            <a:off x="4943476" y="2913063"/>
            <a:ext cx="195262" cy="1381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図形 78"/>
          <p:cNvCxnSpPr>
            <a:stCxn id="53256" idx="2"/>
            <a:endCxn id="53258" idx="1"/>
          </p:cNvCxnSpPr>
          <p:nvPr/>
        </p:nvCxnSpPr>
        <p:spPr>
          <a:xfrm rot="16200000" flipH="1">
            <a:off x="4764882" y="3091657"/>
            <a:ext cx="576262" cy="1619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63" name="テキスト ボックス 80"/>
          <p:cNvSpPr txBox="1">
            <a:spLocks noChangeArrowheads="1"/>
          </p:cNvSpPr>
          <p:nvPr/>
        </p:nvSpPr>
        <p:spPr bwMode="auto">
          <a:xfrm>
            <a:off x="5532438" y="1458914"/>
            <a:ext cx="1338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名詞的概念</a:t>
            </a:r>
          </a:p>
        </p:txBody>
      </p:sp>
      <p:sp>
        <p:nvSpPr>
          <p:cNvPr id="53264" name="テキスト ボックス 81"/>
          <p:cNvSpPr txBox="1">
            <a:spLocks noChangeArrowheads="1"/>
          </p:cNvSpPr>
          <p:nvPr/>
        </p:nvSpPr>
        <p:spPr bwMode="auto">
          <a:xfrm>
            <a:off x="6940550" y="21336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具体物</a:t>
            </a:r>
          </a:p>
        </p:txBody>
      </p:sp>
      <p:sp>
        <p:nvSpPr>
          <p:cNvPr id="53265" name="テキスト ボックス 82"/>
          <p:cNvSpPr txBox="1">
            <a:spLocks noChangeArrowheads="1"/>
          </p:cNvSpPr>
          <p:nvPr/>
        </p:nvSpPr>
        <p:spPr bwMode="auto">
          <a:xfrm>
            <a:off x="7477126" y="2449514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</a:t>
            </a:r>
          </a:p>
        </p:txBody>
      </p:sp>
      <p:sp>
        <p:nvSpPr>
          <p:cNvPr id="53266" name="テキスト ボックス 83"/>
          <p:cNvSpPr txBox="1">
            <a:spLocks noChangeArrowheads="1"/>
          </p:cNvSpPr>
          <p:nvPr/>
        </p:nvSpPr>
        <p:spPr bwMode="auto">
          <a:xfrm>
            <a:off x="7924800" y="2743200"/>
            <a:ext cx="833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</a:t>
            </a:r>
          </a:p>
        </p:txBody>
      </p:sp>
      <p:sp>
        <p:nvSpPr>
          <p:cNvPr id="53267" name="テキスト ボックス 84"/>
          <p:cNvSpPr txBox="1">
            <a:spLocks noChangeArrowheads="1"/>
          </p:cNvSpPr>
          <p:nvPr/>
        </p:nvSpPr>
        <p:spPr bwMode="auto">
          <a:xfrm>
            <a:off x="7923214" y="3048000"/>
            <a:ext cx="103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</a:t>
            </a:r>
          </a:p>
        </p:txBody>
      </p:sp>
      <p:cxnSp>
        <p:nvCxnSpPr>
          <p:cNvPr id="86" name="図形 85"/>
          <p:cNvCxnSpPr>
            <a:stCxn id="53272" idx="2"/>
            <a:endCxn id="53264" idx="1"/>
          </p:cNvCxnSpPr>
          <p:nvPr/>
        </p:nvCxnSpPr>
        <p:spPr>
          <a:xfrm rot="16200000" flipH="1">
            <a:off x="6832600" y="2209800"/>
            <a:ext cx="107950" cy="1079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図形 86"/>
          <p:cNvCxnSpPr>
            <a:stCxn id="53264" idx="2"/>
            <a:endCxn id="53265" idx="1"/>
          </p:cNvCxnSpPr>
          <p:nvPr/>
        </p:nvCxnSpPr>
        <p:spPr>
          <a:xfrm rot="16200000" flipH="1">
            <a:off x="7362826" y="2520951"/>
            <a:ext cx="131762" cy="96837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図形 87"/>
          <p:cNvCxnSpPr>
            <a:stCxn id="53265" idx="2"/>
            <a:endCxn id="53266" idx="1"/>
          </p:cNvCxnSpPr>
          <p:nvPr/>
        </p:nvCxnSpPr>
        <p:spPr>
          <a:xfrm rot="16200000" flipH="1">
            <a:off x="7808119" y="2810669"/>
            <a:ext cx="107950" cy="1254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図形 88"/>
          <p:cNvCxnSpPr>
            <a:stCxn id="53265" idx="2"/>
            <a:endCxn id="53267" idx="1"/>
          </p:cNvCxnSpPr>
          <p:nvPr/>
        </p:nvCxnSpPr>
        <p:spPr>
          <a:xfrm rot="16200000" flipH="1">
            <a:off x="7654926" y="2963863"/>
            <a:ext cx="412750" cy="1238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72" name="テキスト ボックス 89"/>
          <p:cNvSpPr txBox="1">
            <a:spLocks noChangeArrowheads="1"/>
          </p:cNvSpPr>
          <p:nvPr/>
        </p:nvSpPr>
        <p:spPr bwMode="auto">
          <a:xfrm>
            <a:off x="6530976" y="1839914"/>
            <a:ext cx="601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もの</a:t>
            </a:r>
          </a:p>
        </p:txBody>
      </p:sp>
      <p:cxnSp>
        <p:nvCxnSpPr>
          <p:cNvPr id="91" name="図形 90"/>
          <p:cNvCxnSpPr>
            <a:stCxn id="53263" idx="2"/>
            <a:endCxn id="53272" idx="1"/>
          </p:cNvCxnSpPr>
          <p:nvPr/>
        </p:nvCxnSpPr>
        <p:spPr>
          <a:xfrm rot="16200000" flipH="1">
            <a:off x="6268244" y="1762919"/>
            <a:ext cx="196850" cy="3286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74" name="テキスト ボックス 92"/>
          <p:cNvSpPr txBox="1">
            <a:spLocks noChangeArrowheads="1"/>
          </p:cNvSpPr>
          <p:nvPr/>
        </p:nvSpPr>
        <p:spPr bwMode="auto">
          <a:xfrm>
            <a:off x="7016750" y="32004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抽象物</a:t>
            </a:r>
          </a:p>
        </p:txBody>
      </p:sp>
      <p:sp>
        <p:nvSpPr>
          <p:cNvPr id="53275" name="テキスト ボックス 94"/>
          <p:cNvSpPr txBox="1">
            <a:spLocks noChangeArrowheads="1"/>
          </p:cNvSpPr>
          <p:nvPr/>
        </p:nvSpPr>
        <p:spPr bwMode="auto">
          <a:xfrm>
            <a:off x="8020050" y="38973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ゲージ情報</a:t>
            </a:r>
          </a:p>
        </p:txBody>
      </p:sp>
      <p:sp>
        <p:nvSpPr>
          <p:cNvPr id="53276" name="テキスト ボックス 95"/>
          <p:cNvSpPr txBox="1">
            <a:spLocks noChangeArrowheads="1"/>
          </p:cNvSpPr>
          <p:nvPr/>
        </p:nvSpPr>
        <p:spPr bwMode="auto">
          <a:xfrm>
            <a:off x="8026400" y="4278314"/>
            <a:ext cx="149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レーダー情報</a:t>
            </a:r>
          </a:p>
        </p:txBody>
      </p:sp>
      <p:cxnSp>
        <p:nvCxnSpPr>
          <p:cNvPr id="97" name="図形 96"/>
          <p:cNvCxnSpPr>
            <a:stCxn id="53274" idx="2"/>
            <a:endCxn id="53287" idx="1"/>
          </p:cNvCxnSpPr>
          <p:nvPr/>
        </p:nvCxnSpPr>
        <p:spPr>
          <a:xfrm rot="16200000" flipH="1">
            <a:off x="7396163" y="3630613"/>
            <a:ext cx="207962" cy="87312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図形 97"/>
          <p:cNvCxnSpPr>
            <a:stCxn id="53287" idx="2"/>
            <a:endCxn id="53275" idx="1"/>
          </p:cNvCxnSpPr>
          <p:nvPr/>
        </p:nvCxnSpPr>
        <p:spPr>
          <a:xfrm rot="16200000" flipH="1">
            <a:off x="7883525" y="3946525"/>
            <a:ext cx="120650" cy="1524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図形 98"/>
          <p:cNvCxnSpPr>
            <a:stCxn id="53287" idx="2"/>
            <a:endCxn id="53276" idx="1"/>
          </p:cNvCxnSpPr>
          <p:nvPr/>
        </p:nvCxnSpPr>
        <p:spPr>
          <a:xfrm rot="16200000" flipH="1">
            <a:off x="7696200" y="4133850"/>
            <a:ext cx="501650" cy="1587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80" name="テキスト ボックス 99"/>
          <p:cNvSpPr txBox="1">
            <a:spLocks noChangeArrowheads="1"/>
          </p:cNvSpPr>
          <p:nvPr/>
        </p:nvSpPr>
        <p:spPr bwMode="auto">
          <a:xfrm>
            <a:off x="8016876" y="4659314"/>
            <a:ext cx="1304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モデル情報</a:t>
            </a:r>
          </a:p>
        </p:txBody>
      </p:sp>
      <p:cxnSp>
        <p:nvCxnSpPr>
          <p:cNvPr id="101" name="図形 100"/>
          <p:cNvCxnSpPr>
            <a:stCxn id="53287" idx="2"/>
            <a:endCxn id="53280" idx="1"/>
          </p:cNvCxnSpPr>
          <p:nvPr/>
        </p:nvCxnSpPr>
        <p:spPr>
          <a:xfrm rot="16200000" flipH="1">
            <a:off x="7500938" y="4329113"/>
            <a:ext cx="882650" cy="1492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図形 101"/>
          <p:cNvCxnSpPr>
            <a:stCxn id="53272" idx="2"/>
            <a:endCxn id="53274" idx="1"/>
          </p:cNvCxnSpPr>
          <p:nvPr/>
        </p:nvCxnSpPr>
        <p:spPr>
          <a:xfrm rot="16200000" flipH="1">
            <a:off x="6337300" y="2705100"/>
            <a:ext cx="1174750" cy="1841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83" name="テキスト ボックス 123"/>
          <p:cNvSpPr txBox="1">
            <a:spLocks noChangeArrowheads="1"/>
          </p:cNvSpPr>
          <p:nvPr/>
        </p:nvSpPr>
        <p:spPr bwMode="auto">
          <a:xfrm>
            <a:off x="10134601" y="5334001"/>
            <a:ext cx="2741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/>
              <a:t>部分照合概念の概念階層</a:t>
            </a:r>
            <a:endParaRPr lang="en-US" altLang="ja-JP" b="1"/>
          </a:p>
          <a:p>
            <a:pPr algn="ctr" eaLnBrk="1" hangingPunct="1"/>
            <a:r>
              <a:rPr lang="ja-JP" altLang="en-US" b="1"/>
              <a:t>（語頭による階層化）</a:t>
            </a:r>
          </a:p>
        </p:txBody>
      </p:sp>
      <p:sp>
        <p:nvSpPr>
          <p:cNvPr id="45092" name="AutoShape 146"/>
          <p:cNvSpPr>
            <a:spLocks noChangeArrowheads="1"/>
          </p:cNvSpPr>
          <p:nvPr/>
        </p:nvSpPr>
        <p:spPr bwMode="auto">
          <a:xfrm>
            <a:off x="3581400" y="28956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5093" name="AutoShape 146"/>
          <p:cNvSpPr>
            <a:spLocks noChangeArrowheads="1"/>
          </p:cNvSpPr>
          <p:nvPr/>
        </p:nvSpPr>
        <p:spPr bwMode="auto">
          <a:xfrm>
            <a:off x="6096000" y="28956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5094" name="AutoShape 146"/>
          <p:cNvSpPr>
            <a:spLocks noChangeArrowheads="1"/>
          </p:cNvSpPr>
          <p:nvPr/>
        </p:nvSpPr>
        <p:spPr bwMode="auto">
          <a:xfrm>
            <a:off x="9067800" y="28956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3287" name="テキスト ボックス 93"/>
          <p:cNvSpPr txBox="1">
            <a:spLocks noChangeArrowheads="1"/>
          </p:cNvSpPr>
          <p:nvPr/>
        </p:nvSpPr>
        <p:spPr bwMode="auto">
          <a:xfrm>
            <a:off x="7543801" y="3592514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情報</a:t>
            </a:r>
          </a:p>
        </p:txBody>
      </p:sp>
      <p:sp>
        <p:nvSpPr>
          <p:cNvPr id="53288" name="テキスト ボックス 174"/>
          <p:cNvSpPr txBox="1">
            <a:spLocks noChangeArrowheads="1"/>
          </p:cNvSpPr>
          <p:nvPr/>
        </p:nvSpPr>
        <p:spPr bwMode="auto">
          <a:xfrm>
            <a:off x="8458201" y="1458914"/>
            <a:ext cx="133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名詞的概念</a:t>
            </a:r>
          </a:p>
        </p:txBody>
      </p:sp>
      <p:sp>
        <p:nvSpPr>
          <p:cNvPr id="53289" name="テキスト ボックス 175"/>
          <p:cNvSpPr txBox="1">
            <a:spLocks noChangeArrowheads="1"/>
          </p:cNvSpPr>
          <p:nvPr/>
        </p:nvSpPr>
        <p:spPr bwMode="auto">
          <a:xfrm>
            <a:off x="9866314" y="2133600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具体物</a:t>
            </a:r>
          </a:p>
        </p:txBody>
      </p:sp>
      <p:sp>
        <p:nvSpPr>
          <p:cNvPr id="53290" name="テキスト ボックス 176"/>
          <p:cNvSpPr txBox="1">
            <a:spLocks noChangeArrowheads="1"/>
          </p:cNvSpPr>
          <p:nvPr/>
        </p:nvSpPr>
        <p:spPr bwMode="auto">
          <a:xfrm>
            <a:off x="10402888" y="2449514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</a:t>
            </a:r>
          </a:p>
        </p:txBody>
      </p:sp>
      <p:sp>
        <p:nvSpPr>
          <p:cNvPr id="53291" name="テキスト ボックス 177"/>
          <p:cNvSpPr txBox="1">
            <a:spLocks noChangeArrowheads="1"/>
          </p:cNvSpPr>
          <p:nvPr/>
        </p:nvSpPr>
        <p:spPr bwMode="auto">
          <a:xfrm>
            <a:off x="12374563" y="2743200"/>
            <a:ext cx="833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</a:t>
            </a:r>
          </a:p>
        </p:txBody>
      </p:sp>
      <p:sp>
        <p:nvSpPr>
          <p:cNvPr id="53292" name="テキスト ボックス 178"/>
          <p:cNvSpPr txBox="1">
            <a:spLocks noChangeArrowheads="1"/>
          </p:cNvSpPr>
          <p:nvPr/>
        </p:nvSpPr>
        <p:spPr bwMode="auto">
          <a:xfrm>
            <a:off x="12372975" y="3048000"/>
            <a:ext cx="103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</a:t>
            </a:r>
          </a:p>
        </p:txBody>
      </p:sp>
      <p:cxnSp>
        <p:nvCxnSpPr>
          <p:cNvPr id="180" name="図形 179"/>
          <p:cNvCxnSpPr>
            <a:stCxn id="53297" idx="2"/>
            <a:endCxn id="53289" idx="1"/>
          </p:cNvCxnSpPr>
          <p:nvPr/>
        </p:nvCxnSpPr>
        <p:spPr>
          <a:xfrm rot="16200000" flipH="1">
            <a:off x="9758363" y="2209800"/>
            <a:ext cx="107950" cy="1079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図形 180"/>
          <p:cNvCxnSpPr>
            <a:stCxn id="53289" idx="2"/>
            <a:endCxn id="53290" idx="1"/>
          </p:cNvCxnSpPr>
          <p:nvPr/>
        </p:nvCxnSpPr>
        <p:spPr>
          <a:xfrm rot="16200000" flipH="1">
            <a:off x="10288588" y="2520950"/>
            <a:ext cx="131762" cy="96838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図形 181"/>
          <p:cNvCxnSpPr>
            <a:stCxn id="53290" idx="2"/>
            <a:endCxn id="53291" idx="1"/>
          </p:cNvCxnSpPr>
          <p:nvPr/>
        </p:nvCxnSpPr>
        <p:spPr>
          <a:xfrm rot="16200000" flipH="1">
            <a:off x="12257882" y="2810669"/>
            <a:ext cx="107950" cy="1254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図形 182"/>
          <p:cNvCxnSpPr>
            <a:stCxn id="53290" idx="2"/>
            <a:endCxn id="53292" idx="1"/>
          </p:cNvCxnSpPr>
          <p:nvPr/>
        </p:nvCxnSpPr>
        <p:spPr>
          <a:xfrm rot="16200000" flipH="1">
            <a:off x="12104688" y="2963863"/>
            <a:ext cx="412750" cy="123825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97" name="テキスト ボックス 183"/>
          <p:cNvSpPr txBox="1">
            <a:spLocks noChangeArrowheads="1"/>
          </p:cNvSpPr>
          <p:nvPr/>
        </p:nvSpPr>
        <p:spPr bwMode="auto">
          <a:xfrm>
            <a:off x="9456738" y="1839914"/>
            <a:ext cx="601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もの</a:t>
            </a:r>
          </a:p>
        </p:txBody>
      </p:sp>
      <p:cxnSp>
        <p:nvCxnSpPr>
          <p:cNvPr id="185" name="図形 184"/>
          <p:cNvCxnSpPr>
            <a:stCxn id="53288" idx="2"/>
            <a:endCxn id="53297" idx="1"/>
          </p:cNvCxnSpPr>
          <p:nvPr/>
        </p:nvCxnSpPr>
        <p:spPr>
          <a:xfrm rot="16200000" flipH="1">
            <a:off x="9194007" y="1762919"/>
            <a:ext cx="196850" cy="3286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299" name="テキスト ボックス 185"/>
          <p:cNvSpPr txBox="1">
            <a:spLocks noChangeArrowheads="1"/>
          </p:cNvSpPr>
          <p:nvPr/>
        </p:nvSpPr>
        <p:spPr bwMode="auto">
          <a:xfrm>
            <a:off x="9942514" y="3200400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抽象物</a:t>
            </a:r>
          </a:p>
        </p:txBody>
      </p:sp>
      <p:sp>
        <p:nvSpPr>
          <p:cNvPr id="53300" name="テキスト ボックス 186"/>
          <p:cNvSpPr txBox="1">
            <a:spLocks noChangeArrowheads="1"/>
          </p:cNvSpPr>
          <p:nvPr/>
        </p:nvSpPr>
        <p:spPr bwMode="auto">
          <a:xfrm>
            <a:off x="12469813" y="3897314"/>
            <a:ext cx="1304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モデル情報</a:t>
            </a:r>
          </a:p>
        </p:txBody>
      </p:sp>
      <p:sp>
        <p:nvSpPr>
          <p:cNvPr id="53301" name="テキスト ボックス 187"/>
          <p:cNvSpPr txBox="1">
            <a:spLocks noChangeArrowheads="1"/>
          </p:cNvSpPr>
          <p:nvPr/>
        </p:nvSpPr>
        <p:spPr bwMode="auto">
          <a:xfrm>
            <a:off x="12476163" y="4278314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計器情報</a:t>
            </a:r>
          </a:p>
        </p:txBody>
      </p:sp>
      <p:cxnSp>
        <p:nvCxnSpPr>
          <p:cNvPr id="189" name="図形 188"/>
          <p:cNvCxnSpPr>
            <a:stCxn id="53299" idx="2"/>
            <a:endCxn id="53308" idx="1"/>
          </p:cNvCxnSpPr>
          <p:nvPr/>
        </p:nvCxnSpPr>
        <p:spPr>
          <a:xfrm rot="16200000" flipH="1">
            <a:off x="10321926" y="3630613"/>
            <a:ext cx="207962" cy="87313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図形 189"/>
          <p:cNvCxnSpPr>
            <a:stCxn id="53308" idx="2"/>
            <a:endCxn id="53300" idx="1"/>
          </p:cNvCxnSpPr>
          <p:nvPr/>
        </p:nvCxnSpPr>
        <p:spPr>
          <a:xfrm rot="16200000" flipH="1">
            <a:off x="12333288" y="3946525"/>
            <a:ext cx="120650" cy="1524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図形 190"/>
          <p:cNvCxnSpPr>
            <a:stCxn id="53308" idx="2"/>
            <a:endCxn id="53301" idx="1"/>
          </p:cNvCxnSpPr>
          <p:nvPr/>
        </p:nvCxnSpPr>
        <p:spPr>
          <a:xfrm rot="16200000" flipH="1">
            <a:off x="12145963" y="4133850"/>
            <a:ext cx="501650" cy="1587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305" name="テキスト ボックス 191"/>
          <p:cNvSpPr txBox="1">
            <a:spLocks noChangeArrowheads="1"/>
          </p:cNvSpPr>
          <p:nvPr/>
        </p:nvSpPr>
        <p:spPr bwMode="auto">
          <a:xfrm>
            <a:off x="13258800" y="4659314"/>
            <a:ext cx="1295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ゲージ情報</a:t>
            </a:r>
          </a:p>
        </p:txBody>
      </p:sp>
      <p:cxnSp>
        <p:nvCxnSpPr>
          <p:cNvPr id="193" name="図形 192"/>
          <p:cNvCxnSpPr>
            <a:stCxn id="53301" idx="2"/>
            <a:endCxn id="53305" idx="1"/>
          </p:cNvCxnSpPr>
          <p:nvPr/>
        </p:nvCxnSpPr>
        <p:spPr>
          <a:xfrm rot="16200000" flipH="1">
            <a:off x="13046075" y="4632325"/>
            <a:ext cx="196850" cy="2286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図形 193"/>
          <p:cNvCxnSpPr>
            <a:stCxn id="53297" idx="2"/>
            <a:endCxn id="53299" idx="1"/>
          </p:cNvCxnSpPr>
          <p:nvPr/>
        </p:nvCxnSpPr>
        <p:spPr>
          <a:xfrm rot="16200000" flipH="1">
            <a:off x="9263063" y="2705100"/>
            <a:ext cx="1174750" cy="18415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308" name="テキスト ボックス 194"/>
          <p:cNvSpPr txBox="1">
            <a:spLocks noChangeArrowheads="1"/>
          </p:cNvSpPr>
          <p:nvPr/>
        </p:nvSpPr>
        <p:spPr bwMode="auto">
          <a:xfrm>
            <a:off x="10469563" y="3592514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情報</a:t>
            </a:r>
          </a:p>
        </p:txBody>
      </p:sp>
      <p:sp>
        <p:nvSpPr>
          <p:cNvPr id="53309" name="テキスト ボックス 196"/>
          <p:cNvSpPr txBox="1">
            <a:spLocks noChangeArrowheads="1"/>
          </p:cNvSpPr>
          <p:nvPr/>
        </p:nvSpPr>
        <p:spPr bwMode="auto">
          <a:xfrm>
            <a:off x="13258800" y="4964114"/>
            <a:ext cx="149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レーダー情報</a:t>
            </a:r>
          </a:p>
        </p:txBody>
      </p:sp>
      <p:cxnSp>
        <p:nvCxnSpPr>
          <p:cNvPr id="198" name="図形 197"/>
          <p:cNvCxnSpPr>
            <a:stCxn id="53301" idx="2"/>
            <a:endCxn id="53309" idx="1"/>
          </p:cNvCxnSpPr>
          <p:nvPr/>
        </p:nvCxnSpPr>
        <p:spPr>
          <a:xfrm rot="16200000" flipH="1">
            <a:off x="12893675" y="4784725"/>
            <a:ext cx="501650" cy="228600"/>
          </a:xfrm>
          <a:prstGeom prst="bentConnector2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7"/>
          <p:cNvSpPr>
            <a:spLocks noChangeArrowheads="1"/>
          </p:cNvSpPr>
          <p:nvPr/>
        </p:nvSpPr>
        <p:spPr bwMode="auto">
          <a:xfrm>
            <a:off x="2589213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275" name="Freeform 83"/>
          <p:cNvSpPr>
            <a:spLocks/>
          </p:cNvSpPr>
          <p:nvPr/>
        </p:nvSpPr>
        <p:spPr bwMode="auto">
          <a:xfrm>
            <a:off x="2589213" y="3479800"/>
            <a:ext cx="1371600" cy="306388"/>
          </a:xfrm>
          <a:custGeom>
            <a:avLst/>
            <a:gdLst>
              <a:gd name="T0" fmla="*/ 0 w 720"/>
              <a:gd name="T1" fmla="*/ 0 h 144"/>
              <a:gd name="T2" fmla="*/ 2147483647 w 720"/>
              <a:gd name="T3" fmla="*/ 0 h 144"/>
              <a:gd name="T4" fmla="*/ 2147483647 w 720"/>
              <a:gd name="T5" fmla="*/ 2147483647 h 144"/>
              <a:gd name="T6" fmla="*/ 0 w 720"/>
              <a:gd name="T7" fmla="*/ 2147483647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44"/>
              <a:gd name="T14" fmla="*/ 720 w 720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44">
                <a:moveTo>
                  <a:pt x="0" y="0"/>
                </a:moveTo>
                <a:lnTo>
                  <a:pt x="720" y="0"/>
                </a:lnTo>
                <a:lnTo>
                  <a:pt x="720" y="144"/>
                </a:lnTo>
                <a:lnTo>
                  <a:pt x="0" y="144"/>
                </a:lnTo>
              </a:path>
            </a:pathLst>
          </a:custGeom>
          <a:noFill/>
          <a:ln w="15875" cap="rnd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 sz="1400"/>
          </a:p>
        </p:txBody>
      </p:sp>
      <p:sp>
        <p:nvSpPr>
          <p:cNvPr id="54276" name="Freeform 84"/>
          <p:cNvSpPr>
            <a:spLocks/>
          </p:cNvSpPr>
          <p:nvPr/>
        </p:nvSpPr>
        <p:spPr bwMode="auto">
          <a:xfrm flipH="1">
            <a:off x="2622551" y="3159125"/>
            <a:ext cx="1641475" cy="369306"/>
          </a:xfrm>
          <a:custGeom>
            <a:avLst/>
            <a:gdLst>
              <a:gd name="T0" fmla="*/ 0 w 720"/>
              <a:gd name="T1" fmla="*/ 0 h 144"/>
              <a:gd name="T2" fmla="*/ 2147483647 w 720"/>
              <a:gd name="T3" fmla="*/ 0 h 144"/>
              <a:gd name="T4" fmla="*/ 2147483647 w 720"/>
              <a:gd name="T5" fmla="*/ 2147483647 h 144"/>
              <a:gd name="T6" fmla="*/ 0 w 720"/>
              <a:gd name="T7" fmla="*/ 2147483647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44"/>
              <a:gd name="T14" fmla="*/ 720 w 720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44">
                <a:moveTo>
                  <a:pt x="0" y="0"/>
                </a:moveTo>
                <a:lnTo>
                  <a:pt x="720" y="0"/>
                </a:lnTo>
                <a:lnTo>
                  <a:pt x="720" y="144"/>
                </a:lnTo>
                <a:lnTo>
                  <a:pt x="0" y="144"/>
                </a:lnTo>
              </a:path>
            </a:pathLst>
          </a:custGeom>
          <a:noFill/>
          <a:ln w="15875" cap="rnd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4277" name="Text Box 85"/>
          <p:cNvSpPr txBox="1">
            <a:spLocks noChangeArrowheads="1"/>
          </p:cNvSpPr>
          <p:nvPr/>
        </p:nvSpPr>
        <p:spPr bwMode="auto">
          <a:xfrm>
            <a:off x="2636838" y="2460625"/>
            <a:ext cx="15922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7" rIns="91413" bIns="4570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Times New Roman" charset="0"/>
              </a:rPr>
              <a:t>…………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.. g</a:t>
            </a:r>
            <a:r>
              <a:rPr lang="en-US" altLang="ja-JP" sz="1000" baseline="-25000">
                <a:latin typeface="Times New Roman" charset="0"/>
              </a:rPr>
              <a:t>8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4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3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7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8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g</a:t>
            </a:r>
            <a:r>
              <a:rPr lang="en-US" altLang="ja-JP" sz="1000" baseline="-25000">
                <a:latin typeface="Times New Roman" charset="0"/>
              </a:rPr>
              <a:t>4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3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8</a:t>
            </a:r>
            <a:r>
              <a:rPr lang="en-US" altLang="ja-JP" sz="2000">
                <a:latin typeface="Times New Roman" charset="0"/>
              </a:rPr>
              <a:t> </a:t>
            </a:r>
            <a:r>
              <a:rPr lang="en-US" altLang="ja-JP" sz="2000" b="1">
                <a:latin typeface="Times New Roman" charset="0"/>
              </a:rPr>
              <a:t>w</a:t>
            </a:r>
            <a:r>
              <a:rPr lang="en-US" altLang="ja-JP" sz="1000" b="1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2</a:t>
            </a:r>
            <a:endParaRPr lang="en-US" altLang="ja-JP" sz="2000" baseline="-25000">
              <a:latin typeface="Times New Roman" charset="0"/>
            </a:endParaRP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g</a:t>
            </a:r>
            <a:r>
              <a:rPr lang="en-US" altLang="ja-JP" sz="1000" baseline="-25000">
                <a:latin typeface="Times New Roman" charset="0"/>
              </a:rPr>
              <a:t>5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7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1</a:t>
            </a:r>
            <a:r>
              <a:rPr lang="en-US" altLang="ja-JP" sz="2000">
                <a:latin typeface="Times New Roman" charset="0"/>
              </a:rPr>
              <a:t> g</a:t>
            </a:r>
            <a:r>
              <a:rPr lang="en-US" altLang="ja-JP" sz="1000" baseline="-25000">
                <a:latin typeface="Times New Roman" charset="0"/>
              </a:rPr>
              <a:t>5</a:t>
            </a:r>
            <a:r>
              <a:rPr lang="en-US" altLang="ja-JP" sz="2000">
                <a:latin typeface="Times New Roman" charset="0"/>
              </a:rPr>
              <a:t> ..</a:t>
            </a:r>
          </a:p>
          <a:p>
            <a:pPr algn="ctr" eaLnBrk="1" hangingPunct="1"/>
            <a:r>
              <a:rPr lang="en-US" altLang="ja-JP" sz="2000">
                <a:latin typeface="Times New Roman" charset="0"/>
              </a:rPr>
              <a:t>…………</a:t>
            </a:r>
            <a:endParaRPr lang="en-US" altLang="ja-JP" sz="1000">
              <a:latin typeface="Times New Roman" charset="0"/>
            </a:endParaRPr>
          </a:p>
        </p:txBody>
      </p:sp>
      <p:sp>
        <p:nvSpPr>
          <p:cNvPr id="54278" name="Rectangle 101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381000"/>
          </a:xfrm>
        </p:spPr>
        <p:txBody>
          <a:bodyPr/>
          <a:lstStyle/>
          <a:p>
            <a:pPr eaLnBrk="1" hangingPunct="1"/>
            <a:r>
              <a:rPr lang="ja-JP" altLang="en-US" sz="4000" b="1">
                <a:latin typeface="ＭＳ Ｐゴシック" charset="-128"/>
              </a:rPr>
              <a:t>文脈類似概念対の獲得</a:t>
            </a:r>
          </a:p>
        </p:txBody>
      </p:sp>
      <p:sp>
        <p:nvSpPr>
          <p:cNvPr id="54279" name="Rectangle 37"/>
          <p:cNvSpPr>
            <a:spLocks noChangeArrowheads="1"/>
          </p:cNvSpPr>
          <p:nvPr/>
        </p:nvSpPr>
        <p:spPr bwMode="auto">
          <a:xfrm>
            <a:off x="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280" name="正方形/長方形 147"/>
          <p:cNvSpPr>
            <a:spLocks noChangeArrowheads="1"/>
          </p:cNvSpPr>
          <p:nvPr/>
        </p:nvSpPr>
        <p:spPr bwMode="auto">
          <a:xfrm>
            <a:off x="0" y="2479675"/>
            <a:ext cx="18288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 … … … …</a:t>
            </a:r>
          </a:p>
          <a:p>
            <a:pPr algn="ctr" eaLnBrk="1" hangingPunct="1"/>
            <a:r>
              <a:rPr lang="en-US" altLang="ja-JP">
                <a:latin typeface="Times New Roman" charset="0"/>
              </a:rPr>
              <a:t>..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7</a:t>
            </a:r>
          </a:p>
          <a:p>
            <a:pPr algn="ctr" eaLnBrk="1" hangingPunct="1"/>
            <a:endParaRPr lang="en-US" altLang="ja-JP" sz="900" baseline="-25000">
              <a:latin typeface="Times New Roman" charset="0"/>
            </a:endParaRPr>
          </a:p>
          <a:p>
            <a:pPr algn="ctr"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1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2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8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9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2</a:t>
            </a:r>
          </a:p>
          <a:p>
            <a:pPr algn="ctr" eaLnBrk="1" hangingPunct="1"/>
            <a:endParaRPr lang="en-US" altLang="ja-JP" sz="800" baseline="-25000">
              <a:latin typeface="Times New Roman" charset="0"/>
            </a:endParaRPr>
          </a:p>
          <a:p>
            <a:pPr algn="ctr"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1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13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..</a:t>
            </a:r>
          </a:p>
          <a:p>
            <a:pPr algn="ctr" eaLnBrk="1" hangingPunct="1"/>
            <a:r>
              <a:rPr lang="en-US" altLang="ja-JP">
                <a:latin typeface="Times New Roman" charset="0"/>
              </a:rPr>
              <a:t>… … … … … 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161" name="AutoShape 146"/>
          <p:cNvSpPr>
            <a:spLocks noChangeArrowheads="1"/>
          </p:cNvSpPr>
          <p:nvPr/>
        </p:nvSpPr>
        <p:spPr bwMode="auto">
          <a:xfrm>
            <a:off x="1973263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282" name="テキスト ボックス 162"/>
          <p:cNvSpPr txBox="1">
            <a:spLocks noChangeArrowheads="1"/>
          </p:cNvSpPr>
          <p:nvPr/>
        </p:nvSpPr>
        <p:spPr bwMode="auto">
          <a:xfrm>
            <a:off x="685800" y="1524000"/>
            <a:ext cx="2819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1. </a:t>
            </a:r>
            <a:r>
              <a:rPr lang="ja-JP" altLang="en-US" sz="1600" b="1"/>
              <a:t>高頻度単語</a:t>
            </a:r>
            <a:r>
              <a:rPr lang="en-US" altLang="ja-JP" sz="1600" b="1"/>
              <a:t>N-gram </a:t>
            </a:r>
            <a:r>
              <a:rPr lang="ja-JP" altLang="en-US" sz="1600" b="1"/>
              <a:t>の抽出</a:t>
            </a:r>
          </a:p>
        </p:txBody>
      </p:sp>
      <p:sp>
        <p:nvSpPr>
          <p:cNvPr id="54283" name="正方形/長方形 165"/>
          <p:cNvSpPr>
            <a:spLocks noChangeArrowheads="1"/>
          </p:cNvSpPr>
          <p:nvPr/>
        </p:nvSpPr>
        <p:spPr bwMode="auto">
          <a:xfrm>
            <a:off x="-1189038" y="2860675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4" name="正方形/長方形 166"/>
          <p:cNvSpPr>
            <a:spLocks noChangeArrowheads="1"/>
          </p:cNvSpPr>
          <p:nvPr/>
        </p:nvSpPr>
        <p:spPr bwMode="auto">
          <a:xfrm>
            <a:off x="609600" y="2833688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5" name="正方形/長方形 167"/>
          <p:cNvSpPr>
            <a:spLocks noChangeArrowheads="1"/>
          </p:cNvSpPr>
          <p:nvPr/>
        </p:nvSpPr>
        <p:spPr bwMode="auto">
          <a:xfrm>
            <a:off x="-1414463" y="3227388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6" name="正方形/長方形 168"/>
          <p:cNvSpPr>
            <a:spLocks noChangeArrowheads="1"/>
          </p:cNvSpPr>
          <p:nvPr/>
        </p:nvSpPr>
        <p:spPr bwMode="auto">
          <a:xfrm>
            <a:off x="-1128713" y="3200400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7" name="正方形/長方形 169"/>
          <p:cNvSpPr>
            <a:spLocks noChangeArrowheads="1"/>
          </p:cNvSpPr>
          <p:nvPr/>
        </p:nvSpPr>
        <p:spPr bwMode="auto">
          <a:xfrm>
            <a:off x="652463" y="3184525"/>
            <a:ext cx="1066801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8" name="正方形/長方形 170"/>
          <p:cNvSpPr>
            <a:spLocks noChangeArrowheads="1"/>
          </p:cNvSpPr>
          <p:nvPr/>
        </p:nvSpPr>
        <p:spPr bwMode="auto">
          <a:xfrm>
            <a:off x="-1350963" y="3573463"/>
            <a:ext cx="10668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289" name="正方形/長方形 171"/>
          <p:cNvSpPr>
            <a:spLocks noChangeArrowheads="1"/>
          </p:cNvSpPr>
          <p:nvPr/>
        </p:nvSpPr>
        <p:spPr bwMode="auto">
          <a:xfrm>
            <a:off x="381000" y="3546475"/>
            <a:ext cx="1143000" cy="2286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175" name="AutoShape 146"/>
          <p:cNvSpPr>
            <a:spLocks noChangeArrowheads="1"/>
          </p:cNvSpPr>
          <p:nvPr/>
        </p:nvSpPr>
        <p:spPr bwMode="auto">
          <a:xfrm>
            <a:off x="44958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291" name="テキスト ボックス 175"/>
          <p:cNvSpPr txBox="1">
            <a:spLocks noChangeArrowheads="1"/>
          </p:cNvSpPr>
          <p:nvPr/>
        </p:nvSpPr>
        <p:spPr bwMode="auto">
          <a:xfrm>
            <a:off x="3733800" y="1524000"/>
            <a:ext cx="213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2. </a:t>
            </a:r>
            <a:r>
              <a:rPr lang="ja-JP" altLang="en-US" sz="1600" b="1"/>
              <a:t>文脈ベクトルの構築</a:t>
            </a:r>
            <a:endParaRPr lang="en-US" altLang="ja-JP" sz="1600" b="1"/>
          </a:p>
        </p:txBody>
      </p:sp>
      <p:sp>
        <p:nvSpPr>
          <p:cNvPr id="54292" name="Rectangle 37"/>
          <p:cNvSpPr>
            <a:spLocks noChangeArrowheads="1"/>
          </p:cNvSpPr>
          <p:nvPr/>
        </p:nvSpPr>
        <p:spPr bwMode="auto">
          <a:xfrm>
            <a:off x="510540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grpSp>
        <p:nvGrpSpPr>
          <p:cNvPr id="54293" name="グループ化 184"/>
          <p:cNvGrpSpPr>
            <a:grpSpLocks/>
          </p:cNvGrpSpPr>
          <p:nvPr/>
        </p:nvGrpSpPr>
        <p:grpSpPr bwMode="auto">
          <a:xfrm>
            <a:off x="5410201" y="2640013"/>
            <a:ext cx="403225" cy="368300"/>
            <a:chOff x="4377075" y="3244334"/>
            <a:chExt cx="402674" cy="369332"/>
          </a:xfrm>
        </p:grpSpPr>
        <p:cxnSp>
          <p:nvCxnSpPr>
            <p:cNvPr id="183" name="直線矢印コネクタ 182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93" name="正方形/長方形 183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</a:t>
              </a:r>
              <a:endParaRPr lang="ja-JP" altLang="en-US" sz="1200"/>
            </a:p>
          </p:txBody>
        </p:sp>
      </p:grpSp>
      <p:grpSp>
        <p:nvGrpSpPr>
          <p:cNvPr id="54294" name="グループ化 186"/>
          <p:cNvGrpSpPr>
            <a:grpSpLocks/>
          </p:cNvGrpSpPr>
          <p:nvPr/>
        </p:nvGrpSpPr>
        <p:grpSpPr bwMode="auto">
          <a:xfrm>
            <a:off x="5664201" y="2636838"/>
            <a:ext cx="403225" cy="368300"/>
            <a:chOff x="4377075" y="3244334"/>
            <a:chExt cx="402674" cy="369332"/>
          </a:xfrm>
        </p:grpSpPr>
        <p:cxnSp>
          <p:nvCxnSpPr>
            <p:cNvPr id="188" name="直線矢印コネクタ 187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91" name="正方形/長方形 188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2</a:t>
              </a:r>
              <a:endParaRPr lang="ja-JP" altLang="en-US" sz="1200"/>
            </a:p>
          </p:txBody>
        </p:sp>
      </p:grpSp>
      <p:grpSp>
        <p:nvGrpSpPr>
          <p:cNvPr id="54295" name="グループ化 189"/>
          <p:cNvGrpSpPr>
            <a:grpSpLocks/>
          </p:cNvGrpSpPr>
          <p:nvPr/>
        </p:nvGrpSpPr>
        <p:grpSpPr bwMode="auto">
          <a:xfrm>
            <a:off x="5910264" y="2635250"/>
            <a:ext cx="401637" cy="368300"/>
            <a:chOff x="4377075" y="3244334"/>
            <a:chExt cx="402674" cy="369332"/>
          </a:xfrm>
        </p:grpSpPr>
        <p:cxnSp>
          <p:nvCxnSpPr>
            <p:cNvPr id="191" name="直線矢印コネクタ 190"/>
            <p:cNvCxnSpPr/>
            <p:nvPr/>
          </p:nvCxnSpPr>
          <p:spPr>
            <a:xfrm>
              <a:off x="4467796" y="3352586"/>
              <a:ext cx="227599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9" name="正方形/長方形 191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3</a:t>
              </a:r>
              <a:endParaRPr lang="ja-JP" altLang="en-US" sz="1200"/>
            </a:p>
          </p:txBody>
        </p:sp>
      </p:grpSp>
      <p:grpSp>
        <p:nvGrpSpPr>
          <p:cNvPr id="54296" name="グループ化 192"/>
          <p:cNvGrpSpPr>
            <a:grpSpLocks/>
          </p:cNvGrpSpPr>
          <p:nvPr/>
        </p:nvGrpSpPr>
        <p:grpSpPr bwMode="auto">
          <a:xfrm>
            <a:off x="6164264" y="2632075"/>
            <a:ext cx="403225" cy="368300"/>
            <a:chOff x="4377075" y="3244334"/>
            <a:chExt cx="402674" cy="369332"/>
          </a:xfrm>
        </p:grpSpPr>
        <p:cxnSp>
          <p:nvCxnSpPr>
            <p:cNvPr id="194" name="直線矢印コネクタ 193"/>
            <p:cNvCxnSpPr/>
            <p:nvPr/>
          </p:nvCxnSpPr>
          <p:spPr>
            <a:xfrm>
              <a:off x="4467438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7" name="正方形/長方形 194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4</a:t>
              </a:r>
              <a:endParaRPr lang="ja-JP" altLang="en-US" sz="1200"/>
            </a:p>
          </p:txBody>
        </p:sp>
      </p:grpSp>
      <p:grpSp>
        <p:nvGrpSpPr>
          <p:cNvPr id="54297" name="グループ化 208"/>
          <p:cNvGrpSpPr>
            <a:grpSpLocks/>
          </p:cNvGrpSpPr>
          <p:nvPr/>
        </p:nvGrpSpPr>
        <p:grpSpPr bwMode="auto">
          <a:xfrm>
            <a:off x="5103814" y="3028950"/>
            <a:ext cx="403225" cy="368300"/>
            <a:chOff x="4377075" y="3244334"/>
            <a:chExt cx="402674" cy="369332"/>
          </a:xfrm>
        </p:grpSpPr>
        <p:cxnSp>
          <p:nvCxnSpPr>
            <p:cNvPr id="210" name="直線矢印コネクタ 209"/>
            <p:cNvCxnSpPr/>
            <p:nvPr/>
          </p:nvCxnSpPr>
          <p:spPr>
            <a:xfrm>
              <a:off x="4467438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5" name="正方形/長方形 210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6</a:t>
              </a:r>
              <a:endParaRPr lang="ja-JP" altLang="en-US" sz="1200"/>
            </a:p>
          </p:txBody>
        </p:sp>
      </p:grpSp>
      <p:grpSp>
        <p:nvGrpSpPr>
          <p:cNvPr id="54298" name="グループ化 211"/>
          <p:cNvGrpSpPr>
            <a:grpSpLocks/>
          </p:cNvGrpSpPr>
          <p:nvPr/>
        </p:nvGrpSpPr>
        <p:grpSpPr bwMode="auto">
          <a:xfrm>
            <a:off x="5359400" y="3025775"/>
            <a:ext cx="401638" cy="368300"/>
            <a:chOff x="4377075" y="3244334"/>
            <a:chExt cx="402674" cy="369332"/>
          </a:xfrm>
        </p:grpSpPr>
        <p:cxnSp>
          <p:nvCxnSpPr>
            <p:cNvPr id="213" name="直線矢印コネクタ 212"/>
            <p:cNvCxnSpPr/>
            <p:nvPr/>
          </p:nvCxnSpPr>
          <p:spPr>
            <a:xfrm>
              <a:off x="4467796" y="3352586"/>
              <a:ext cx="22759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3" name="正方形/長方形 213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7</a:t>
              </a:r>
              <a:endParaRPr lang="ja-JP" altLang="en-US" sz="1200"/>
            </a:p>
          </p:txBody>
        </p:sp>
      </p:grpSp>
      <p:grpSp>
        <p:nvGrpSpPr>
          <p:cNvPr id="54299" name="グループ化 214"/>
          <p:cNvGrpSpPr>
            <a:grpSpLocks/>
          </p:cNvGrpSpPr>
          <p:nvPr/>
        </p:nvGrpSpPr>
        <p:grpSpPr bwMode="auto">
          <a:xfrm>
            <a:off x="5603876" y="3024188"/>
            <a:ext cx="403225" cy="368300"/>
            <a:chOff x="4377075" y="3244334"/>
            <a:chExt cx="402674" cy="369332"/>
          </a:xfrm>
        </p:grpSpPr>
        <p:cxnSp>
          <p:nvCxnSpPr>
            <p:cNvPr id="216" name="直線矢印コネクタ 215"/>
            <p:cNvCxnSpPr/>
            <p:nvPr/>
          </p:nvCxnSpPr>
          <p:spPr>
            <a:xfrm>
              <a:off x="4467439" y="3352586"/>
              <a:ext cx="228288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81" name="正方形/長方形 216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8</a:t>
              </a:r>
              <a:endParaRPr lang="ja-JP" altLang="en-US" sz="1200"/>
            </a:p>
          </p:txBody>
        </p:sp>
      </p:grpSp>
      <p:grpSp>
        <p:nvGrpSpPr>
          <p:cNvPr id="54300" name="グループ化 217"/>
          <p:cNvGrpSpPr>
            <a:grpSpLocks/>
          </p:cNvGrpSpPr>
          <p:nvPr/>
        </p:nvGrpSpPr>
        <p:grpSpPr bwMode="auto">
          <a:xfrm>
            <a:off x="5857876" y="3021014"/>
            <a:ext cx="403225" cy="369887"/>
            <a:chOff x="4377075" y="3244334"/>
            <a:chExt cx="402674" cy="369332"/>
          </a:xfrm>
        </p:grpSpPr>
        <p:cxnSp>
          <p:nvCxnSpPr>
            <p:cNvPr id="219" name="直線矢印コネクタ 218"/>
            <p:cNvCxnSpPr/>
            <p:nvPr/>
          </p:nvCxnSpPr>
          <p:spPr>
            <a:xfrm>
              <a:off x="4467439" y="3352122"/>
              <a:ext cx="228288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9" name="正方形/長方形 219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9</a:t>
              </a:r>
              <a:endParaRPr lang="ja-JP" altLang="en-US" sz="1200"/>
            </a:p>
          </p:txBody>
        </p:sp>
      </p:grpSp>
      <p:grpSp>
        <p:nvGrpSpPr>
          <p:cNvPr id="54301" name="グループ化 220"/>
          <p:cNvGrpSpPr>
            <a:grpSpLocks/>
          </p:cNvGrpSpPr>
          <p:nvPr/>
        </p:nvGrpSpPr>
        <p:grpSpPr bwMode="auto">
          <a:xfrm>
            <a:off x="5410201" y="3405189"/>
            <a:ext cx="454025" cy="369887"/>
            <a:chOff x="4377075" y="3244334"/>
            <a:chExt cx="453970" cy="369332"/>
          </a:xfrm>
        </p:grpSpPr>
        <p:cxnSp>
          <p:nvCxnSpPr>
            <p:cNvPr id="222" name="直線矢印コネクタ 221"/>
            <p:cNvCxnSpPr/>
            <p:nvPr/>
          </p:nvCxnSpPr>
          <p:spPr>
            <a:xfrm>
              <a:off x="4467552" y="3352122"/>
              <a:ext cx="22857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7" name="正方形/長方形 222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13</a:t>
              </a:r>
              <a:endParaRPr lang="ja-JP" altLang="en-US" sz="1200"/>
            </a:p>
          </p:txBody>
        </p:sp>
      </p:grpSp>
      <p:grpSp>
        <p:nvGrpSpPr>
          <p:cNvPr id="54302" name="グループ化 223"/>
          <p:cNvGrpSpPr>
            <a:grpSpLocks/>
          </p:cNvGrpSpPr>
          <p:nvPr/>
        </p:nvGrpSpPr>
        <p:grpSpPr bwMode="auto">
          <a:xfrm>
            <a:off x="5664201" y="3402014"/>
            <a:ext cx="454025" cy="369887"/>
            <a:chOff x="4377075" y="3244334"/>
            <a:chExt cx="453970" cy="369332"/>
          </a:xfrm>
        </p:grpSpPr>
        <p:cxnSp>
          <p:nvCxnSpPr>
            <p:cNvPr id="225" name="直線矢印コネクタ 224"/>
            <p:cNvCxnSpPr/>
            <p:nvPr/>
          </p:nvCxnSpPr>
          <p:spPr>
            <a:xfrm>
              <a:off x="4467552" y="3352122"/>
              <a:ext cx="22857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5" name="正方形/長方形 225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14</a:t>
              </a:r>
              <a:endParaRPr lang="ja-JP" altLang="en-US" sz="1200"/>
            </a:p>
          </p:txBody>
        </p:sp>
      </p:grpSp>
      <p:grpSp>
        <p:nvGrpSpPr>
          <p:cNvPr id="54303" name="グループ化 226"/>
          <p:cNvGrpSpPr>
            <a:grpSpLocks/>
          </p:cNvGrpSpPr>
          <p:nvPr/>
        </p:nvGrpSpPr>
        <p:grpSpPr bwMode="auto">
          <a:xfrm>
            <a:off x="5910264" y="3400425"/>
            <a:ext cx="454025" cy="369888"/>
            <a:chOff x="4377075" y="3244334"/>
            <a:chExt cx="453970" cy="369332"/>
          </a:xfrm>
        </p:grpSpPr>
        <p:cxnSp>
          <p:nvCxnSpPr>
            <p:cNvPr id="228" name="直線矢印コネクタ 227"/>
            <p:cNvCxnSpPr/>
            <p:nvPr/>
          </p:nvCxnSpPr>
          <p:spPr>
            <a:xfrm>
              <a:off x="4467551" y="3352122"/>
              <a:ext cx="228572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3" name="正方形/長方形 228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15</a:t>
              </a:r>
              <a:endParaRPr lang="ja-JP" altLang="en-US" sz="1200"/>
            </a:p>
          </p:txBody>
        </p:sp>
      </p:grpSp>
      <p:grpSp>
        <p:nvGrpSpPr>
          <p:cNvPr id="54304" name="グループ化 229"/>
          <p:cNvGrpSpPr>
            <a:grpSpLocks/>
          </p:cNvGrpSpPr>
          <p:nvPr/>
        </p:nvGrpSpPr>
        <p:grpSpPr bwMode="auto">
          <a:xfrm>
            <a:off x="6164264" y="3397250"/>
            <a:ext cx="454025" cy="369888"/>
            <a:chOff x="4377075" y="3244334"/>
            <a:chExt cx="453970" cy="369332"/>
          </a:xfrm>
        </p:grpSpPr>
        <p:cxnSp>
          <p:nvCxnSpPr>
            <p:cNvPr id="231" name="直線矢印コネクタ 230"/>
            <p:cNvCxnSpPr/>
            <p:nvPr/>
          </p:nvCxnSpPr>
          <p:spPr>
            <a:xfrm>
              <a:off x="4467551" y="3352122"/>
              <a:ext cx="228572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71" name="正方形/長方形 231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16</a:t>
              </a:r>
              <a:endParaRPr lang="ja-JP" altLang="en-US" sz="1200"/>
            </a:p>
          </p:txBody>
        </p:sp>
      </p:grpSp>
      <p:sp>
        <p:nvSpPr>
          <p:cNvPr id="54305" name="正方形/長方形 234"/>
          <p:cNvSpPr>
            <a:spLocks noChangeArrowheads="1"/>
          </p:cNvSpPr>
          <p:nvPr/>
        </p:nvSpPr>
        <p:spPr bwMode="auto">
          <a:xfrm>
            <a:off x="6518276" y="33940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54306" name="正方形/長方形 235"/>
          <p:cNvSpPr>
            <a:spLocks noChangeArrowheads="1"/>
          </p:cNvSpPr>
          <p:nvPr/>
        </p:nvSpPr>
        <p:spPr bwMode="auto">
          <a:xfrm>
            <a:off x="5832476" y="3633788"/>
            <a:ext cx="64611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……</a:t>
            </a:r>
          </a:p>
          <a:p>
            <a:pPr algn="ctr" eaLnBrk="1" hangingPunct="1"/>
            <a:endParaRPr lang="en-US" altLang="ja-JP" sz="900">
              <a:latin typeface="Times New Roman" charset="0"/>
            </a:endParaRPr>
          </a:p>
        </p:txBody>
      </p:sp>
      <p:grpSp>
        <p:nvGrpSpPr>
          <p:cNvPr id="54307" name="グループ化 236"/>
          <p:cNvGrpSpPr>
            <a:grpSpLocks/>
          </p:cNvGrpSpPr>
          <p:nvPr/>
        </p:nvGrpSpPr>
        <p:grpSpPr bwMode="auto">
          <a:xfrm>
            <a:off x="6419851" y="2638425"/>
            <a:ext cx="411163" cy="368300"/>
            <a:chOff x="4377075" y="3244334"/>
            <a:chExt cx="410690" cy="369332"/>
          </a:xfrm>
        </p:grpSpPr>
        <p:cxnSp>
          <p:nvCxnSpPr>
            <p:cNvPr id="238" name="直線矢印コネクタ 237"/>
            <p:cNvCxnSpPr/>
            <p:nvPr/>
          </p:nvCxnSpPr>
          <p:spPr>
            <a:xfrm>
              <a:off x="4467459" y="3352586"/>
              <a:ext cx="228337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9" name="正方形/長方形 238"/>
            <p:cNvSpPr>
              <a:spLocks noChangeArrowheads="1"/>
            </p:cNvSpPr>
            <p:nvPr/>
          </p:nvSpPr>
          <p:spPr bwMode="auto">
            <a:xfrm>
              <a:off x="4377075" y="3244334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5</a:t>
              </a:r>
              <a:endParaRPr lang="ja-JP" altLang="en-US" sz="1200"/>
            </a:p>
          </p:txBody>
        </p:sp>
      </p:grpSp>
      <p:grpSp>
        <p:nvGrpSpPr>
          <p:cNvPr id="54308" name="グループ化 239"/>
          <p:cNvGrpSpPr>
            <a:grpSpLocks/>
          </p:cNvGrpSpPr>
          <p:nvPr/>
        </p:nvGrpSpPr>
        <p:grpSpPr bwMode="auto">
          <a:xfrm>
            <a:off x="6116639" y="3017838"/>
            <a:ext cx="454025" cy="368300"/>
            <a:chOff x="4377075" y="3244334"/>
            <a:chExt cx="453970" cy="369332"/>
          </a:xfrm>
        </p:grpSpPr>
        <p:cxnSp>
          <p:nvCxnSpPr>
            <p:cNvPr id="241" name="直線矢印コネクタ 240"/>
            <p:cNvCxnSpPr/>
            <p:nvPr/>
          </p:nvCxnSpPr>
          <p:spPr>
            <a:xfrm>
              <a:off x="4467551" y="3352586"/>
              <a:ext cx="228572" cy="15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7" name="正方形/長方形 241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10</a:t>
              </a:r>
              <a:endParaRPr lang="ja-JP" altLang="en-US" sz="1200"/>
            </a:p>
          </p:txBody>
        </p:sp>
      </p:grpSp>
      <p:grpSp>
        <p:nvGrpSpPr>
          <p:cNvPr id="54309" name="グループ化 242"/>
          <p:cNvGrpSpPr>
            <a:grpSpLocks/>
          </p:cNvGrpSpPr>
          <p:nvPr/>
        </p:nvGrpSpPr>
        <p:grpSpPr bwMode="auto">
          <a:xfrm>
            <a:off x="6399213" y="3019425"/>
            <a:ext cx="449262" cy="369888"/>
            <a:chOff x="4377075" y="3244334"/>
            <a:chExt cx="450188" cy="369332"/>
          </a:xfrm>
        </p:grpSpPr>
        <p:cxnSp>
          <p:nvCxnSpPr>
            <p:cNvPr id="244" name="直線矢印コネクタ 243"/>
            <p:cNvCxnSpPr/>
            <p:nvPr/>
          </p:nvCxnSpPr>
          <p:spPr>
            <a:xfrm>
              <a:off x="4467749" y="3352122"/>
              <a:ext cx="227481" cy="15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5" name="正方形/長方形 244"/>
            <p:cNvSpPr>
              <a:spLocks noChangeArrowheads="1"/>
            </p:cNvSpPr>
            <p:nvPr/>
          </p:nvSpPr>
          <p:spPr bwMode="auto">
            <a:xfrm>
              <a:off x="4377075" y="3244334"/>
              <a:ext cx="4501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11</a:t>
              </a:r>
              <a:endParaRPr lang="ja-JP" altLang="en-US" sz="1200"/>
            </a:p>
          </p:txBody>
        </p:sp>
      </p:grpSp>
      <p:grpSp>
        <p:nvGrpSpPr>
          <p:cNvPr id="54310" name="グループ化 245"/>
          <p:cNvGrpSpPr>
            <a:grpSpLocks/>
          </p:cNvGrpSpPr>
          <p:nvPr/>
        </p:nvGrpSpPr>
        <p:grpSpPr bwMode="auto">
          <a:xfrm>
            <a:off x="5148264" y="3405189"/>
            <a:ext cx="452437" cy="369887"/>
            <a:chOff x="4377075" y="3244334"/>
            <a:chExt cx="453970" cy="369332"/>
          </a:xfrm>
        </p:grpSpPr>
        <p:cxnSp>
          <p:nvCxnSpPr>
            <p:cNvPr id="247" name="直線矢印コネクタ 246"/>
            <p:cNvCxnSpPr/>
            <p:nvPr/>
          </p:nvCxnSpPr>
          <p:spPr>
            <a:xfrm>
              <a:off x="4467869" y="3352122"/>
              <a:ext cx="227782" cy="15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3" name="正方形/長方形 247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12</a:t>
              </a:r>
              <a:endParaRPr lang="ja-JP" altLang="en-US" sz="1200"/>
            </a:p>
          </p:txBody>
        </p:sp>
      </p:grpSp>
      <p:sp>
        <p:nvSpPr>
          <p:cNvPr id="54311" name="テキスト ボックス 248"/>
          <p:cNvSpPr txBox="1">
            <a:spLocks noChangeArrowheads="1"/>
          </p:cNvSpPr>
          <p:nvPr/>
        </p:nvSpPr>
        <p:spPr bwMode="auto">
          <a:xfrm>
            <a:off x="1903413" y="4079876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文脈スコープ</a:t>
            </a:r>
          </a:p>
        </p:txBody>
      </p:sp>
      <p:cxnSp>
        <p:nvCxnSpPr>
          <p:cNvPr id="251" name="直線矢印コネクタ 250"/>
          <p:cNvCxnSpPr>
            <a:stCxn id="54311" idx="0"/>
          </p:cNvCxnSpPr>
          <p:nvPr/>
        </p:nvCxnSpPr>
        <p:spPr>
          <a:xfrm rot="5400000" flipH="1" flipV="1">
            <a:off x="2541588" y="3727450"/>
            <a:ext cx="304800" cy="4000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13" name="円/楕円 258"/>
          <p:cNvSpPr>
            <a:spLocks noChangeArrowheads="1"/>
          </p:cNvSpPr>
          <p:nvPr/>
        </p:nvSpPr>
        <p:spPr bwMode="auto">
          <a:xfrm>
            <a:off x="5457825" y="2622550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14" name="テキスト ボックス 264"/>
          <p:cNvSpPr txBox="1">
            <a:spLocks noChangeArrowheads="1"/>
          </p:cNvSpPr>
          <p:nvPr/>
        </p:nvSpPr>
        <p:spPr bwMode="auto">
          <a:xfrm>
            <a:off x="-152400" y="4079875"/>
            <a:ext cx="203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/>
              <a:t>専門文書（入力文書）</a:t>
            </a:r>
          </a:p>
        </p:txBody>
      </p:sp>
      <p:sp>
        <p:nvSpPr>
          <p:cNvPr id="271" name="正方形/長方形 270"/>
          <p:cNvSpPr/>
          <p:nvPr/>
        </p:nvSpPr>
        <p:spPr>
          <a:xfrm>
            <a:off x="2590800" y="1897064"/>
            <a:ext cx="1828800" cy="5238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入力語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高頻度単語</a:t>
            </a:r>
            <a:r>
              <a:rPr lang="en-US" altLang="ja-JP" sz="1200" dirty="0">
                <a:latin typeface="Times New Roman" pitchFamily="18" charset="0"/>
                <a:cs typeface="Times New Roman" pitchFamily="18" charset="0"/>
              </a:rPr>
              <a:t>N-gram</a:t>
            </a:r>
            <a:endParaRPr lang="ja-JP" altLang="en-US" sz="1400" dirty="0"/>
          </a:p>
        </p:txBody>
      </p:sp>
      <p:sp>
        <p:nvSpPr>
          <p:cNvPr id="272" name="正方形/長方形 271"/>
          <p:cNvSpPr/>
          <p:nvPr/>
        </p:nvSpPr>
        <p:spPr>
          <a:xfrm>
            <a:off x="0" y="21113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単語（標準形）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17" name="テキスト ボックス 275"/>
          <p:cNvSpPr txBox="1">
            <a:spLocks noChangeArrowheads="1"/>
          </p:cNvSpPr>
          <p:nvPr/>
        </p:nvSpPr>
        <p:spPr bwMode="auto">
          <a:xfrm>
            <a:off x="6096001" y="1524000"/>
            <a:ext cx="2359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3. </a:t>
            </a:r>
            <a:r>
              <a:rPr lang="ja-JP" altLang="en-US" sz="1600" b="1"/>
              <a:t>入力語ベクトルの構築</a:t>
            </a:r>
            <a:endParaRPr lang="en-US" altLang="ja-JP" sz="1600" b="1"/>
          </a:p>
        </p:txBody>
      </p:sp>
      <p:sp>
        <p:nvSpPr>
          <p:cNvPr id="277" name="AutoShape 146"/>
          <p:cNvSpPr>
            <a:spLocks noChangeArrowheads="1"/>
          </p:cNvSpPr>
          <p:nvPr/>
        </p:nvSpPr>
        <p:spPr bwMode="auto">
          <a:xfrm>
            <a:off x="70104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319" name="Rectangle 37"/>
          <p:cNvSpPr>
            <a:spLocks noChangeArrowheads="1"/>
          </p:cNvSpPr>
          <p:nvPr/>
        </p:nvSpPr>
        <p:spPr bwMode="auto">
          <a:xfrm>
            <a:off x="7543800" y="2479676"/>
            <a:ext cx="1828800" cy="161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cxnSp>
        <p:nvCxnSpPr>
          <p:cNvPr id="280" name="直線矢印コネクタ 279"/>
          <p:cNvCxnSpPr/>
          <p:nvPr/>
        </p:nvCxnSpPr>
        <p:spPr>
          <a:xfrm>
            <a:off x="7939088" y="2713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1" name="正方形/長方形 280"/>
          <p:cNvSpPr>
            <a:spLocks noChangeArrowheads="1"/>
          </p:cNvSpPr>
          <p:nvPr/>
        </p:nvSpPr>
        <p:spPr bwMode="auto">
          <a:xfrm>
            <a:off x="7848601" y="2640013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283" name="直線矢印コネクタ 282"/>
          <p:cNvCxnSpPr/>
          <p:nvPr/>
        </p:nvCxnSpPr>
        <p:spPr>
          <a:xfrm>
            <a:off x="8193088" y="2709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3" name="正方形/長方形 283"/>
          <p:cNvSpPr>
            <a:spLocks noChangeArrowheads="1"/>
          </p:cNvSpPr>
          <p:nvPr/>
        </p:nvSpPr>
        <p:spPr bwMode="auto">
          <a:xfrm>
            <a:off x="8102601" y="263683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cxnSp>
        <p:nvCxnSpPr>
          <p:cNvPr id="286" name="直線矢印コネクタ 285"/>
          <p:cNvCxnSpPr/>
          <p:nvPr/>
        </p:nvCxnSpPr>
        <p:spPr>
          <a:xfrm>
            <a:off x="8439150" y="27082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5" name="正方形/長方形 286"/>
          <p:cNvSpPr>
            <a:spLocks noChangeArrowheads="1"/>
          </p:cNvSpPr>
          <p:nvPr/>
        </p:nvSpPr>
        <p:spPr bwMode="auto">
          <a:xfrm>
            <a:off x="8348664" y="2635250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289" name="直線矢印コネクタ 288"/>
          <p:cNvCxnSpPr/>
          <p:nvPr/>
        </p:nvCxnSpPr>
        <p:spPr>
          <a:xfrm>
            <a:off x="8693150" y="27066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7" name="正方形/長方形 289"/>
          <p:cNvSpPr>
            <a:spLocks noChangeArrowheads="1"/>
          </p:cNvSpPr>
          <p:nvPr/>
        </p:nvSpPr>
        <p:spPr bwMode="auto">
          <a:xfrm>
            <a:off x="8602664" y="263207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4</a:t>
            </a:r>
            <a:endParaRPr lang="ja-JP" altLang="en-US" sz="1200"/>
          </a:p>
        </p:txBody>
      </p:sp>
      <p:cxnSp>
        <p:nvCxnSpPr>
          <p:cNvPr id="304" name="直線矢印コネクタ 303"/>
          <p:cNvCxnSpPr/>
          <p:nvPr/>
        </p:nvCxnSpPr>
        <p:spPr>
          <a:xfrm>
            <a:off x="7900988" y="3479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29" name="正方形/長方形 304"/>
          <p:cNvSpPr>
            <a:spLocks noChangeArrowheads="1"/>
          </p:cNvSpPr>
          <p:nvPr/>
        </p:nvSpPr>
        <p:spPr bwMode="auto">
          <a:xfrm>
            <a:off x="7810501" y="3405189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13</a:t>
            </a:r>
            <a:endParaRPr lang="ja-JP" altLang="en-US" sz="1200"/>
          </a:p>
        </p:txBody>
      </p:sp>
      <p:cxnSp>
        <p:nvCxnSpPr>
          <p:cNvPr id="307" name="直線矢印コネクタ 306"/>
          <p:cNvCxnSpPr/>
          <p:nvPr/>
        </p:nvCxnSpPr>
        <p:spPr>
          <a:xfrm>
            <a:off x="8215313" y="34766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1" name="正方形/長方形 307"/>
          <p:cNvSpPr>
            <a:spLocks noChangeArrowheads="1"/>
          </p:cNvSpPr>
          <p:nvPr/>
        </p:nvSpPr>
        <p:spPr bwMode="auto">
          <a:xfrm>
            <a:off x="8124826" y="3402014"/>
            <a:ext cx="47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900" baseline="-25000">
                <a:latin typeface="Times New Roman" charset="0"/>
              </a:rPr>
              <a:t>14</a:t>
            </a:r>
            <a:endParaRPr lang="ja-JP" altLang="en-US"/>
          </a:p>
        </p:txBody>
      </p:sp>
      <p:cxnSp>
        <p:nvCxnSpPr>
          <p:cNvPr id="310" name="直線矢印コネクタ 309"/>
          <p:cNvCxnSpPr/>
          <p:nvPr/>
        </p:nvCxnSpPr>
        <p:spPr>
          <a:xfrm>
            <a:off x="8505825" y="3475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3" name="正方形/長方形 310"/>
          <p:cNvSpPr>
            <a:spLocks noChangeArrowheads="1"/>
          </p:cNvSpPr>
          <p:nvPr/>
        </p:nvSpPr>
        <p:spPr bwMode="auto">
          <a:xfrm>
            <a:off x="8415339" y="34004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900" baseline="-25000">
                <a:latin typeface="Times New Roman" charset="0"/>
              </a:rPr>
              <a:t>15</a:t>
            </a:r>
            <a:endParaRPr lang="ja-JP" altLang="en-US"/>
          </a:p>
        </p:txBody>
      </p:sp>
      <p:cxnSp>
        <p:nvCxnSpPr>
          <p:cNvPr id="313" name="直線矢印コネクタ 312"/>
          <p:cNvCxnSpPr/>
          <p:nvPr/>
        </p:nvCxnSpPr>
        <p:spPr>
          <a:xfrm>
            <a:off x="8788400" y="3471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5" name="正方形/長方形 313"/>
          <p:cNvSpPr>
            <a:spLocks noChangeArrowheads="1"/>
          </p:cNvSpPr>
          <p:nvPr/>
        </p:nvSpPr>
        <p:spPr bwMode="auto">
          <a:xfrm>
            <a:off x="8697913" y="3397250"/>
            <a:ext cx="5064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16</a:t>
            </a:r>
            <a:endParaRPr lang="ja-JP" altLang="en-US" sz="1200"/>
          </a:p>
        </p:txBody>
      </p:sp>
      <p:sp>
        <p:nvSpPr>
          <p:cNvPr id="54336" name="正方形/長方形 315"/>
          <p:cNvSpPr>
            <a:spLocks noChangeArrowheads="1"/>
          </p:cNvSpPr>
          <p:nvPr/>
        </p:nvSpPr>
        <p:spPr bwMode="auto">
          <a:xfrm>
            <a:off x="9051926" y="33940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54337" name="正方形/長方形 316"/>
          <p:cNvSpPr>
            <a:spLocks noChangeArrowheads="1"/>
          </p:cNvSpPr>
          <p:nvPr/>
        </p:nvSpPr>
        <p:spPr bwMode="auto">
          <a:xfrm>
            <a:off x="8404226" y="3633789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cxnSp>
        <p:nvCxnSpPr>
          <p:cNvPr id="319" name="直線矢印コネクタ 318"/>
          <p:cNvCxnSpPr/>
          <p:nvPr/>
        </p:nvCxnSpPr>
        <p:spPr>
          <a:xfrm>
            <a:off x="8948738" y="27114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39" name="正方形/長方形 319"/>
          <p:cNvSpPr>
            <a:spLocks noChangeArrowheads="1"/>
          </p:cNvSpPr>
          <p:nvPr/>
        </p:nvSpPr>
        <p:spPr bwMode="auto">
          <a:xfrm>
            <a:off x="8858251" y="263842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292" name="直線矢印コネクタ 291"/>
          <p:cNvCxnSpPr/>
          <p:nvPr/>
        </p:nvCxnSpPr>
        <p:spPr>
          <a:xfrm>
            <a:off x="7632700" y="31035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1" name="正方形/長方形 292"/>
          <p:cNvSpPr>
            <a:spLocks noChangeArrowheads="1"/>
          </p:cNvSpPr>
          <p:nvPr/>
        </p:nvSpPr>
        <p:spPr bwMode="auto">
          <a:xfrm>
            <a:off x="7542214" y="3028950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cxnSp>
        <p:nvCxnSpPr>
          <p:cNvPr id="295" name="直線矢印コネクタ 294"/>
          <p:cNvCxnSpPr/>
          <p:nvPr/>
        </p:nvCxnSpPr>
        <p:spPr>
          <a:xfrm>
            <a:off x="7888288" y="31003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3" name="正方形/長方形 295"/>
          <p:cNvSpPr>
            <a:spLocks noChangeArrowheads="1"/>
          </p:cNvSpPr>
          <p:nvPr/>
        </p:nvSpPr>
        <p:spPr bwMode="auto">
          <a:xfrm>
            <a:off x="7797801" y="3025775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298" name="直線矢印コネクタ 297"/>
          <p:cNvCxnSpPr/>
          <p:nvPr/>
        </p:nvCxnSpPr>
        <p:spPr>
          <a:xfrm>
            <a:off x="8132763" y="3098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5" name="正方形/長方形 298"/>
          <p:cNvSpPr>
            <a:spLocks noChangeArrowheads="1"/>
          </p:cNvSpPr>
          <p:nvPr/>
        </p:nvSpPr>
        <p:spPr bwMode="auto">
          <a:xfrm>
            <a:off x="8042276" y="3024188"/>
            <a:ext cx="45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301" name="直線矢印コネクタ 300"/>
          <p:cNvCxnSpPr/>
          <p:nvPr/>
        </p:nvCxnSpPr>
        <p:spPr>
          <a:xfrm>
            <a:off x="8386763" y="30956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7" name="正方形/長方形 301"/>
          <p:cNvSpPr>
            <a:spLocks noChangeArrowheads="1"/>
          </p:cNvSpPr>
          <p:nvPr/>
        </p:nvSpPr>
        <p:spPr bwMode="auto">
          <a:xfrm>
            <a:off x="8296276" y="3021014"/>
            <a:ext cx="454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9</a:t>
            </a:r>
            <a:endParaRPr lang="ja-JP" altLang="en-US" sz="1200"/>
          </a:p>
        </p:txBody>
      </p:sp>
      <p:cxnSp>
        <p:nvCxnSpPr>
          <p:cNvPr id="322" name="直線矢印コネクタ 321"/>
          <p:cNvCxnSpPr/>
          <p:nvPr/>
        </p:nvCxnSpPr>
        <p:spPr>
          <a:xfrm>
            <a:off x="8645525" y="30924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49" name="正方形/長方形 322"/>
          <p:cNvSpPr>
            <a:spLocks noChangeArrowheads="1"/>
          </p:cNvSpPr>
          <p:nvPr/>
        </p:nvSpPr>
        <p:spPr bwMode="auto">
          <a:xfrm>
            <a:off x="8555039" y="3017838"/>
            <a:ext cx="504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10</a:t>
            </a:r>
            <a:endParaRPr lang="ja-JP" altLang="en-US" sz="1200"/>
          </a:p>
        </p:txBody>
      </p:sp>
      <p:cxnSp>
        <p:nvCxnSpPr>
          <p:cNvPr id="325" name="直線矢印コネクタ 324"/>
          <p:cNvCxnSpPr/>
          <p:nvPr/>
        </p:nvCxnSpPr>
        <p:spPr>
          <a:xfrm>
            <a:off x="8926513" y="30940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51" name="正方形/長方形 325"/>
          <p:cNvSpPr>
            <a:spLocks noChangeArrowheads="1"/>
          </p:cNvSpPr>
          <p:nvPr/>
        </p:nvSpPr>
        <p:spPr bwMode="auto">
          <a:xfrm>
            <a:off x="8837613" y="3019425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11</a:t>
            </a:r>
            <a:endParaRPr lang="ja-JP" altLang="en-US" sz="1200"/>
          </a:p>
        </p:txBody>
      </p:sp>
      <p:cxnSp>
        <p:nvCxnSpPr>
          <p:cNvPr id="328" name="直線矢印コネクタ 327"/>
          <p:cNvCxnSpPr/>
          <p:nvPr/>
        </p:nvCxnSpPr>
        <p:spPr>
          <a:xfrm>
            <a:off x="7608888" y="34798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53" name="正方形/長方形 328"/>
          <p:cNvSpPr>
            <a:spLocks noChangeArrowheads="1"/>
          </p:cNvSpPr>
          <p:nvPr/>
        </p:nvSpPr>
        <p:spPr bwMode="auto">
          <a:xfrm>
            <a:off x="7519989" y="3405189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12</a:t>
            </a:r>
            <a:endParaRPr lang="ja-JP" altLang="en-US" sz="1200"/>
          </a:p>
        </p:txBody>
      </p:sp>
      <p:sp>
        <p:nvSpPr>
          <p:cNvPr id="54354" name="円/楕円 330"/>
          <p:cNvSpPr>
            <a:spLocks noChangeArrowheads="1"/>
          </p:cNvSpPr>
          <p:nvPr/>
        </p:nvSpPr>
        <p:spPr bwMode="auto">
          <a:xfrm>
            <a:off x="7620000" y="29940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333" name="AutoShape 146"/>
          <p:cNvSpPr>
            <a:spLocks noChangeArrowheads="1"/>
          </p:cNvSpPr>
          <p:nvPr/>
        </p:nvSpPr>
        <p:spPr bwMode="auto">
          <a:xfrm>
            <a:off x="9448800" y="301307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4356" name="円/楕円 334"/>
          <p:cNvSpPr>
            <a:spLocks noChangeArrowheads="1"/>
          </p:cNvSpPr>
          <p:nvPr/>
        </p:nvSpPr>
        <p:spPr bwMode="auto">
          <a:xfrm>
            <a:off x="8437563" y="2609850"/>
            <a:ext cx="304800" cy="374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336" name="正方形/長方形 335"/>
          <p:cNvSpPr/>
          <p:nvPr/>
        </p:nvSpPr>
        <p:spPr>
          <a:xfrm>
            <a:off x="5105400" y="20986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文脈ベクトル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" name="正方形/長方形 336"/>
          <p:cNvSpPr/>
          <p:nvPr/>
        </p:nvSpPr>
        <p:spPr>
          <a:xfrm>
            <a:off x="7543800" y="209867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入力語ベクトル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59" name="Rectangle 37"/>
          <p:cNvSpPr>
            <a:spLocks noChangeArrowheads="1"/>
          </p:cNvSpPr>
          <p:nvPr/>
        </p:nvSpPr>
        <p:spPr bwMode="auto">
          <a:xfrm>
            <a:off x="9983788" y="2460625"/>
            <a:ext cx="1828800" cy="16192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cxnSp>
        <p:nvCxnSpPr>
          <p:cNvPr id="339" name="直線矢印コネクタ 338"/>
          <p:cNvCxnSpPr/>
          <p:nvPr/>
        </p:nvCxnSpPr>
        <p:spPr>
          <a:xfrm>
            <a:off x="10379075" y="2695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1" name="正方形/長方形 339"/>
          <p:cNvSpPr>
            <a:spLocks noChangeArrowheads="1"/>
          </p:cNvSpPr>
          <p:nvPr/>
        </p:nvSpPr>
        <p:spPr bwMode="auto">
          <a:xfrm>
            <a:off x="10288589" y="2620964"/>
            <a:ext cx="388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341" name="直線矢印コネクタ 340"/>
          <p:cNvCxnSpPr/>
          <p:nvPr/>
        </p:nvCxnSpPr>
        <p:spPr>
          <a:xfrm>
            <a:off x="10633075" y="2692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3" name="正方形/長方形 341"/>
          <p:cNvSpPr>
            <a:spLocks noChangeArrowheads="1"/>
          </p:cNvSpPr>
          <p:nvPr/>
        </p:nvSpPr>
        <p:spPr bwMode="auto">
          <a:xfrm>
            <a:off x="10542589" y="2617789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cxnSp>
        <p:nvCxnSpPr>
          <p:cNvPr id="343" name="直線矢印コネクタ 342"/>
          <p:cNvCxnSpPr/>
          <p:nvPr/>
        </p:nvCxnSpPr>
        <p:spPr>
          <a:xfrm>
            <a:off x="12403138" y="269081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5" name="正方形/長方形 343"/>
          <p:cNvSpPr>
            <a:spLocks noChangeArrowheads="1"/>
          </p:cNvSpPr>
          <p:nvPr/>
        </p:nvSpPr>
        <p:spPr bwMode="auto">
          <a:xfrm>
            <a:off x="12312650" y="2616200"/>
            <a:ext cx="388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345" name="直線矢印コネクタ 344"/>
          <p:cNvCxnSpPr/>
          <p:nvPr/>
        </p:nvCxnSpPr>
        <p:spPr>
          <a:xfrm>
            <a:off x="12657138" y="26876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7" name="正方形/長方形 345"/>
          <p:cNvSpPr>
            <a:spLocks noChangeArrowheads="1"/>
          </p:cNvSpPr>
          <p:nvPr/>
        </p:nvSpPr>
        <p:spPr bwMode="auto">
          <a:xfrm>
            <a:off x="12566650" y="261302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4</a:t>
            </a:r>
            <a:endParaRPr lang="ja-JP" altLang="en-US" sz="1200"/>
          </a:p>
        </p:txBody>
      </p:sp>
      <p:cxnSp>
        <p:nvCxnSpPr>
          <p:cNvPr id="347" name="直線矢印コネクタ 346"/>
          <p:cNvCxnSpPr/>
          <p:nvPr/>
        </p:nvCxnSpPr>
        <p:spPr>
          <a:xfrm>
            <a:off x="10379075" y="3462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69" name="正方形/長方形 347"/>
          <p:cNvSpPr>
            <a:spLocks noChangeArrowheads="1"/>
          </p:cNvSpPr>
          <p:nvPr/>
        </p:nvSpPr>
        <p:spPr bwMode="auto">
          <a:xfrm>
            <a:off x="10288589" y="338772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13</a:t>
            </a:r>
            <a:endParaRPr lang="ja-JP" altLang="en-US" sz="1200"/>
          </a:p>
        </p:txBody>
      </p:sp>
      <p:cxnSp>
        <p:nvCxnSpPr>
          <p:cNvPr id="349" name="直線矢印コネクタ 348"/>
          <p:cNvCxnSpPr/>
          <p:nvPr/>
        </p:nvCxnSpPr>
        <p:spPr>
          <a:xfrm>
            <a:off x="10633075" y="34591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1" name="正方形/長方形 349"/>
          <p:cNvSpPr>
            <a:spLocks noChangeArrowheads="1"/>
          </p:cNvSpPr>
          <p:nvPr/>
        </p:nvSpPr>
        <p:spPr bwMode="auto">
          <a:xfrm>
            <a:off x="10542589" y="3384550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14</a:t>
            </a:r>
            <a:endParaRPr lang="ja-JP" altLang="en-US" sz="1200"/>
          </a:p>
        </p:txBody>
      </p:sp>
      <p:cxnSp>
        <p:nvCxnSpPr>
          <p:cNvPr id="351" name="直線矢印コネクタ 350"/>
          <p:cNvCxnSpPr/>
          <p:nvPr/>
        </p:nvCxnSpPr>
        <p:spPr>
          <a:xfrm>
            <a:off x="12403138" y="3457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3" name="正方形/長方形 351"/>
          <p:cNvSpPr>
            <a:spLocks noChangeArrowheads="1"/>
          </p:cNvSpPr>
          <p:nvPr/>
        </p:nvSpPr>
        <p:spPr bwMode="auto">
          <a:xfrm>
            <a:off x="12312650" y="3382964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15</a:t>
            </a:r>
            <a:endParaRPr lang="ja-JP" altLang="en-US" sz="1200"/>
          </a:p>
        </p:txBody>
      </p:sp>
      <p:cxnSp>
        <p:nvCxnSpPr>
          <p:cNvPr id="353" name="直線矢印コネクタ 352"/>
          <p:cNvCxnSpPr/>
          <p:nvPr/>
        </p:nvCxnSpPr>
        <p:spPr>
          <a:xfrm>
            <a:off x="12657138" y="3454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5" name="正方形/長方形 353"/>
          <p:cNvSpPr>
            <a:spLocks noChangeArrowheads="1"/>
          </p:cNvSpPr>
          <p:nvPr/>
        </p:nvSpPr>
        <p:spPr bwMode="auto">
          <a:xfrm>
            <a:off x="12566650" y="3379789"/>
            <a:ext cx="44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16</a:t>
            </a:r>
            <a:endParaRPr lang="ja-JP" altLang="en-US" sz="1200"/>
          </a:p>
        </p:txBody>
      </p:sp>
      <p:sp>
        <p:nvSpPr>
          <p:cNvPr id="54376" name="正方形/長方形 354"/>
          <p:cNvSpPr>
            <a:spLocks noChangeArrowheads="1"/>
          </p:cNvSpPr>
          <p:nvPr/>
        </p:nvSpPr>
        <p:spPr bwMode="auto">
          <a:xfrm>
            <a:off x="12920663" y="337502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endParaRPr lang="en-US" altLang="ja-JP" sz="900">
              <a:latin typeface="Times New Roman" charset="0"/>
            </a:endParaRPr>
          </a:p>
        </p:txBody>
      </p:sp>
      <p:cxnSp>
        <p:nvCxnSpPr>
          <p:cNvPr id="357" name="直線矢印コネクタ 356"/>
          <p:cNvCxnSpPr/>
          <p:nvPr/>
        </p:nvCxnSpPr>
        <p:spPr>
          <a:xfrm>
            <a:off x="12912725" y="26939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78" name="正方形/長方形 357"/>
          <p:cNvSpPr>
            <a:spLocks noChangeArrowheads="1"/>
          </p:cNvSpPr>
          <p:nvPr/>
        </p:nvSpPr>
        <p:spPr bwMode="auto">
          <a:xfrm>
            <a:off x="12822238" y="261937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359" name="直線矢印コネクタ 358"/>
          <p:cNvCxnSpPr/>
          <p:nvPr/>
        </p:nvCxnSpPr>
        <p:spPr>
          <a:xfrm>
            <a:off x="10072688" y="308451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0" name="正方形/長方形 359"/>
          <p:cNvSpPr>
            <a:spLocks noChangeArrowheads="1"/>
          </p:cNvSpPr>
          <p:nvPr/>
        </p:nvSpPr>
        <p:spPr bwMode="auto">
          <a:xfrm>
            <a:off x="9982201" y="3009900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cxnSp>
        <p:nvCxnSpPr>
          <p:cNvPr id="361" name="直線矢印コネクタ 360"/>
          <p:cNvCxnSpPr/>
          <p:nvPr/>
        </p:nvCxnSpPr>
        <p:spPr>
          <a:xfrm>
            <a:off x="10326688" y="3081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2" name="正方形/長方形 361"/>
          <p:cNvSpPr>
            <a:spLocks noChangeArrowheads="1"/>
          </p:cNvSpPr>
          <p:nvPr/>
        </p:nvSpPr>
        <p:spPr bwMode="auto">
          <a:xfrm>
            <a:off x="10236201" y="3008313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363" name="直線矢印コネクタ 362"/>
          <p:cNvCxnSpPr/>
          <p:nvPr/>
        </p:nvCxnSpPr>
        <p:spPr>
          <a:xfrm>
            <a:off x="10572750" y="307975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4" name="正方形/長方形 363"/>
          <p:cNvSpPr>
            <a:spLocks noChangeArrowheads="1"/>
          </p:cNvSpPr>
          <p:nvPr/>
        </p:nvSpPr>
        <p:spPr bwMode="auto">
          <a:xfrm>
            <a:off x="10482264" y="3006725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365" name="直線矢印コネクタ 364"/>
          <p:cNvCxnSpPr/>
          <p:nvPr/>
        </p:nvCxnSpPr>
        <p:spPr>
          <a:xfrm>
            <a:off x="12350750" y="30781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6" name="正方形/長方形 365"/>
          <p:cNvSpPr>
            <a:spLocks noChangeArrowheads="1"/>
          </p:cNvSpPr>
          <p:nvPr/>
        </p:nvSpPr>
        <p:spPr bwMode="auto">
          <a:xfrm>
            <a:off x="12260263" y="3003550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9</a:t>
            </a:r>
            <a:endParaRPr lang="ja-JP" altLang="en-US" sz="1200"/>
          </a:p>
        </p:txBody>
      </p:sp>
      <p:cxnSp>
        <p:nvCxnSpPr>
          <p:cNvPr id="367" name="直線矢印コネクタ 366"/>
          <p:cNvCxnSpPr/>
          <p:nvPr/>
        </p:nvCxnSpPr>
        <p:spPr>
          <a:xfrm>
            <a:off x="12609513" y="30734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88" name="正方形/長方形 367"/>
          <p:cNvSpPr>
            <a:spLocks noChangeArrowheads="1"/>
          </p:cNvSpPr>
          <p:nvPr/>
        </p:nvSpPr>
        <p:spPr bwMode="auto">
          <a:xfrm>
            <a:off x="12519025" y="300037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10</a:t>
            </a:r>
            <a:endParaRPr lang="ja-JP" altLang="en-US" sz="1200"/>
          </a:p>
        </p:txBody>
      </p:sp>
      <p:cxnSp>
        <p:nvCxnSpPr>
          <p:cNvPr id="369" name="直線矢印コネクタ 368"/>
          <p:cNvCxnSpPr/>
          <p:nvPr/>
        </p:nvCxnSpPr>
        <p:spPr>
          <a:xfrm>
            <a:off x="12890500" y="30765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90" name="正方形/長方形 369"/>
          <p:cNvSpPr>
            <a:spLocks noChangeArrowheads="1"/>
          </p:cNvSpPr>
          <p:nvPr/>
        </p:nvSpPr>
        <p:spPr bwMode="auto">
          <a:xfrm>
            <a:off x="12800013" y="3001963"/>
            <a:ext cx="438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11</a:t>
            </a:r>
            <a:endParaRPr lang="ja-JP" altLang="en-US" sz="1200"/>
          </a:p>
        </p:txBody>
      </p:sp>
      <p:cxnSp>
        <p:nvCxnSpPr>
          <p:cNvPr id="371" name="直線矢印コネクタ 370"/>
          <p:cNvCxnSpPr/>
          <p:nvPr/>
        </p:nvCxnSpPr>
        <p:spPr>
          <a:xfrm>
            <a:off x="10115550" y="34623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92" name="正方形/長方形 371"/>
          <p:cNvSpPr>
            <a:spLocks noChangeArrowheads="1"/>
          </p:cNvSpPr>
          <p:nvPr/>
        </p:nvSpPr>
        <p:spPr bwMode="auto">
          <a:xfrm>
            <a:off x="10025064" y="3387725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12</a:t>
            </a:r>
            <a:endParaRPr lang="ja-JP" altLang="en-US"/>
          </a:p>
        </p:txBody>
      </p:sp>
      <p:sp>
        <p:nvSpPr>
          <p:cNvPr id="374" name="AutoShape 146"/>
          <p:cNvSpPr>
            <a:spLocks noChangeArrowheads="1"/>
          </p:cNvSpPr>
          <p:nvPr/>
        </p:nvSpPr>
        <p:spPr bwMode="auto">
          <a:xfrm>
            <a:off x="13411200" y="2994025"/>
            <a:ext cx="457200" cy="6096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376" name="正方形/長方形 375"/>
          <p:cNvSpPr/>
          <p:nvPr/>
        </p:nvSpPr>
        <p:spPr>
          <a:xfrm>
            <a:off x="9982200" y="2079626"/>
            <a:ext cx="1830388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ja-JP" sz="1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概念ベクトル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395" name="テキスト ボックス 376"/>
          <p:cNvSpPr txBox="1">
            <a:spLocks noChangeArrowheads="1"/>
          </p:cNvSpPr>
          <p:nvPr/>
        </p:nvSpPr>
        <p:spPr bwMode="auto">
          <a:xfrm>
            <a:off x="8593138" y="1524000"/>
            <a:ext cx="2151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4. </a:t>
            </a:r>
            <a:r>
              <a:rPr lang="ja-JP" altLang="en-US" sz="1600" b="1"/>
              <a:t>概念ベクトルの構築</a:t>
            </a:r>
            <a:endParaRPr lang="en-US" altLang="ja-JP" sz="1600" b="1"/>
          </a:p>
        </p:txBody>
      </p:sp>
      <p:sp>
        <p:nvSpPr>
          <p:cNvPr id="54396" name="円/楕円 377"/>
          <p:cNvSpPr>
            <a:spLocks noChangeArrowheads="1"/>
          </p:cNvSpPr>
          <p:nvPr/>
        </p:nvSpPr>
        <p:spPr bwMode="auto">
          <a:xfrm>
            <a:off x="5915025" y="29940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97" name="円/楕円 378"/>
          <p:cNvSpPr>
            <a:spLocks noChangeArrowheads="1"/>
          </p:cNvSpPr>
          <p:nvPr/>
        </p:nvSpPr>
        <p:spPr bwMode="auto">
          <a:xfrm>
            <a:off x="5219700" y="3413125"/>
            <a:ext cx="304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en-US"/>
          </a:p>
        </p:txBody>
      </p:sp>
      <p:sp>
        <p:nvSpPr>
          <p:cNvPr id="54398" name="Rectangle 37"/>
          <p:cNvSpPr>
            <a:spLocks noChangeArrowheads="1"/>
          </p:cNvSpPr>
          <p:nvPr/>
        </p:nvSpPr>
        <p:spPr bwMode="auto">
          <a:xfrm>
            <a:off x="13944600" y="2460625"/>
            <a:ext cx="1828800" cy="16192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Ctr="1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sz="1200">
              <a:latin typeface="ＭＳ Ｐゴシック" charset="-128"/>
            </a:endParaRPr>
          </a:p>
        </p:txBody>
      </p:sp>
      <p:sp>
        <p:nvSpPr>
          <p:cNvPr id="54399" name="正方形/長方形 381"/>
          <p:cNvSpPr>
            <a:spLocks noChangeArrowheads="1"/>
          </p:cNvSpPr>
          <p:nvPr/>
        </p:nvSpPr>
        <p:spPr bwMode="auto">
          <a:xfrm>
            <a:off x="14400213" y="2555875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sp>
        <p:nvSpPr>
          <p:cNvPr id="54400" name="正方形/長方形 396"/>
          <p:cNvSpPr>
            <a:spLocks noChangeArrowheads="1"/>
          </p:cNvSpPr>
          <p:nvPr/>
        </p:nvSpPr>
        <p:spPr bwMode="auto">
          <a:xfrm>
            <a:off x="14611350" y="3470275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>
                <a:latin typeface="Times New Roman" charset="0"/>
              </a:rPr>
              <a:t>…</a:t>
            </a:r>
            <a:r>
              <a:rPr lang="en-US" altLang="ja-JP">
                <a:solidFill>
                  <a:srgbClr val="000000"/>
                </a:solidFill>
                <a:latin typeface="Times New Roman" charset="0"/>
              </a:rPr>
              <a:t> …</a:t>
            </a:r>
            <a:endParaRPr lang="en-US" altLang="ja-JP" sz="900">
              <a:latin typeface="Times New Roman" charset="0"/>
            </a:endParaRPr>
          </a:p>
        </p:txBody>
      </p:sp>
      <p:sp>
        <p:nvSpPr>
          <p:cNvPr id="414" name="正方形/長方形 413"/>
          <p:cNvSpPr/>
          <p:nvPr/>
        </p:nvSpPr>
        <p:spPr>
          <a:xfrm>
            <a:off x="13944600" y="2079626"/>
            <a:ext cx="1828800" cy="307975"/>
          </a:xfrm>
          <a:prstGeom prst="rect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4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ja-JP" sz="14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ja-JP" altLang="en-US" sz="1400" dirty="0">
                <a:latin typeface="Times New Roman" pitchFamily="18" charset="0"/>
                <a:cs typeface="Times New Roman" pitchFamily="18" charset="0"/>
              </a:rPr>
              <a:t>入力</a:t>
            </a:r>
            <a:r>
              <a:rPr lang="ja-JP" altLang="en-US" sz="1200" dirty="0">
                <a:latin typeface="Times New Roman" pitchFamily="18" charset="0"/>
                <a:cs typeface="Times New Roman" pitchFamily="18" charset="0"/>
              </a:rPr>
              <a:t>概念</a:t>
            </a:r>
            <a:endParaRPr lang="en-US" altLang="ja-JP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402" name="テキスト ボックス 414"/>
          <p:cNvSpPr txBox="1">
            <a:spLocks noChangeArrowheads="1"/>
          </p:cNvSpPr>
          <p:nvPr/>
        </p:nvSpPr>
        <p:spPr bwMode="auto">
          <a:xfrm>
            <a:off x="12420600" y="1524000"/>
            <a:ext cx="2481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600" b="1"/>
              <a:t>5. </a:t>
            </a:r>
            <a:r>
              <a:rPr lang="ja-JP" altLang="en-US" sz="1600" b="1"/>
              <a:t>文脈類似概念対の抽出</a:t>
            </a:r>
            <a:endParaRPr lang="en-US" altLang="ja-JP" sz="1600" b="1"/>
          </a:p>
        </p:txBody>
      </p:sp>
      <p:sp>
        <p:nvSpPr>
          <p:cNvPr id="54403" name="正方形/長方形 415"/>
          <p:cNvSpPr>
            <a:spLocks noChangeArrowheads="1"/>
          </p:cNvSpPr>
          <p:nvPr/>
        </p:nvSpPr>
        <p:spPr bwMode="auto">
          <a:xfrm>
            <a:off x="15001875" y="2555875"/>
            <a:ext cx="388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5</a:t>
            </a:r>
            <a:endParaRPr lang="ja-JP" altLang="en-US" sz="1200"/>
          </a:p>
        </p:txBody>
      </p:sp>
      <p:cxnSp>
        <p:nvCxnSpPr>
          <p:cNvPr id="420" name="直線コネクタ 419"/>
          <p:cNvCxnSpPr>
            <a:stCxn id="54399" idx="3"/>
            <a:endCxn id="54403" idx="1"/>
          </p:cNvCxnSpPr>
          <p:nvPr/>
        </p:nvCxnSpPr>
        <p:spPr>
          <a:xfrm>
            <a:off x="14790738" y="2740025"/>
            <a:ext cx="211137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05" name="正方形/長方形 420"/>
          <p:cNvSpPr>
            <a:spLocks noChangeArrowheads="1"/>
          </p:cNvSpPr>
          <p:nvPr/>
        </p:nvSpPr>
        <p:spPr bwMode="auto">
          <a:xfrm>
            <a:off x="14404975" y="2784475"/>
            <a:ext cx="39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sp>
        <p:nvSpPr>
          <p:cNvPr id="54406" name="正方形/長方形 421"/>
          <p:cNvSpPr>
            <a:spLocks noChangeArrowheads="1"/>
          </p:cNvSpPr>
          <p:nvPr/>
        </p:nvSpPr>
        <p:spPr bwMode="auto">
          <a:xfrm>
            <a:off x="15006638" y="2784475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423" name="直線コネクタ 422"/>
          <p:cNvCxnSpPr>
            <a:stCxn id="54405" idx="3"/>
            <a:endCxn id="54406" idx="1"/>
          </p:cNvCxnSpPr>
          <p:nvPr/>
        </p:nvCxnSpPr>
        <p:spPr>
          <a:xfrm>
            <a:off x="14795500" y="2968625"/>
            <a:ext cx="211138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08" name="正方形/長方形 423"/>
          <p:cNvSpPr>
            <a:spLocks noChangeArrowheads="1"/>
          </p:cNvSpPr>
          <p:nvPr/>
        </p:nvSpPr>
        <p:spPr bwMode="auto">
          <a:xfrm>
            <a:off x="14412913" y="3024189"/>
            <a:ext cx="39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sp>
        <p:nvSpPr>
          <p:cNvPr id="54409" name="正方形/長方形 424"/>
          <p:cNvSpPr>
            <a:spLocks noChangeArrowheads="1"/>
          </p:cNvSpPr>
          <p:nvPr/>
        </p:nvSpPr>
        <p:spPr bwMode="auto">
          <a:xfrm>
            <a:off x="15014575" y="3024189"/>
            <a:ext cx="388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7</a:t>
            </a:r>
            <a:endParaRPr lang="ja-JP" altLang="en-US" sz="1200"/>
          </a:p>
        </p:txBody>
      </p:sp>
      <p:cxnSp>
        <p:nvCxnSpPr>
          <p:cNvPr id="426" name="直線コネクタ 425"/>
          <p:cNvCxnSpPr>
            <a:stCxn id="54408" idx="3"/>
            <a:endCxn id="54409" idx="1"/>
          </p:cNvCxnSpPr>
          <p:nvPr/>
        </p:nvCxnSpPr>
        <p:spPr>
          <a:xfrm>
            <a:off x="14803438" y="3208339"/>
            <a:ext cx="211137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11" name="正方形/長方形 426"/>
          <p:cNvSpPr>
            <a:spLocks noChangeArrowheads="1"/>
          </p:cNvSpPr>
          <p:nvPr/>
        </p:nvSpPr>
        <p:spPr bwMode="auto">
          <a:xfrm>
            <a:off x="14420850" y="3248025"/>
            <a:ext cx="390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2</a:t>
            </a:r>
            <a:endParaRPr lang="ja-JP" altLang="en-US" sz="1200"/>
          </a:p>
        </p:txBody>
      </p:sp>
      <p:sp>
        <p:nvSpPr>
          <p:cNvPr id="54412" name="正方形/長方形 427"/>
          <p:cNvSpPr>
            <a:spLocks noChangeArrowheads="1"/>
          </p:cNvSpPr>
          <p:nvPr/>
        </p:nvSpPr>
        <p:spPr bwMode="auto">
          <a:xfrm>
            <a:off x="15022513" y="3248025"/>
            <a:ext cx="388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8</a:t>
            </a:r>
            <a:endParaRPr lang="ja-JP" altLang="en-US" sz="1200"/>
          </a:p>
        </p:txBody>
      </p:sp>
      <p:cxnSp>
        <p:nvCxnSpPr>
          <p:cNvPr id="429" name="直線コネクタ 428"/>
          <p:cNvCxnSpPr>
            <a:stCxn id="54411" idx="3"/>
            <a:endCxn id="54412" idx="1"/>
          </p:cNvCxnSpPr>
          <p:nvPr/>
        </p:nvCxnSpPr>
        <p:spPr>
          <a:xfrm>
            <a:off x="14811375" y="3433764"/>
            <a:ext cx="211138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線矢印コネクタ 431"/>
          <p:cNvCxnSpPr/>
          <p:nvPr/>
        </p:nvCxnSpPr>
        <p:spPr>
          <a:xfrm>
            <a:off x="5181600" y="21748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線矢印コネクタ 433"/>
          <p:cNvCxnSpPr/>
          <p:nvPr/>
        </p:nvCxnSpPr>
        <p:spPr>
          <a:xfrm>
            <a:off x="7620000" y="21542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直線矢印コネクタ 434"/>
          <p:cNvCxnSpPr/>
          <p:nvPr/>
        </p:nvCxnSpPr>
        <p:spPr>
          <a:xfrm>
            <a:off x="10058400" y="214312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417" name="グループ化 435"/>
          <p:cNvGrpSpPr>
            <a:grpSpLocks/>
          </p:cNvGrpSpPr>
          <p:nvPr/>
        </p:nvGrpSpPr>
        <p:grpSpPr bwMode="auto">
          <a:xfrm>
            <a:off x="7207251" y="4394200"/>
            <a:ext cx="403225" cy="368300"/>
            <a:chOff x="4377075" y="3244334"/>
            <a:chExt cx="402674" cy="369332"/>
          </a:xfrm>
        </p:grpSpPr>
        <p:cxnSp>
          <p:nvCxnSpPr>
            <p:cNvPr id="437" name="直線矢印コネクタ 436"/>
            <p:cNvCxnSpPr/>
            <p:nvPr/>
          </p:nvCxnSpPr>
          <p:spPr>
            <a:xfrm>
              <a:off x="4467439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61" name="正方形/長方形 437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</a:t>
              </a:r>
              <a:endParaRPr lang="ja-JP" altLang="en-US" sz="1200"/>
            </a:p>
          </p:txBody>
        </p:sp>
      </p:grpSp>
      <p:grpSp>
        <p:nvGrpSpPr>
          <p:cNvPr id="54418" name="グループ化 438"/>
          <p:cNvGrpSpPr>
            <a:grpSpLocks/>
          </p:cNvGrpSpPr>
          <p:nvPr/>
        </p:nvGrpSpPr>
        <p:grpSpPr bwMode="auto">
          <a:xfrm>
            <a:off x="7740651" y="4394200"/>
            <a:ext cx="403225" cy="368300"/>
            <a:chOff x="4377075" y="3244334"/>
            <a:chExt cx="402674" cy="369332"/>
          </a:xfrm>
        </p:grpSpPr>
        <p:cxnSp>
          <p:nvCxnSpPr>
            <p:cNvPr id="440" name="直線矢印コネクタ 439"/>
            <p:cNvCxnSpPr/>
            <p:nvPr/>
          </p:nvCxnSpPr>
          <p:spPr>
            <a:xfrm>
              <a:off x="4467439" y="3352586"/>
              <a:ext cx="228288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59" name="正方形/長方形 440"/>
            <p:cNvSpPr>
              <a:spLocks noChangeArrowheads="1"/>
            </p:cNvSpPr>
            <p:nvPr/>
          </p:nvSpPr>
          <p:spPr bwMode="auto">
            <a:xfrm>
              <a:off x="4377075" y="32443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9</a:t>
              </a:r>
              <a:endParaRPr lang="ja-JP" altLang="en-US" sz="1200"/>
            </a:p>
          </p:txBody>
        </p:sp>
      </p:grpSp>
      <p:grpSp>
        <p:nvGrpSpPr>
          <p:cNvPr id="54419" name="グループ化 441"/>
          <p:cNvGrpSpPr>
            <a:grpSpLocks/>
          </p:cNvGrpSpPr>
          <p:nvPr/>
        </p:nvGrpSpPr>
        <p:grpSpPr bwMode="auto">
          <a:xfrm>
            <a:off x="8274051" y="4394200"/>
            <a:ext cx="454025" cy="368300"/>
            <a:chOff x="4377075" y="3244334"/>
            <a:chExt cx="453970" cy="369332"/>
          </a:xfrm>
        </p:grpSpPr>
        <p:cxnSp>
          <p:nvCxnSpPr>
            <p:cNvPr id="443" name="直線矢印コネクタ 442"/>
            <p:cNvCxnSpPr/>
            <p:nvPr/>
          </p:nvCxnSpPr>
          <p:spPr>
            <a:xfrm>
              <a:off x="4467552" y="3352586"/>
              <a:ext cx="228572" cy="15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57" name="正方形/長方形 443"/>
            <p:cNvSpPr>
              <a:spLocks noChangeArrowheads="1"/>
            </p:cNvSpPr>
            <p:nvPr/>
          </p:nvSpPr>
          <p:spPr bwMode="auto">
            <a:xfrm>
              <a:off x="4377075" y="3244334"/>
              <a:ext cx="4539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>
                  <a:latin typeface="Times New Roman" charset="0"/>
                </a:rPr>
                <a:t>w</a:t>
              </a:r>
              <a:r>
                <a:rPr lang="en-US" altLang="ja-JP" sz="1200" baseline="-25000">
                  <a:latin typeface="Times New Roman" charset="0"/>
                </a:rPr>
                <a:t>12</a:t>
              </a:r>
              <a:endParaRPr lang="ja-JP" altLang="en-US" sz="1200"/>
            </a:p>
          </p:txBody>
        </p:sp>
      </p:grpSp>
      <p:sp>
        <p:nvSpPr>
          <p:cNvPr id="54420" name="正方形/長方形 444"/>
          <p:cNvSpPr>
            <a:spLocks noChangeArrowheads="1"/>
          </p:cNvSpPr>
          <p:nvPr/>
        </p:nvSpPr>
        <p:spPr bwMode="auto">
          <a:xfrm>
            <a:off x="6670675" y="4394200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446" name="直線矢印コネクタ 445"/>
          <p:cNvCxnSpPr/>
          <p:nvPr/>
        </p:nvCxnSpPr>
        <p:spPr>
          <a:xfrm>
            <a:off x="6697663" y="44465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22" name="テキスト ボックス 446"/>
          <p:cNvSpPr txBox="1">
            <a:spLocks noChangeArrowheads="1"/>
          </p:cNvSpPr>
          <p:nvPr/>
        </p:nvSpPr>
        <p:spPr bwMode="auto">
          <a:xfrm>
            <a:off x="6975475" y="4384675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</a:t>
            </a:r>
            <a:endParaRPr lang="ja-JP" altLang="en-US"/>
          </a:p>
        </p:txBody>
      </p:sp>
      <p:sp>
        <p:nvSpPr>
          <p:cNvPr id="54423" name="テキスト ボックス 447"/>
          <p:cNvSpPr txBox="1">
            <a:spLocks noChangeArrowheads="1"/>
          </p:cNvSpPr>
          <p:nvPr/>
        </p:nvSpPr>
        <p:spPr bwMode="auto">
          <a:xfrm>
            <a:off x="7508875" y="4394200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24" name="テキスト ボックス 448"/>
          <p:cNvSpPr txBox="1">
            <a:spLocks noChangeArrowheads="1"/>
          </p:cNvSpPr>
          <p:nvPr/>
        </p:nvSpPr>
        <p:spPr bwMode="auto">
          <a:xfrm>
            <a:off x="8042275" y="4394200"/>
            <a:ext cx="319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25" name="テキスト ボックス 449"/>
          <p:cNvSpPr txBox="1">
            <a:spLocks noChangeArrowheads="1"/>
          </p:cNvSpPr>
          <p:nvPr/>
        </p:nvSpPr>
        <p:spPr bwMode="auto">
          <a:xfrm>
            <a:off x="8637588" y="4394200"/>
            <a:ext cx="665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r>
              <a:rPr lang="ja-JP" altLang="en-US"/>
              <a:t>・・・</a:t>
            </a:r>
          </a:p>
        </p:txBody>
      </p:sp>
      <p:sp>
        <p:nvSpPr>
          <p:cNvPr id="451" name="左中かっこ 450"/>
          <p:cNvSpPr/>
          <p:nvPr/>
        </p:nvSpPr>
        <p:spPr>
          <a:xfrm rot="16200000">
            <a:off x="8080375" y="3810000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27" name="テキスト ボックス 451"/>
          <p:cNvSpPr txBox="1">
            <a:spLocks noChangeArrowheads="1"/>
          </p:cNvSpPr>
          <p:nvPr/>
        </p:nvSpPr>
        <p:spPr bwMode="auto">
          <a:xfrm>
            <a:off x="7388225" y="4962526"/>
            <a:ext cx="1746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同一入力語における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文脈ベクトルの和</a:t>
            </a:r>
            <a:endParaRPr lang="en-US" altLang="ja-JP" sz="1400"/>
          </a:p>
        </p:txBody>
      </p:sp>
      <p:sp>
        <p:nvSpPr>
          <p:cNvPr id="453" name="左中かっこ 452"/>
          <p:cNvSpPr/>
          <p:nvPr/>
        </p:nvSpPr>
        <p:spPr>
          <a:xfrm rot="16200000">
            <a:off x="6727825" y="4629150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29" name="テキスト ボックス 453"/>
          <p:cNvSpPr txBox="1">
            <a:spLocks noChangeArrowheads="1"/>
          </p:cNvSpPr>
          <p:nvPr/>
        </p:nvSpPr>
        <p:spPr bwMode="auto">
          <a:xfrm>
            <a:off x="6442075" y="4914901"/>
            <a:ext cx="795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入力語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cxnSp>
        <p:nvCxnSpPr>
          <p:cNvPr id="456" name="直線矢印コネクタ 455"/>
          <p:cNvCxnSpPr/>
          <p:nvPr/>
        </p:nvCxnSpPr>
        <p:spPr>
          <a:xfrm>
            <a:off x="10193338" y="45037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1" name="正方形/長方形 456"/>
          <p:cNvSpPr>
            <a:spLocks noChangeArrowheads="1"/>
          </p:cNvSpPr>
          <p:nvPr/>
        </p:nvSpPr>
        <p:spPr bwMode="auto">
          <a:xfrm>
            <a:off x="10102851" y="4432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3</a:t>
            </a:r>
            <a:endParaRPr lang="ja-JP" altLang="en-US" sz="1200"/>
          </a:p>
        </p:txBody>
      </p:sp>
      <p:cxnSp>
        <p:nvCxnSpPr>
          <p:cNvPr id="459" name="直線矢印コネクタ 458"/>
          <p:cNvCxnSpPr/>
          <p:nvPr/>
        </p:nvCxnSpPr>
        <p:spPr>
          <a:xfrm>
            <a:off x="12250738" y="450373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3" name="正方形/長方形 459"/>
          <p:cNvSpPr>
            <a:spLocks noChangeArrowheads="1"/>
          </p:cNvSpPr>
          <p:nvPr/>
        </p:nvSpPr>
        <p:spPr bwMode="auto">
          <a:xfrm>
            <a:off x="10636251" y="44323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6</a:t>
            </a:r>
            <a:endParaRPr lang="ja-JP" altLang="en-US" sz="1200"/>
          </a:p>
        </p:txBody>
      </p:sp>
      <p:sp>
        <p:nvSpPr>
          <p:cNvPr id="54434" name="正方形/長方形 463"/>
          <p:cNvSpPr>
            <a:spLocks noChangeArrowheads="1"/>
          </p:cNvSpPr>
          <p:nvPr/>
        </p:nvSpPr>
        <p:spPr bwMode="auto">
          <a:xfrm>
            <a:off x="9566275" y="4432300"/>
            <a:ext cx="368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C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465" name="直線矢印コネクタ 464"/>
          <p:cNvCxnSpPr/>
          <p:nvPr/>
        </p:nvCxnSpPr>
        <p:spPr>
          <a:xfrm>
            <a:off x="9671050" y="4486275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36" name="テキスト ボックス 465"/>
          <p:cNvSpPr txBox="1">
            <a:spLocks noChangeArrowheads="1"/>
          </p:cNvSpPr>
          <p:nvPr/>
        </p:nvSpPr>
        <p:spPr bwMode="auto">
          <a:xfrm>
            <a:off x="9871075" y="4422775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</a:t>
            </a:r>
            <a:endParaRPr lang="ja-JP" altLang="en-US"/>
          </a:p>
        </p:txBody>
      </p:sp>
      <p:sp>
        <p:nvSpPr>
          <p:cNvPr id="54437" name="テキスト ボックス 466"/>
          <p:cNvSpPr txBox="1">
            <a:spLocks noChangeArrowheads="1"/>
          </p:cNvSpPr>
          <p:nvPr/>
        </p:nvSpPr>
        <p:spPr bwMode="auto">
          <a:xfrm>
            <a:off x="10404475" y="44323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endParaRPr lang="ja-JP" altLang="en-US"/>
          </a:p>
        </p:txBody>
      </p:sp>
      <p:sp>
        <p:nvSpPr>
          <p:cNvPr id="54438" name="テキスト ボックス 468"/>
          <p:cNvSpPr txBox="1">
            <a:spLocks noChangeArrowheads="1"/>
          </p:cNvSpPr>
          <p:nvPr/>
        </p:nvSpPr>
        <p:spPr bwMode="auto">
          <a:xfrm>
            <a:off x="12538075" y="4432300"/>
            <a:ext cx="665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+</a:t>
            </a:r>
            <a:r>
              <a:rPr lang="ja-JP" altLang="en-US"/>
              <a:t>・・・</a:t>
            </a:r>
          </a:p>
        </p:txBody>
      </p:sp>
      <p:sp>
        <p:nvSpPr>
          <p:cNvPr id="470" name="左中かっこ 469"/>
          <p:cNvSpPr/>
          <p:nvPr/>
        </p:nvSpPr>
        <p:spPr>
          <a:xfrm rot="16200000">
            <a:off x="10975975" y="3849688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0" name="テキスト ボックス 470"/>
          <p:cNvSpPr txBox="1">
            <a:spLocks noChangeArrowheads="1"/>
          </p:cNvSpPr>
          <p:nvPr/>
        </p:nvSpPr>
        <p:spPr bwMode="auto">
          <a:xfrm>
            <a:off x="10099676" y="5002214"/>
            <a:ext cx="2397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入力概念</a:t>
            </a:r>
            <a:r>
              <a:rPr lang="en-US" altLang="ja-JP" sz="1400">
                <a:latin typeface="Times New Roman" charset="0"/>
              </a:rPr>
              <a:t>C</a:t>
            </a:r>
            <a:r>
              <a:rPr lang="en-US" altLang="ja-JP" sz="1400" baseline="-25000">
                <a:latin typeface="Times New Roman" charset="0"/>
              </a:rPr>
              <a:t>i</a:t>
            </a:r>
            <a:r>
              <a:rPr lang="ja-JP" altLang="en-US" sz="1400"/>
              <a:t>の見出しにおける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入力語ベクトルの和</a:t>
            </a:r>
            <a:endParaRPr lang="en-US" altLang="ja-JP" sz="1400"/>
          </a:p>
        </p:txBody>
      </p:sp>
      <p:sp>
        <p:nvSpPr>
          <p:cNvPr id="472" name="左中かっこ 471"/>
          <p:cNvSpPr/>
          <p:nvPr/>
        </p:nvSpPr>
        <p:spPr>
          <a:xfrm rot="16200000">
            <a:off x="9623425" y="4668838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2" name="テキスト ボックス 472"/>
          <p:cNvSpPr txBox="1">
            <a:spLocks noChangeArrowheads="1"/>
          </p:cNvSpPr>
          <p:nvPr/>
        </p:nvSpPr>
        <p:spPr bwMode="auto">
          <a:xfrm>
            <a:off x="9337675" y="4954589"/>
            <a:ext cx="825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概念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sp>
        <p:nvSpPr>
          <p:cNvPr id="54443" name="正方形/長方形 482"/>
          <p:cNvSpPr>
            <a:spLocks noChangeArrowheads="1"/>
          </p:cNvSpPr>
          <p:nvPr/>
        </p:nvSpPr>
        <p:spPr bwMode="auto">
          <a:xfrm>
            <a:off x="3241676" y="4394200"/>
            <a:ext cx="403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1</a:t>
            </a:r>
            <a:endParaRPr lang="ja-JP" altLang="en-US" sz="1200"/>
          </a:p>
        </p:txBody>
      </p:sp>
      <p:cxnSp>
        <p:nvCxnSpPr>
          <p:cNvPr id="484" name="直線矢印コネクタ 483"/>
          <p:cNvCxnSpPr/>
          <p:nvPr/>
        </p:nvCxnSpPr>
        <p:spPr>
          <a:xfrm>
            <a:off x="3268663" y="4446589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45" name="テキスト ボックス 484"/>
          <p:cNvSpPr txBox="1">
            <a:spLocks noChangeArrowheads="1"/>
          </p:cNvSpPr>
          <p:nvPr/>
        </p:nvSpPr>
        <p:spPr bwMode="auto">
          <a:xfrm>
            <a:off x="3546476" y="4384675"/>
            <a:ext cx="25574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= </a:t>
            </a:r>
            <a:r>
              <a:rPr lang="en-US" altLang="ja-JP">
                <a:latin typeface="Times New Roman" charset="0"/>
              </a:rPr>
              <a:t>(3, 1, 1, 1, 2, 0, 0, 1,…)</a:t>
            </a:r>
            <a:endParaRPr lang="ja-JP" altLang="en-US">
              <a:latin typeface="Times New Roman" charset="0"/>
            </a:endParaRPr>
          </a:p>
        </p:txBody>
      </p:sp>
      <p:sp>
        <p:nvSpPr>
          <p:cNvPr id="491" name="左中かっこ 490"/>
          <p:cNvSpPr/>
          <p:nvPr/>
        </p:nvSpPr>
        <p:spPr>
          <a:xfrm rot="16200000">
            <a:off x="3298825" y="4629150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47" name="テキスト ボックス 491"/>
          <p:cNvSpPr txBox="1">
            <a:spLocks noChangeArrowheads="1"/>
          </p:cNvSpPr>
          <p:nvPr/>
        </p:nvSpPr>
        <p:spPr bwMode="auto">
          <a:xfrm>
            <a:off x="3013075" y="4914901"/>
            <a:ext cx="795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文脈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ベクトル</a:t>
            </a:r>
            <a:endParaRPr lang="en-US" altLang="ja-JP" sz="1400"/>
          </a:p>
        </p:txBody>
      </p:sp>
      <p:sp>
        <p:nvSpPr>
          <p:cNvPr id="54448" name="テキスト ボックス 492"/>
          <p:cNvSpPr txBox="1">
            <a:spLocks noChangeArrowheads="1"/>
          </p:cNvSpPr>
          <p:nvPr/>
        </p:nvSpPr>
        <p:spPr bwMode="auto">
          <a:xfrm>
            <a:off x="3836989" y="4603750"/>
            <a:ext cx="22240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Times New Roman" charset="0"/>
              </a:rPr>
              <a:t>g</a:t>
            </a:r>
            <a:r>
              <a:rPr lang="en-US" altLang="ja-JP" sz="1600" baseline="-25000">
                <a:latin typeface="Times New Roman" charset="0"/>
              </a:rPr>
              <a:t>1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2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3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4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5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6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7</a:t>
            </a:r>
            <a:r>
              <a:rPr lang="en-US" altLang="ja-JP" sz="1600">
                <a:latin typeface="Times New Roman" charset="0"/>
              </a:rPr>
              <a:t> g</a:t>
            </a:r>
            <a:r>
              <a:rPr lang="en-US" altLang="ja-JP" sz="1600" baseline="-25000">
                <a:latin typeface="Times New Roman" charset="0"/>
              </a:rPr>
              <a:t>8</a:t>
            </a:r>
            <a:r>
              <a:rPr lang="en-US" altLang="ja-JP" sz="1600">
                <a:latin typeface="Times New Roman" charset="0"/>
              </a:rPr>
              <a:t> …</a:t>
            </a:r>
            <a:endParaRPr lang="ja-JP" altLang="en-US" sz="1600">
              <a:latin typeface="Times New Roman" charset="0"/>
            </a:endParaRPr>
          </a:p>
        </p:txBody>
      </p:sp>
      <p:sp>
        <p:nvSpPr>
          <p:cNvPr id="497" name="左中かっこ 496"/>
          <p:cNvSpPr/>
          <p:nvPr/>
        </p:nvSpPr>
        <p:spPr>
          <a:xfrm rot="16200000">
            <a:off x="4727575" y="3962400"/>
            <a:ext cx="304800" cy="2057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50" name="テキスト ボックス 497"/>
          <p:cNvSpPr txBox="1">
            <a:spLocks noChangeArrowheads="1"/>
          </p:cNvSpPr>
          <p:nvPr/>
        </p:nvSpPr>
        <p:spPr bwMode="auto">
          <a:xfrm>
            <a:off x="3794125" y="5114926"/>
            <a:ext cx="270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の要素</a:t>
            </a:r>
            <a:r>
              <a:rPr lang="en-US" altLang="ja-JP" sz="1400">
                <a:latin typeface="Times New Roman" charset="0"/>
              </a:rPr>
              <a:t>a</a:t>
            </a:r>
            <a:r>
              <a:rPr lang="en-US" altLang="ja-JP" sz="1400" baseline="-25000">
                <a:latin typeface="Times New Roman" charset="0"/>
              </a:rPr>
              <a:t>i,j</a:t>
            </a:r>
            <a:r>
              <a:rPr lang="ja-JP" altLang="en-US" sz="1400"/>
              <a:t>は，入力語</a:t>
            </a:r>
            <a:r>
              <a:rPr lang="en-US" altLang="ja-JP" sz="1400">
                <a:latin typeface="Times New Roman" charset="0"/>
              </a:rPr>
              <a:t>w</a:t>
            </a:r>
            <a:r>
              <a:rPr lang="en-US" altLang="ja-JP" sz="1400" baseline="-25000">
                <a:latin typeface="Times New Roman" charset="0"/>
              </a:rPr>
              <a:t>i</a:t>
            </a:r>
            <a:r>
              <a:rPr lang="ja-JP" altLang="en-US" sz="1400"/>
              <a:t>周辺の</a:t>
            </a:r>
            <a:endParaRPr lang="en-US" altLang="ja-JP" sz="1400"/>
          </a:p>
          <a:p>
            <a:pPr algn="ctr" eaLnBrk="1" hangingPunct="1"/>
            <a:r>
              <a:rPr lang="ja-JP" altLang="en-US" sz="1400"/>
              <a:t>高頻度単語</a:t>
            </a:r>
            <a:r>
              <a:rPr lang="en-US" altLang="ja-JP" sz="1400">
                <a:latin typeface="Times New Roman" charset="0"/>
              </a:rPr>
              <a:t>N-gram g</a:t>
            </a:r>
            <a:r>
              <a:rPr lang="en-US" altLang="ja-JP" sz="1400" baseline="-25000">
                <a:latin typeface="Times New Roman" charset="0"/>
              </a:rPr>
              <a:t>j</a:t>
            </a:r>
            <a:r>
              <a:rPr lang="ja-JP" altLang="en-US" sz="1400"/>
              <a:t>の出現回数</a:t>
            </a:r>
            <a:endParaRPr lang="en-US" altLang="ja-JP" sz="1400"/>
          </a:p>
        </p:txBody>
      </p:sp>
      <p:sp>
        <p:nvSpPr>
          <p:cNvPr id="54451" name="正方形/長方形 498"/>
          <p:cNvSpPr>
            <a:spLocks noChangeArrowheads="1"/>
          </p:cNvSpPr>
          <p:nvPr/>
        </p:nvSpPr>
        <p:spPr bwMode="auto">
          <a:xfrm>
            <a:off x="3698875" y="5070475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w</a:t>
            </a:r>
            <a:r>
              <a:rPr lang="en-US" altLang="ja-JP" sz="1200" baseline="-25000">
                <a:latin typeface="Times New Roman" charset="0"/>
              </a:rPr>
              <a:t>i</a:t>
            </a:r>
            <a:endParaRPr lang="ja-JP" altLang="en-US" sz="1200"/>
          </a:p>
        </p:txBody>
      </p:sp>
      <p:cxnSp>
        <p:nvCxnSpPr>
          <p:cNvPr id="500" name="直線矢印コネクタ 499"/>
          <p:cNvCxnSpPr/>
          <p:nvPr/>
        </p:nvCxnSpPr>
        <p:spPr>
          <a:xfrm>
            <a:off x="3803650" y="5122864"/>
            <a:ext cx="228600" cy="158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53" name="正方形/長方形 501"/>
          <p:cNvSpPr>
            <a:spLocks noChangeArrowheads="1"/>
          </p:cNvSpPr>
          <p:nvPr/>
        </p:nvSpPr>
        <p:spPr bwMode="auto">
          <a:xfrm>
            <a:off x="1039813" y="4384675"/>
            <a:ext cx="1897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>
                <a:latin typeface="Times New Roman" charset="0"/>
              </a:rPr>
              <a:t>   g</a:t>
            </a:r>
            <a:r>
              <a:rPr lang="en-US" altLang="ja-JP" baseline="-25000">
                <a:latin typeface="Times New Roman" charset="0"/>
              </a:rPr>
              <a:t>i</a:t>
            </a:r>
            <a:r>
              <a:rPr lang="en-US" altLang="ja-JP">
                <a:latin typeface="Times New Roman" charset="0"/>
              </a:rPr>
              <a:t> = w</a:t>
            </a:r>
            <a:r>
              <a:rPr lang="en-US" altLang="ja-JP" sz="1400" baseline="-25000">
                <a:latin typeface="Times New Roman" charset="0"/>
              </a:rPr>
              <a:t>5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6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3</a:t>
            </a:r>
            <a:r>
              <a:rPr lang="en-US" altLang="ja-JP">
                <a:latin typeface="Times New Roman" charset="0"/>
              </a:rPr>
              <a:t> w</a:t>
            </a:r>
            <a:r>
              <a:rPr lang="en-US" altLang="ja-JP" sz="1400" baseline="-25000">
                <a:latin typeface="Times New Roman" charset="0"/>
              </a:rPr>
              <a:t>4</a:t>
            </a:r>
            <a:r>
              <a:rPr lang="en-US" altLang="ja-JP">
                <a:latin typeface="Times New Roman" charset="0"/>
              </a:rPr>
              <a:t> </a:t>
            </a:r>
            <a:endParaRPr lang="ja-JP" altLang="en-US"/>
          </a:p>
        </p:txBody>
      </p:sp>
      <p:sp>
        <p:nvSpPr>
          <p:cNvPr id="503" name="左中かっこ 502"/>
          <p:cNvSpPr/>
          <p:nvPr/>
        </p:nvSpPr>
        <p:spPr>
          <a:xfrm rot="16200000">
            <a:off x="1203325" y="4619625"/>
            <a:ext cx="304800" cy="3810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4455" name="テキスト ボックス 503"/>
          <p:cNvSpPr txBox="1">
            <a:spLocks noChangeArrowheads="1"/>
          </p:cNvSpPr>
          <p:nvPr/>
        </p:nvSpPr>
        <p:spPr bwMode="auto">
          <a:xfrm>
            <a:off x="727075" y="4959351"/>
            <a:ext cx="1258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400"/>
              <a:t>単語 </a:t>
            </a:r>
            <a:r>
              <a:rPr lang="en-US" altLang="ja-JP" sz="1400"/>
              <a:t>N-gram</a:t>
            </a:r>
          </a:p>
          <a:p>
            <a:pPr algn="ctr" eaLnBrk="1" hangingPunct="1"/>
            <a:r>
              <a:rPr lang="ja-JP" altLang="en-US" sz="1400"/>
              <a:t>（</a:t>
            </a:r>
            <a:r>
              <a:rPr lang="en-US" altLang="ja-JP" sz="1400"/>
              <a:t>N=4</a:t>
            </a:r>
            <a:r>
              <a:rPr lang="ja-JP" altLang="en-US" sz="1400"/>
              <a:t>の場合）</a:t>
            </a:r>
            <a:endParaRPr lang="en-US" altLang="ja-JP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/>
          <p:cNvGraphicFramePr>
            <a:graphicFrameLocks noGrp="1"/>
          </p:cNvGraphicFramePr>
          <p:nvPr/>
        </p:nvGraphicFramePr>
        <p:xfrm>
          <a:off x="1524001" y="304800"/>
          <a:ext cx="94456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T</a:t>
                      </a:r>
                      <a:endParaRPr kumimoji="1" lang="ja-JP" altLang="en-US" b="1" dirty="0"/>
                    </a:p>
                  </a:txBody>
                  <a:tcPr marL="91409" marR="914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1,3,4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2,3,5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1,2,3,5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2,5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表 3"/>
          <p:cNvGraphicFramePr>
            <a:graphicFrameLocks noGrp="1"/>
          </p:cNvGraphicFramePr>
          <p:nvPr/>
        </p:nvGraphicFramePr>
        <p:xfrm>
          <a:off x="4857750" y="304800"/>
          <a:ext cx="20574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1</a:t>
                      </a:r>
                      <a:endParaRPr kumimoji="1" lang="ja-JP" altLang="en-US" sz="1800" b="1" baseline="-25000" dirty="0"/>
                    </a:p>
                  </a:txBody>
                  <a:tcPr marT="45733" marB="45733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T="45733" marB="4573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 0.75 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</a:t>
                      </a:r>
                      <a:r>
                        <a:rPr kumimoji="1" lang="en-US" altLang="ja-JP" sz="1800" baseline="0" dirty="0"/>
                        <a:t> 0.75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{4}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</a:t>
                      </a:r>
                      <a:r>
                        <a:rPr kumimoji="1" lang="en-US" altLang="ja-JP" sz="1800" baseline="0" dirty="0"/>
                        <a:t> 0.25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{5}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 =</a:t>
                      </a:r>
                      <a:r>
                        <a:rPr kumimoji="1" lang="en-US" altLang="ja-JP" sz="1800" baseline="0" dirty="0"/>
                        <a:t> 0.75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3048000" y="304800"/>
          <a:ext cx="9906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1</a:t>
                      </a:r>
                      <a:endParaRPr kumimoji="1" lang="ja-JP" altLang="en-US" sz="1800" b="1" baseline="-25000" dirty="0"/>
                    </a:p>
                  </a:txBody>
                  <a:tcPr marT="45733" marB="4573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{4}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{5}</a:t>
                      </a:r>
                      <a:endParaRPr kumimoji="1" lang="ja-JP" alt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/>
        </p:nvGraphicFramePr>
        <p:xfrm>
          <a:off x="7620000" y="333375"/>
          <a:ext cx="18288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1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支持度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{5}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4857750" y="2819401"/>
          <a:ext cx="2057400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2</a:t>
                      </a:r>
                      <a:endParaRPr kumimoji="1" lang="ja-JP" altLang="en-US" sz="1800" b="1" baseline="-25000" dirty="0"/>
                    </a:p>
                  </a:txBody>
                  <a:tcPr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 0.25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</a:t>
                      </a:r>
                      <a:r>
                        <a:rPr kumimoji="1" lang="en-US" altLang="ja-JP" sz="1800" baseline="0" dirty="0"/>
                        <a:t>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1/4 = 0.25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3/4</a:t>
                      </a:r>
                      <a:r>
                        <a:rPr kumimoji="1" lang="en-US" altLang="ja-JP" sz="1800" baseline="0" dirty="0"/>
                        <a:t> = 0.75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{3,5}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  <a:endParaRPr kumimoji="1" lang="ja-JP" alt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 7"/>
          <p:cNvGraphicFramePr>
            <a:graphicFrameLocks noGrp="1"/>
          </p:cNvGraphicFramePr>
          <p:nvPr/>
        </p:nvGraphicFramePr>
        <p:xfrm>
          <a:off x="3048001" y="2819401"/>
          <a:ext cx="1020763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2</a:t>
                      </a:r>
                      <a:endParaRPr kumimoji="1" lang="ja-JP" altLang="en-US" sz="1800" b="1" baseline="-25000" dirty="0"/>
                    </a:p>
                  </a:txBody>
                  <a:tcPr marL="91412" marR="91412" marT="45714" marB="45714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{3,5}</a:t>
                      </a:r>
                      <a:endParaRPr kumimoji="1" lang="ja-JP" altLang="en-US" sz="1800" dirty="0"/>
                    </a:p>
                  </a:txBody>
                  <a:tcPr marL="91412" marR="91412"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表 8"/>
          <p:cNvGraphicFramePr>
            <a:graphicFrameLocks noGrp="1"/>
          </p:cNvGraphicFramePr>
          <p:nvPr/>
        </p:nvGraphicFramePr>
        <p:xfrm>
          <a:off x="7639051" y="2809875"/>
          <a:ext cx="187642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2</a:t>
                      </a:r>
                      <a:endParaRPr kumimoji="1" lang="ja-JP" altLang="en-US" b="1" baseline="-25000" dirty="0"/>
                    </a:p>
                  </a:txBody>
                  <a:tcPr marL="91409" marR="9140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/>
                        <a:t>支持度</a:t>
                      </a:r>
                    </a:p>
                  </a:txBody>
                  <a:tcPr marL="91409" marR="9140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{1,3}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{2,3}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{2,5}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0.75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{3,5}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0.50</a:t>
                      </a:r>
                      <a:endParaRPr kumimoji="1" lang="ja-JP" altLang="en-US" dirty="0"/>
                    </a:p>
                  </a:txBody>
                  <a:tcPr marL="91409" marR="914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表 9"/>
          <p:cNvGraphicFramePr>
            <a:graphicFrameLocks noGrp="1"/>
          </p:cNvGraphicFramePr>
          <p:nvPr/>
        </p:nvGraphicFramePr>
        <p:xfrm>
          <a:off x="3057525" y="5715000"/>
          <a:ext cx="9906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{1,2,3}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{1,3,5}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/>
        </p:nvGraphicFramePr>
        <p:xfrm>
          <a:off x="4857751" y="5726113"/>
          <a:ext cx="2066925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C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L="91412" marR="91412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2/4 = 0.50</a:t>
                      </a:r>
                    </a:p>
                  </a:txBody>
                  <a:tcPr marL="91412" marR="91412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/>
        </p:nvGraphicFramePr>
        <p:xfrm>
          <a:off x="7686676" y="5735638"/>
          <a:ext cx="2066925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6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/>
                        <a:t>F</a:t>
                      </a:r>
                      <a:r>
                        <a:rPr kumimoji="1" lang="en-US" altLang="ja-JP" sz="1800" b="1" baseline="-25000" dirty="0"/>
                        <a:t>3</a:t>
                      </a:r>
                      <a:endParaRPr kumimoji="1" lang="ja-JP" altLang="en-US" sz="1800" b="1" baseline="-25000" dirty="0"/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 dirty="0"/>
                        <a:t>支持度</a:t>
                      </a:r>
                    </a:p>
                  </a:txBody>
                  <a:tcPr marL="91412" marR="91412" marT="45700" marB="457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{2,3,5}</a:t>
                      </a:r>
                      <a:endParaRPr kumimoji="1" lang="ja-JP" altLang="en-US" sz="1800" dirty="0"/>
                    </a:p>
                  </a:txBody>
                  <a:tcPr marL="91412" marR="91412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/>
                        <a:t>0.50</a:t>
                      </a:r>
                    </a:p>
                  </a:txBody>
                  <a:tcPr marL="91412" marR="91412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右矢印 12"/>
          <p:cNvSpPr/>
          <p:nvPr/>
        </p:nvSpPr>
        <p:spPr bwMode="auto">
          <a:xfrm>
            <a:off x="2514600" y="1066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4" name="右矢印 13"/>
          <p:cNvSpPr/>
          <p:nvPr/>
        </p:nvSpPr>
        <p:spPr bwMode="auto">
          <a:xfrm>
            <a:off x="4191000" y="1066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5" name="右矢印 14"/>
          <p:cNvSpPr/>
          <p:nvPr/>
        </p:nvSpPr>
        <p:spPr bwMode="auto">
          <a:xfrm>
            <a:off x="7010400" y="1066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右矢印 15"/>
          <p:cNvSpPr/>
          <p:nvPr/>
        </p:nvSpPr>
        <p:spPr bwMode="auto">
          <a:xfrm>
            <a:off x="4191000" y="3706814"/>
            <a:ext cx="533400" cy="48418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右矢印 16"/>
          <p:cNvSpPr/>
          <p:nvPr/>
        </p:nvSpPr>
        <p:spPr bwMode="auto">
          <a:xfrm>
            <a:off x="7010400" y="37338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8" name="右矢印 17"/>
          <p:cNvSpPr/>
          <p:nvPr/>
        </p:nvSpPr>
        <p:spPr bwMode="auto">
          <a:xfrm>
            <a:off x="4191000" y="5840414"/>
            <a:ext cx="533400" cy="48418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9" name="右矢印 18"/>
          <p:cNvSpPr/>
          <p:nvPr/>
        </p:nvSpPr>
        <p:spPr bwMode="auto">
          <a:xfrm>
            <a:off x="7086600" y="5840414"/>
            <a:ext cx="533400" cy="484187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graphicFrame>
        <p:nvGraphicFramePr>
          <p:cNvPr id="20" name="表 19"/>
          <p:cNvGraphicFramePr>
            <a:graphicFrameLocks noGrp="1"/>
          </p:cNvGraphicFramePr>
          <p:nvPr/>
        </p:nvGraphicFramePr>
        <p:xfrm>
          <a:off x="1676400" y="2819400"/>
          <a:ext cx="76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1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表 20"/>
          <p:cNvGraphicFramePr>
            <a:graphicFrameLocks noGrp="1"/>
          </p:cNvGraphicFramePr>
          <p:nvPr/>
        </p:nvGraphicFramePr>
        <p:xfrm>
          <a:off x="1676400" y="5689600"/>
          <a:ext cx="76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F</a:t>
                      </a:r>
                      <a:r>
                        <a:rPr kumimoji="1" lang="en-US" altLang="ja-JP" b="1" baseline="-25000" dirty="0"/>
                        <a:t>2</a:t>
                      </a:r>
                      <a:endParaRPr kumimoji="1" lang="ja-JP" altLang="en-US" b="1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{1,3}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{2,3}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{2,5}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{3,5}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右矢印 21"/>
          <p:cNvSpPr/>
          <p:nvPr/>
        </p:nvSpPr>
        <p:spPr bwMode="auto">
          <a:xfrm>
            <a:off x="2514600" y="36576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3" name="右矢印 22"/>
          <p:cNvSpPr/>
          <p:nvPr/>
        </p:nvSpPr>
        <p:spPr bwMode="auto">
          <a:xfrm>
            <a:off x="2514600" y="5867400"/>
            <a:ext cx="533400" cy="484188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5506" name="テキスト ボックス 23"/>
          <p:cNvSpPr txBox="1">
            <a:spLocks noChangeArrowheads="1"/>
          </p:cNvSpPr>
          <p:nvPr/>
        </p:nvSpPr>
        <p:spPr bwMode="auto">
          <a:xfrm>
            <a:off x="2514601" y="3200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(1)</a:t>
            </a:r>
            <a:endParaRPr lang="ja-JP" altLang="en-US"/>
          </a:p>
        </p:txBody>
      </p:sp>
      <p:sp>
        <p:nvSpPr>
          <p:cNvPr id="55507" name="テキスト ボックス 24"/>
          <p:cNvSpPr txBox="1">
            <a:spLocks noChangeArrowheads="1"/>
          </p:cNvSpPr>
          <p:nvPr/>
        </p:nvSpPr>
        <p:spPr bwMode="auto">
          <a:xfrm>
            <a:off x="2514601" y="54102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(1)</a:t>
            </a:r>
            <a:endParaRPr lang="ja-JP" altLang="en-US"/>
          </a:p>
        </p:txBody>
      </p:sp>
      <p:sp>
        <p:nvSpPr>
          <p:cNvPr id="55508" name="テキスト ボックス 25"/>
          <p:cNvSpPr txBox="1">
            <a:spLocks noChangeArrowheads="1"/>
          </p:cNvSpPr>
          <p:nvPr/>
        </p:nvSpPr>
        <p:spPr bwMode="auto">
          <a:xfrm>
            <a:off x="4181476" y="533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(2)</a:t>
            </a:r>
            <a:endParaRPr lang="ja-JP" altLang="en-US"/>
          </a:p>
        </p:txBody>
      </p:sp>
      <p:sp>
        <p:nvSpPr>
          <p:cNvPr id="55509" name="テキスト ボックス 26"/>
          <p:cNvSpPr txBox="1">
            <a:spLocks noChangeArrowheads="1"/>
          </p:cNvSpPr>
          <p:nvPr/>
        </p:nvSpPr>
        <p:spPr bwMode="auto">
          <a:xfrm>
            <a:off x="4191001" y="3200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(2)</a:t>
            </a:r>
            <a:endParaRPr lang="ja-JP" altLang="en-US"/>
          </a:p>
        </p:txBody>
      </p:sp>
      <p:sp>
        <p:nvSpPr>
          <p:cNvPr id="55510" name="テキスト ボックス 27"/>
          <p:cNvSpPr txBox="1">
            <a:spLocks noChangeArrowheads="1"/>
          </p:cNvSpPr>
          <p:nvPr/>
        </p:nvSpPr>
        <p:spPr bwMode="auto">
          <a:xfrm>
            <a:off x="4191001" y="5421314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(2)</a:t>
            </a:r>
            <a:endParaRPr lang="ja-JP" altLang="en-US"/>
          </a:p>
        </p:txBody>
      </p:sp>
      <p:sp>
        <p:nvSpPr>
          <p:cNvPr id="55511" name="テキスト ボックス 28"/>
          <p:cNvSpPr txBox="1">
            <a:spLocks noChangeArrowheads="1"/>
          </p:cNvSpPr>
          <p:nvPr/>
        </p:nvSpPr>
        <p:spPr bwMode="auto">
          <a:xfrm>
            <a:off x="7010401" y="533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(3)</a:t>
            </a:r>
            <a:endParaRPr lang="ja-JP" altLang="en-US"/>
          </a:p>
        </p:txBody>
      </p:sp>
      <p:sp>
        <p:nvSpPr>
          <p:cNvPr id="55512" name="テキスト ボックス 29"/>
          <p:cNvSpPr txBox="1">
            <a:spLocks noChangeArrowheads="1"/>
          </p:cNvSpPr>
          <p:nvPr/>
        </p:nvSpPr>
        <p:spPr bwMode="auto">
          <a:xfrm>
            <a:off x="7010401" y="3211514"/>
            <a:ext cx="466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(3)</a:t>
            </a:r>
            <a:endParaRPr lang="ja-JP" altLang="en-US"/>
          </a:p>
        </p:txBody>
      </p:sp>
      <p:sp>
        <p:nvSpPr>
          <p:cNvPr id="55513" name="テキスト ボックス 30"/>
          <p:cNvSpPr txBox="1">
            <a:spLocks noChangeArrowheads="1"/>
          </p:cNvSpPr>
          <p:nvPr/>
        </p:nvSpPr>
        <p:spPr bwMode="auto">
          <a:xfrm>
            <a:off x="7077076" y="5486400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(3)</a:t>
            </a:r>
            <a:endParaRPr lang="ja-JP" altLang="en-US"/>
          </a:p>
        </p:txBody>
      </p:sp>
      <p:cxnSp>
        <p:nvCxnSpPr>
          <p:cNvPr id="33" name="直線コネクタ 32"/>
          <p:cNvCxnSpPr/>
          <p:nvPr/>
        </p:nvCxnSpPr>
        <p:spPr>
          <a:xfrm>
            <a:off x="3200400" y="62484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>
            <a:off x="3200400" y="63246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>
            <a:off x="3200400" y="66294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3200400" y="6705600"/>
            <a:ext cx="76200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正方形/長方形 160"/>
          <p:cNvSpPr/>
          <p:nvPr/>
        </p:nvSpPr>
        <p:spPr>
          <a:xfrm>
            <a:off x="4159251" y="838200"/>
            <a:ext cx="2949575" cy="76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6323" name="Oval 4"/>
          <p:cNvSpPr>
            <a:spLocks noChangeArrowheads="1"/>
          </p:cNvSpPr>
          <p:nvPr/>
        </p:nvSpPr>
        <p:spPr bwMode="auto">
          <a:xfrm>
            <a:off x="8624888" y="3859213"/>
            <a:ext cx="311150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sp>
        <p:nvSpPr>
          <p:cNvPr id="56324" name="Oval 5"/>
          <p:cNvSpPr>
            <a:spLocks noChangeArrowheads="1"/>
          </p:cNvSpPr>
          <p:nvPr/>
        </p:nvSpPr>
        <p:spPr bwMode="auto">
          <a:xfrm>
            <a:off x="8648700" y="5083175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  <a:endParaRPr lang="ja-JP" altLang="en-US" sz="1400"/>
          </a:p>
        </p:txBody>
      </p:sp>
      <p:sp>
        <p:nvSpPr>
          <p:cNvPr id="56325" name="Oval 6"/>
          <p:cNvSpPr>
            <a:spLocks noChangeArrowheads="1"/>
          </p:cNvSpPr>
          <p:nvPr/>
        </p:nvSpPr>
        <p:spPr bwMode="auto">
          <a:xfrm>
            <a:off x="8634414" y="4487863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  <a:endParaRPr lang="ja-JP" altLang="en-US" sz="1400"/>
          </a:p>
        </p:txBody>
      </p:sp>
      <p:sp>
        <p:nvSpPr>
          <p:cNvPr id="56326" name="Oval 7"/>
          <p:cNvSpPr>
            <a:spLocks noChangeArrowheads="1"/>
          </p:cNvSpPr>
          <p:nvPr/>
        </p:nvSpPr>
        <p:spPr bwMode="auto">
          <a:xfrm>
            <a:off x="8237539" y="4473575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56327" name="Oval 8"/>
          <p:cNvSpPr>
            <a:spLocks noChangeArrowheads="1"/>
          </p:cNvSpPr>
          <p:nvPr/>
        </p:nvSpPr>
        <p:spPr bwMode="auto">
          <a:xfrm>
            <a:off x="6534150" y="3894138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6924675" y="4548188"/>
            <a:ext cx="312738" cy="139700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ja-JP" sz="1400" dirty="0">
                <a:latin typeface="+mj-lt"/>
              </a:rPr>
              <a:t>D</a:t>
            </a:r>
            <a:endParaRPr lang="ja-JP" altLang="en-US" sz="1400" dirty="0">
              <a:latin typeface="+mj-lt"/>
            </a:endParaRPr>
          </a:p>
        </p:txBody>
      </p:sp>
      <p:sp>
        <p:nvSpPr>
          <p:cNvPr id="56329" name="Oval 10"/>
          <p:cNvSpPr>
            <a:spLocks noChangeArrowheads="1"/>
          </p:cNvSpPr>
          <p:nvPr/>
        </p:nvSpPr>
        <p:spPr bwMode="auto">
          <a:xfrm>
            <a:off x="6548438" y="4548188"/>
            <a:ext cx="311150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  <a:endParaRPr lang="ja-JP" altLang="en-US" sz="1400"/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6208713" y="4548188"/>
            <a:ext cx="311150" cy="139700"/>
          </a:xfrm>
          <a:prstGeom prst="ellipse">
            <a:avLst/>
          </a:prstGeom>
          <a:noFill/>
          <a:ln w="9525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ja-JP" sz="1400" dirty="0">
                <a:latin typeface="+mj-lt"/>
              </a:rPr>
              <a:t>B</a:t>
            </a:r>
            <a:endParaRPr lang="ja-JP" altLang="en-US" sz="1400" dirty="0">
              <a:latin typeface="+mj-lt"/>
            </a:endParaRPr>
          </a:p>
        </p:txBody>
      </p:sp>
      <p:sp>
        <p:nvSpPr>
          <p:cNvPr id="56331" name="Oval 13"/>
          <p:cNvSpPr>
            <a:spLocks noChangeArrowheads="1"/>
          </p:cNvSpPr>
          <p:nvPr/>
        </p:nvSpPr>
        <p:spPr bwMode="auto">
          <a:xfrm>
            <a:off x="4705350" y="5170488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</a:p>
        </p:txBody>
      </p:sp>
      <p:sp>
        <p:nvSpPr>
          <p:cNvPr id="56332" name="Oval 14"/>
          <p:cNvSpPr>
            <a:spLocks noChangeArrowheads="1"/>
          </p:cNvSpPr>
          <p:nvPr/>
        </p:nvSpPr>
        <p:spPr bwMode="auto">
          <a:xfrm>
            <a:off x="4154489" y="4110038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</a:p>
        </p:txBody>
      </p:sp>
      <p:sp>
        <p:nvSpPr>
          <p:cNvPr id="56333" name="Oval 15"/>
          <p:cNvSpPr>
            <a:spLocks noChangeArrowheads="1"/>
          </p:cNvSpPr>
          <p:nvPr/>
        </p:nvSpPr>
        <p:spPr bwMode="auto">
          <a:xfrm>
            <a:off x="3841750" y="4110038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29712" name="AutoShape 16"/>
          <p:cNvSpPr>
            <a:spLocks noChangeArrowheads="1"/>
          </p:cNvSpPr>
          <p:nvPr/>
        </p:nvSpPr>
        <p:spPr bwMode="auto">
          <a:xfrm rot="5400000">
            <a:off x="4327526" y="3862388"/>
            <a:ext cx="1446212" cy="1147763"/>
          </a:xfrm>
          <a:prstGeom prst="flowChartManualInput">
            <a:avLst/>
          </a:prstGeom>
          <a:gradFill rotWithShape="0">
            <a:gsLst>
              <a:gs pos="0">
                <a:schemeClr val="bg1">
                  <a:lumMod val="75000"/>
                </a:schemeClr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174" name="Oval 24"/>
          <p:cNvSpPr>
            <a:spLocks noChangeArrowheads="1"/>
          </p:cNvSpPr>
          <p:nvPr/>
        </p:nvSpPr>
        <p:spPr bwMode="auto">
          <a:xfrm>
            <a:off x="4676776" y="4051300"/>
            <a:ext cx="79375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176" name="Oval 27"/>
          <p:cNvSpPr>
            <a:spLocks noChangeArrowheads="1"/>
          </p:cNvSpPr>
          <p:nvPr/>
        </p:nvSpPr>
        <p:spPr bwMode="auto">
          <a:xfrm>
            <a:off x="5011739" y="4425951"/>
            <a:ext cx="79375" cy="666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178" name="Oval 29"/>
          <p:cNvSpPr>
            <a:spLocks noChangeArrowheads="1"/>
          </p:cNvSpPr>
          <p:nvPr/>
        </p:nvSpPr>
        <p:spPr bwMode="auto">
          <a:xfrm>
            <a:off x="4819651" y="4756150"/>
            <a:ext cx="79375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6338" name="Rectangle 34"/>
          <p:cNvSpPr>
            <a:spLocks noChangeArrowheads="1"/>
          </p:cNvSpPr>
          <p:nvPr/>
        </p:nvSpPr>
        <p:spPr bwMode="auto">
          <a:xfrm>
            <a:off x="4668839" y="3787776"/>
            <a:ext cx="904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ＭＳ Ｐゴシック" charset="-128"/>
              </a:rPr>
              <a:t>除去領域</a:t>
            </a:r>
          </a:p>
        </p:txBody>
      </p:sp>
      <p:sp>
        <p:nvSpPr>
          <p:cNvPr id="56339" name="Rectangle 35"/>
          <p:cNvSpPr>
            <a:spLocks noChangeArrowheads="1"/>
          </p:cNvSpPr>
          <p:nvPr/>
        </p:nvSpPr>
        <p:spPr bwMode="auto">
          <a:xfrm>
            <a:off x="6127751" y="4800600"/>
            <a:ext cx="1190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>
                <a:latin typeface="ＭＳ Ｐゴシック" charset="-128"/>
              </a:rPr>
              <a:t>概念階層</a:t>
            </a:r>
            <a:endParaRPr lang="en-US" altLang="ja-JP" sz="1600" b="1">
              <a:latin typeface="ＭＳ Ｐゴシック" charset="-128"/>
            </a:endParaRPr>
          </a:p>
          <a:p>
            <a:pPr algn="ctr" eaLnBrk="1" hangingPunct="1"/>
            <a:r>
              <a:rPr lang="ja-JP" altLang="en-US" sz="1600" b="1">
                <a:latin typeface="ＭＳ Ｐゴシック" charset="-128"/>
              </a:rPr>
              <a:t>初期モデル</a:t>
            </a:r>
          </a:p>
        </p:txBody>
      </p:sp>
      <p:sp>
        <p:nvSpPr>
          <p:cNvPr id="56340" name="Rectangle 39"/>
          <p:cNvSpPr>
            <a:spLocks noChangeArrowheads="1"/>
          </p:cNvSpPr>
          <p:nvPr/>
        </p:nvSpPr>
        <p:spPr bwMode="auto">
          <a:xfrm>
            <a:off x="6183313" y="4125913"/>
            <a:ext cx="247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ＭＳ Ｐゴシック" charset="-128"/>
              </a:rPr>
              <a:t>0</a:t>
            </a:r>
          </a:p>
        </p:txBody>
      </p:sp>
      <p:sp>
        <p:nvSpPr>
          <p:cNvPr id="56341" name="Rectangle 40"/>
          <p:cNvSpPr>
            <a:spLocks noChangeArrowheads="1"/>
          </p:cNvSpPr>
          <p:nvPr/>
        </p:nvSpPr>
        <p:spPr bwMode="auto">
          <a:xfrm>
            <a:off x="6472239" y="4130675"/>
            <a:ext cx="2873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>
                <a:latin typeface="ＭＳ Ｐゴシック" charset="-128"/>
              </a:rPr>
              <a:t>0</a:t>
            </a:r>
          </a:p>
        </p:txBody>
      </p:sp>
      <p:sp>
        <p:nvSpPr>
          <p:cNvPr id="56342" name="Rectangle 41"/>
          <p:cNvSpPr>
            <a:spLocks noChangeArrowheads="1"/>
          </p:cNvSpPr>
          <p:nvPr/>
        </p:nvSpPr>
        <p:spPr bwMode="auto">
          <a:xfrm>
            <a:off x="6959601" y="4119564"/>
            <a:ext cx="2905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600" b="1">
                <a:latin typeface="ＭＳ Ｐゴシック" charset="-128"/>
              </a:rPr>
              <a:t>3</a:t>
            </a:r>
          </a:p>
        </p:txBody>
      </p:sp>
      <p:sp>
        <p:nvSpPr>
          <p:cNvPr id="56343" name="Rectangle 48"/>
          <p:cNvSpPr>
            <a:spLocks noChangeArrowheads="1"/>
          </p:cNvSpPr>
          <p:nvPr/>
        </p:nvSpPr>
        <p:spPr bwMode="auto">
          <a:xfrm>
            <a:off x="5481639" y="4016376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剪定</a:t>
            </a:r>
          </a:p>
        </p:txBody>
      </p:sp>
      <p:sp>
        <p:nvSpPr>
          <p:cNvPr id="56344" name="Rectangle 54"/>
          <p:cNvSpPr>
            <a:spLocks noChangeArrowheads="1"/>
          </p:cNvSpPr>
          <p:nvPr/>
        </p:nvSpPr>
        <p:spPr bwMode="auto">
          <a:xfrm>
            <a:off x="7169150" y="3656014"/>
            <a:ext cx="13398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300" b="1">
                <a:latin typeface="ＭＳ Ｐゴシック" charset="-128"/>
              </a:rPr>
              <a:t>概念Ａの再分化</a:t>
            </a:r>
          </a:p>
          <a:p>
            <a:pPr eaLnBrk="1" hangingPunct="1"/>
            <a:r>
              <a:rPr lang="ja-JP" altLang="en-US" sz="1300" b="1">
                <a:latin typeface="ＭＳ Ｐゴシック" charset="-128"/>
              </a:rPr>
              <a:t>（階層の再構成）</a:t>
            </a:r>
          </a:p>
          <a:p>
            <a:pPr eaLnBrk="1" hangingPunct="1"/>
            <a:r>
              <a:rPr lang="ja-JP" altLang="en-US" sz="1300" b="1">
                <a:latin typeface="ＭＳ Ｐゴシック" charset="-128"/>
              </a:rPr>
              <a:t>を示唆</a:t>
            </a:r>
          </a:p>
        </p:txBody>
      </p:sp>
      <p:sp>
        <p:nvSpPr>
          <p:cNvPr id="56345" name="Rectangle 59"/>
          <p:cNvSpPr>
            <a:spLocks noChangeArrowheads="1"/>
          </p:cNvSpPr>
          <p:nvPr/>
        </p:nvSpPr>
        <p:spPr bwMode="auto">
          <a:xfrm>
            <a:off x="4540250" y="969964"/>
            <a:ext cx="1525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 b="1">
                <a:latin typeface="ＭＳ Ｐゴシック" charset="-128"/>
              </a:rPr>
              <a:t>ベストマッチノード</a:t>
            </a:r>
          </a:p>
        </p:txBody>
      </p:sp>
      <p:sp>
        <p:nvSpPr>
          <p:cNvPr id="56346" name="Rectangle 91"/>
          <p:cNvSpPr>
            <a:spLocks noChangeArrowheads="1"/>
          </p:cNvSpPr>
          <p:nvPr/>
        </p:nvSpPr>
        <p:spPr bwMode="auto">
          <a:xfrm>
            <a:off x="4527551" y="2971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移動</a:t>
            </a:r>
          </a:p>
        </p:txBody>
      </p:sp>
      <p:sp>
        <p:nvSpPr>
          <p:cNvPr id="56347" name="Rectangle 92"/>
          <p:cNvSpPr>
            <a:spLocks noChangeArrowheads="1"/>
          </p:cNvSpPr>
          <p:nvPr/>
        </p:nvSpPr>
        <p:spPr bwMode="auto">
          <a:xfrm>
            <a:off x="6432551" y="28194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移動</a:t>
            </a:r>
          </a:p>
        </p:txBody>
      </p:sp>
      <p:sp>
        <p:nvSpPr>
          <p:cNvPr id="56348" name="Rectangle 93"/>
          <p:cNvSpPr>
            <a:spLocks noChangeArrowheads="1"/>
          </p:cNvSpPr>
          <p:nvPr/>
        </p:nvSpPr>
        <p:spPr bwMode="auto">
          <a:xfrm>
            <a:off x="6432551" y="2209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移動</a:t>
            </a:r>
          </a:p>
        </p:txBody>
      </p:sp>
      <p:sp>
        <p:nvSpPr>
          <p:cNvPr id="56349" name="Rectangle 94"/>
          <p:cNvSpPr>
            <a:spLocks noChangeArrowheads="1"/>
          </p:cNvSpPr>
          <p:nvPr/>
        </p:nvSpPr>
        <p:spPr bwMode="auto">
          <a:xfrm>
            <a:off x="5213351" y="2971801"/>
            <a:ext cx="600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600" b="1">
                <a:latin typeface="ＭＳ Ｐゴシック" charset="-128"/>
              </a:rPr>
              <a:t>確定</a:t>
            </a:r>
          </a:p>
        </p:txBody>
      </p:sp>
      <p:sp>
        <p:nvSpPr>
          <p:cNvPr id="56350" name="Rectangle 97"/>
          <p:cNvSpPr>
            <a:spLocks noChangeArrowheads="1"/>
          </p:cNvSpPr>
          <p:nvPr/>
        </p:nvSpPr>
        <p:spPr bwMode="auto">
          <a:xfrm>
            <a:off x="4579938" y="1246188"/>
            <a:ext cx="455612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400" b="1">
                <a:latin typeface="ＭＳ Ｐゴシック" charset="-128"/>
              </a:rPr>
              <a:t>SIN</a:t>
            </a:r>
            <a:endParaRPr lang="ja-JP" altLang="en-US" sz="1400" b="1">
              <a:latin typeface="ＭＳ Ｐゴシック" charset="-128"/>
            </a:endParaRPr>
          </a:p>
        </p:txBody>
      </p:sp>
      <p:sp>
        <p:nvSpPr>
          <p:cNvPr id="56351" name="Rectangle 118"/>
          <p:cNvSpPr>
            <a:spLocks noChangeArrowheads="1"/>
          </p:cNvSpPr>
          <p:nvPr/>
        </p:nvSpPr>
        <p:spPr bwMode="auto">
          <a:xfrm>
            <a:off x="5865814" y="5756276"/>
            <a:ext cx="16335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7620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>
                <a:latin typeface="ＭＳ Ｐゴシック" charset="-128"/>
              </a:rPr>
              <a:t>多重継承の除去</a:t>
            </a:r>
          </a:p>
        </p:txBody>
      </p:sp>
      <p:sp>
        <p:nvSpPr>
          <p:cNvPr id="56352" name="Rectangle 119"/>
          <p:cNvSpPr>
            <a:spLocks noChangeArrowheads="1"/>
          </p:cNvSpPr>
          <p:nvPr/>
        </p:nvSpPr>
        <p:spPr bwMode="auto">
          <a:xfrm>
            <a:off x="6116638" y="990600"/>
            <a:ext cx="304800" cy="22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353" name="Rectangle 120"/>
          <p:cNvSpPr>
            <a:spLocks noChangeArrowheads="1"/>
          </p:cNvSpPr>
          <p:nvPr/>
        </p:nvSpPr>
        <p:spPr bwMode="auto">
          <a:xfrm>
            <a:off x="6116638" y="1295400"/>
            <a:ext cx="304800" cy="228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9817" name="Text Box 121"/>
          <p:cNvSpPr txBox="1">
            <a:spLocks noChangeArrowheads="1"/>
          </p:cNvSpPr>
          <p:nvPr/>
        </p:nvSpPr>
        <p:spPr bwMode="auto">
          <a:xfrm>
            <a:off x="6421438" y="914401"/>
            <a:ext cx="5254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1400" b="1" dirty="0">
                <a:latin typeface="+mj-ea"/>
                <a:ea typeface="+mj-ea"/>
              </a:rPr>
              <a:t>PAB</a:t>
            </a:r>
          </a:p>
        </p:txBody>
      </p:sp>
      <p:sp>
        <p:nvSpPr>
          <p:cNvPr id="29818" name="Text Box 122"/>
          <p:cNvSpPr txBox="1">
            <a:spLocks noChangeArrowheads="1"/>
          </p:cNvSpPr>
          <p:nvPr/>
        </p:nvSpPr>
        <p:spPr bwMode="auto">
          <a:xfrm>
            <a:off x="6421439" y="1219201"/>
            <a:ext cx="5349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1400" b="1" dirty="0">
                <a:latin typeface="+mj-ea"/>
                <a:ea typeface="+mj-ea"/>
              </a:rPr>
              <a:t>STM</a:t>
            </a:r>
          </a:p>
        </p:txBody>
      </p:sp>
      <p:sp>
        <p:nvSpPr>
          <p:cNvPr id="49266" name="Oval 25"/>
          <p:cNvSpPr>
            <a:spLocks noChangeArrowheads="1"/>
          </p:cNvSpPr>
          <p:nvPr/>
        </p:nvSpPr>
        <p:spPr bwMode="auto">
          <a:xfrm>
            <a:off x="4524376" y="4425951"/>
            <a:ext cx="80963" cy="666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49267" name="Oval 42"/>
          <p:cNvSpPr>
            <a:spLocks noChangeArrowheads="1"/>
          </p:cNvSpPr>
          <p:nvPr/>
        </p:nvSpPr>
        <p:spPr bwMode="auto">
          <a:xfrm>
            <a:off x="5249863" y="4756150"/>
            <a:ext cx="80962" cy="698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19" name="AutoShape 146"/>
          <p:cNvSpPr>
            <a:spLocks noChangeArrowheads="1"/>
          </p:cNvSpPr>
          <p:nvPr/>
        </p:nvSpPr>
        <p:spPr bwMode="auto">
          <a:xfrm>
            <a:off x="5583238" y="43783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20" name="AutoShape 146"/>
          <p:cNvSpPr>
            <a:spLocks noChangeArrowheads="1"/>
          </p:cNvSpPr>
          <p:nvPr/>
        </p:nvSpPr>
        <p:spPr bwMode="auto">
          <a:xfrm>
            <a:off x="7640638" y="437832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21" name="AutoShape 146"/>
          <p:cNvSpPr>
            <a:spLocks noChangeArrowheads="1"/>
          </p:cNvSpPr>
          <p:nvPr/>
        </p:nvSpPr>
        <p:spPr bwMode="auto">
          <a:xfrm>
            <a:off x="6432550" y="60960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7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6361" name="Oval 12"/>
          <p:cNvSpPr>
            <a:spLocks noChangeArrowheads="1"/>
          </p:cNvSpPr>
          <p:nvPr/>
        </p:nvSpPr>
        <p:spPr bwMode="auto">
          <a:xfrm>
            <a:off x="4160839" y="3635375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cxnSp>
        <p:nvCxnSpPr>
          <p:cNvPr id="123" name="直線矢印コネクタ 122"/>
          <p:cNvCxnSpPr>
            <a:stCxn id="56333" idx="0"/>
            <a:endCxn id="56361" idx="3"/>
          </p:cNvCxnSpPr>
          <p:nvPr/>
        </p:nvCxnSpPr>
        <p:spPr>
          <a:xfrm rot="5400000" flipH="1" flipV="1">
            <a:off x="3925094" y="3828257"/>
            <a:ext cx="355600" cy="2079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/>
          <p:cNvCxnSpPr>
            <a:stCxn id="56332" idx="0"/>
            <a:endCxn id="56361" idx="4"/>
          </p:cNvCxnSpPr>
          <p:nvPr/>
        </p:nvCxnSpPr>
        <p:spPr>
          <a:xfrm rot="5400000" flipH="1" flipV="1">
            <a:off x="4147344" y="3939382"/>
            <a:ext cx="334963" cy="6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/>
          <p:cNvCxnSpPr>
            <a:stCxn id="49174" idx="0"/>
            <a:endCxn id="56361" idx="5"/>
          </p:cNvCxnSpPr>
          <p:nvPr/>
        </p:nvCxnSpPr>
        <p:spPr>
          <a:xfrm rot="16200000" flipV="1">
            <a:off x="4424363" y="3759200"/>
            <a:ext cx="296862" cy="28733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/>
          <p:cNvCxnSpPr>
            <a:stCxn id="49176" idx="0"/>
            <a:endCxn id="49174" idx="5"/>
          </p:cNvCxnSpPr>
          <p:nvPr/>
        </p:nvCxnSpPr>
        <p:spPr>
          <a:xfrm rot="16200000" flipV="1">
            <a:off x="4741070" y="4115595"/>
            <a:ext cx="314325" cy="30638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矢印コネクタ 140"/>
          <p:cNvCxnSpPr>
            <a:stCxn id="49178" idx="0"/>
            <a:endCxn id="49176" idx="2"/>
          </p:cNvCxnSpPr>
          <p:nvPr/>
        </p:nvCxnSpPr>
        <p:spPr>
          <a:xfrm rot="5400000" flipH="1" flipV="1">
            <a:off x="4787107" y="4531519"/>
            <a:ext cx="296862" cy="15240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/>
          <p:cNvCxnSpPr>
            <a:stCxn id="56331" idx="0"/>
            <a:endCxn id="49178" idx="4"/>
          </p:cNvCxnSpPr>
          <p:nvPr/>
        </p:nvCxnSpPr>
        <p:spPr>
          <a:xfrm rot="16200000" flipV="1">
            <a:off x="4688682" y="4996657"/>
            <a:ext cx="344488" cy="317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矢印コネクタ 153"/>
          <p:cNvCxnSpPr>
            <a:stCxn id="49267" idx="0"/>
            <a:endCxn id="49176" idx="5"/>
          </p:cNvCxnSpPr>
          <p:nvPr/>
        </p:nvCxnSpPr>
        <p:spPr>
          <a:xfrm rot="16200000" flipV="1">
            <a:off x="5049044" y="4514056"/>
            <a:ext cx="273050" cy="21113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/>
          <p:cNvCxnSpPr>
            <a:stCxn id="49266" idx="0"/>
            <a:endCxn id="49174" idx="3"/>
          </p:cNvCxnSpPr>
          <p:nvPr/>
        </p:nvCxnSpPr>
        <p:spPr>
          <a:xfrm rot="5400000" flipH="1" flipV="1">
            <a:off x="4470401" y="4206876"/>
            <a:ext cx="314325" cy="12382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/>
          <p:cNvCxnSpPr>
            <a:endCxn id="49267" idx="5"/>
          </p:cNvCxnSpPr>
          <p:nvPr/>
        </p:nvCxnSpPr>
        <p:spPr>
          <a:xfrm rot="16200000" flipV="1">
            <a:off x="5130007" y="5006182"/>
            <a:ext cx="419100" cy="3968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/>
          <p:cNvCxnSpPr>
            <a:stCxn id="29707" idx="0"/>
            <a:endCxn id="56327" idx="3"/>
          </p:cNvCxnSpPr>
          <p:nvPr/>
        </p:nvCxnSpPr>
        <p:spPr>
          <a:xfrm rot="5400000" flipH="1" flipV="1">
            <a:off x="6204744" y="4172744"/>
            <a:ext cx="534988" cy="215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/>
          <p:cNvCxnSpPr>
            <a:stCxn id="56329" idx="0"/>
            <a:endCxn id="56327" idx="4"/>
          </p:cNvCxnSpPr>
          <p:nvPr/>
        </p:nvCxnSpPr>
        <p:spPr>
          <a:xfrm rot="16200000" flipV="1">
            <a:off x="6440488" y="4284663"/>
            <a:ext cx="514350" cy="127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/>
          <p:cNvCxnSpPr>
            <a:stCxn id="29705" idx="0"/>
            <a:endCxn id="56327" idx="5"/>
          </p:cNvCxnSpPr>
          <p:nvPr/>
        </p:nvCxnSpPr>
        <p:spPr>
          <a:xfrm rot="16200000" flipV="1">
            <a:off x="6674644" y="4140994"/>
            <a:ext cx="534988" cy="2794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矢印コネクタ 176"/>
          <p:cNvCxnSpPr>
            <a:stCxn id="56326" idx="0"/>
            <a:endCxn id="56323" idx="3"/>
          </p:cNvCxnSpPr>
          <p:nvPr/>
        </p:nvCxnSpPr>
        <p:spPr>
          <a:xfrm rot="5400000" flipH="1" flipV="1">
            <a:off x="8285163" y="4087813"/>
            <a:ext cx="495300" cy="2762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矢印コネクタ 179"/>
          <p:cNvCxnSpPr>
            <a:stCxn id="56325" idx="0"/>
            <a:endCxn id="56323" idx="4"/>
          </p:cNvCxnSpPr>
          <p:nvPr/>
        </p:nvCxnSpPr>
        <p:spPr>
          <a:xfrm rot="16200000" flipV="1">
            <a:off x="8541544" y="4237832"/>
            <a:ext cx="488950" cy="11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矢印コネクタ 185"/>
          <p:cNvCxnSpPr>
            <a:stCxn id="56324" idx="0"/>
            <a:endCxn id="56325" idx="4"/>
          </p:cNvCxnSpPr>
          <p:nvPr/>
        </p:nvCxnSpPr>
        <p:spPr>
          <a:xfrm rot="16200000" flipV="1">
            <a:off x="8570913" y="4848225"/>
            <a:ext cx="455612" cy="1428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77" name="Oval 14"/>
          <p:cNvSpPr>
            <a:spLocks noChangeArrowheads="1"/>
          </p:cNvSpPr>
          <p:nvPr/>
        </p:nvSpPr>
        <p:spPr bwMode="auto">
          <a:xfrm>
            <a:off x="5518150" y="5892800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C</a:t>
            </a:r>
          </a:p>
        </p:txBody>
      </p:sp>
      <p:sp>
        <p:nvSpPr>
          <p:cNvPr id="56378" name="Oval 15"/>
          <p:cNvSpPr>
            <a:spLocks noChangeArrowheads="1"/>
          </p:cNvSpPr>
          <p:nvPr/>
        </p:nvSpPr>
        <p:spPr bwMode="auto">
          <a:xfrm>
            <a:off x="5060950" y="5880100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56379" name="Oval 12"/>
          <p:cNvSpPr>
            <a:spLocks noChangeArrowheads="1"/>
          </p:cNvSpPr>
          <p:nvPr/>
        </p:nvSpPr>
        <p:spPr bwMode="auto">
          <a:xfrm>
            <a:off x="4603750" y="5880100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A</a:t>
            </a:r>
            <a:endParaRPr lang="ja-JP" altLang="en-US" sz="1400"/>
          </a:p>
        </p:txBody>
      </p:sp>
      <p:sp>
        <p:nvSpPr>
          <p:cNvPr id="56380" name="Oval 13"/>
          <p:cNvSpPr>
            <a:spLocks noChangeArrowheads="1"/>
          </p:cNvSpPr>
          <p:nvPr/>
        </p:nvSpPr>
        <p:spPr bwMode="auto">
          <a:xfrm>
            <a:off x="5072064" y="6489700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</a:p>
        </p:txBody>
      </p:sp>
      <p:cxnSp>
        <p:nvCxnSpPr>
          <p:cNvPr id="193" name="直線矢印コネクタ 192"/>
          <p:cNvCxnSpPr>
            <a:stCxn id="56380" idx="0"/>
            <a:endCxn id="56379" idx="4"/>
          </p:cNvCxnSpPr>
          <p:nvPr/>
        </p:nvCxnSpPr>
        <p:spPr>
          <a:xfrm rot="16200000" flipV="1">
            <a:off x="4760119" y="6020594"/>
            <a:ext cx="469900" cy="468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/>
          <p:cNvCxnSpPr>
            <a:stCxn id="56380" idx="0"/>
            <a:endCxn id="56377" idx="4"/>
          </p:cNvCxnSpPr>
          <p:nvPr/>
        </p:nvCxnSpPr>
        <p:spPr>
          <a:xfrm rot="5400000" flipH="1" flipV="1">
            <a:off x="5223669" y="6038056"/>
            <a:ext cx="457200" cy="446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矢印コネクタ 198"/>
          <p:cNvCxnSpPr>
            <a:stCxn id="56380" idx="0"/>
            <a:endCxn id="56378" idx="4"/>
          </p:cNvCxnSpPr>
          <p:nvPr/>
        </p:nvCxnSpPr>
        <p:spPr>
          <a:xfrm rot="16200000" flipV="1">
            <a:off x="4988719" y="6249194"/>
            <a:ext cx="469900" cy="1111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84" name="Oval 15"/>
          <p:cNvSpPr>
            <a:spLocks noChangeArrowheads="1"/>
          </p:cNvSpPr>
          <p:nvPr/>
        </p:nvSpPr>
        <p:spPr bwMode="auto">
          <a:xfrm>
            <a:off x="7651750" y="5895975"/>
            <a:ext cx="312738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B</a:t>
            </a:r>
            <a:endParaRPr lang="ja-JP" altLang="en-US" sz="1400"/>
          </a:p>
        </p:txBody>
      </p:sp>
      <p:sp>
        <p:nvSpPr>
          <p:cNvPr id="56385" name="Oval 13"/>
          <p:cNvSpPr>
            <a:spLocks noChangeArrowheads="1"/>
          </p:cNvSpPr>
          <p:nvPr/>
        </p:nvSpPr>
        <p:spPr bwMode="auto">
          <a:xfrm>
            <a:off x="7662864" y="6505575"/>
            <a:ext cx="312737" cy="139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1400"/>
              <a:t>D</a:t>
            </a:r>
          </a:p>
        </p:txBody>
      </p:sp>
      <p:cxnSp>
        <p:nvCxnSpPr>
          <p:cNvPr id="204" name="直線矢印コネクタ 203"/>
          <p:cNvCxnSpPr>
            <a:stCxn id="56385" idx="0"/>
            <a:endCxn id="56384" idx="4"/>
          </p:cNvCxnSpPr>
          <p:nvPr/>
        </p:nvCxnSpPr>
        <p:spPr>
          <a:xfrm rot="16200000" flipV="1">
            <a:off x="7579519" y="6265069"/>
            <a:ext cx="469900" cy="1111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87" name="Oval 118"/>
          <p:cNvSpPr>
            <a:spLocks noChangeArrowheads="1"/>
          </p:cNvSpPr>
          <p:nvPr/>
        </p:nvSpPr>
        <p:spPr bwMode="auto">
          <a:xfrm>
            <a:off x="4700589" y="2057401"/>
            <a:ext cx="242887" cy="131763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388" name="Oval 119"/>
          <p:cNvSpPr>
            <a:spLocks noChangeArrowheads="1"/>
          </p:cNvSpPr>
          <p:nvPr/>
        </p:nvSpPr>
        <p:spPr bwMode="auto">
          <a:xfrm>
            <a:off x="6013450" y="2743200"/>
            <a:ext cx="242888" cy="133350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08" name="Oval 120"/>
          <p:cNvSpPr>
            <a:spLocks noChangeArrowheads="1"/>
          </p:cNvSpPr>
          <p:nvPr/>
        </p:nvSpPr>
        <p:spPr bwMode="auto">
          <a:xfrm>
            <a:off x="4835525" y="2387601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09" name="Oval 121"/>
          <p:cNvSpPr>
            <a:spLocks noChangeArrowheads="1"/>
          </p:cNvSpPr>
          <p:nvPr/>
        </p:nvSpPr>
        <p:spPr bwMode="auto">
          <a:xfrm>
            <a:off x="5867400" y="3087689"/>
            <a:ext cx="241300" cy="1301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10" name="Oval 129"/>
          <p:cNvSpPr>
            <a:spLocks noChangeArrowheads="1"/>
          </p:cNvSpPr>
          <p:nvPr/>
        </p:nvSpPr>
        <p:spPr bwMode="auto">
          <a:xfrm>
            <a:off x="6157914" y="3087689"/>
            <a:ext cx="242887" cy="130175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11" name="Oval 130"/>
          <p:cNvSpPr>
            <a:spLocks noChangeArrowheads="1"/>
          </p:cNvSpPr>
          <p:nvPr/>
        </p:nvSpPr>
        <p:spPr bwMode="auto">
          <a:xfrm>
            <a:off x="4541839" y="2392363"/>
            <a:ext cx="242887" cy="1317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12" name="Oval 132"/>
          <p:cNvSpPr>
            <a:spLocks noChangeArrowheads="1"/>
          </p:cNvSpPr>
          <p:nvPr/>
        </p:nvSpPr>
        <p:spPr bwMode="auto">
          <a:xfrm>
            <a:off x="6013451" y="2425700"/>
            <a:ext cx="244475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6394" name="Oval 133"/>
          <p:cNvSpPr>
            <a:spLocks noChangeArrowheads="1"/>
          </p:cNvSpPr>
          <p:nvPr/>
        </p:nvSpPr>
        <p:spPr bwMode="auto">
          <a:xfrm>
            <a:off x="6013450" y="2068513"/>
            <a:ext cx="242888" cy="131762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14" name="Oval 120"/>
          <p:cNvSpPr>
            <a:spLocks noChangeArrowheads="1"/>
          </p:cNvSpPr>
          <p:nvPr/>
        </p:nvSpPr>
        <p:spPr bwMode="auto">
          <a:xfrm>
            <a:off x="5365750" y="1714500"/>
            <a:ext cx="242888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cxnSp>
        <p:nvCxnSpPr>
          <p:cNvPr id="56396" name="AutoShape 24"/>
          <p:cNvCxnSpPr>
            <a:cxnSpLocks noChangeShapeType="1"/>
          </p:cNvCxnSpPr>
          <p:nvPr/>
        </p:nvCxnSpPr>
        <p:spPr bwMode="auto">
          <a:xfrm rot="5400000">
            <a:off x="4640263" y="2211388"/>
            <a:ext cx="203200" cy="158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7" name="AutoShape 24"/>
          <p:cNvCxnSpPr>
            <a:cxnSpLocks noChangeShapeType="1"/>
          </p:cNvCxnSpPr>
          <p:nvPr/>
        </p:nvCxnSpPr>
        <p:spPr bwMode="auto">
          <a:xfrm rot="16200000" flipH="1">
            <a:off x="4789489" y="2220914"/>
            <a:ext cx="198437" cy="134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8" name="AutoShape 24"/>
          <p:cNvCxnSpPr>
            <a:cxnSpLocks noChangeShapeType="1"/>
            <a:stCxn id="56388" idx="4"/>
            <a:endCxn id="209" idx="0"/>
          </p:cNvCxnSpPr>
          <p:nvPr/>
        </p:nvCxnSpPr>
        <p:spPr bwMode="auto">
          <a:xfrm rot="5400000">
            <a:off x="5955506" y="2909094"/>
            <a:ext cx="211138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99" name="AutoShape 24"/>
          <p:cNvCxnSpPr>
            <a:cxnSpLocks noChangeShapeType="1"/>
            <a:stCxn id="56388" idx="4"/>
            <a:endCxn id="210" idx="0"/>
          </p:cNvCxnSpPr>
          <p:nvPr/>
        </p:nvCxnSpPr>
        <p:spPr bwMode="auto">
          <a:xfrm rot="16200000" flipH="1">
            <a:off x="6101556" y="2909094"/>
            <a:ext cx="211138" cy="146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0" name="AutoShape 24"/>
          <p:cNvCxnSpPr>
            <a:cxnSpLocks noChangeShapeType="1"/>
            <a:stCxn id="212" idx="4"/>
            <a:endCxn id="56388" idx="0"/>
          </p:cNvCxnSpPr>
          <p:nvPr/>
        </p:nvCxnSpPr>
        <p:spPr bwMode="auto">
          <a:xfrm rot="5400000">
            <a:off x="6042819" y="2650331"/>
            <a:ext cx="18415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1" name="AutoShape 24"/>
          <p:cNvCxnSpPr>
            <a:cxnSpLocks noChangeShapeType="1"/>
            <a:stCxn id="56394" idx="4"/>
            <a:endCxn id="212" idx="0"/>
          </p:cNvCxnSpPr>
          <p:nvPr/>
        </p:nvCxnSpPr>
        <p:spPr bwMode="auto">
          <a:xfrm rot="16200000" flipH="1">
            <a:off x="6022976" y="2312988"/>
            <a:ext cx="225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2" name="AutoShape 24"/>
          <p:cNvCxnSpPr>
            <a:cxnSpLocks noChangeShapeType="1"/>
            <a:stCxn id="214" idx="3"/>
            <a:endCxn id="56387" idx="0"/>
          </p:cNvCxnSpPr>
          <p:nvPr/>
        </p:nvCxnSpPr>
        <p:spPr bwMode="auto">
          <a:xfrm rot="5400000">
            <a:off x="4997451" y="1652588"/>
            <a:ext cx="228600" cy="581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03" name="AutoShape 24"/>
          <p:cNvCxnSpPr>
            <a:cxnSpLocks noChangeShapeType="1"/>
            <a:stCxn id="214" idx="5"/>
            <a:endCxn id="56394" idx="0"/>
          </p:cNvCxnSpPr>
          <p:nvPr/>
        </p:nvCxnSpPr>
        <p:spPr bwMode="auto">
          <a:xfrm rot="16200000" flipH="1">
            <a:off x="5734845" y="1667670"/>
            <a:ext cx="239713" cy="5619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3" name="Oval 130"/>
          <p:cNvSpPr>
            <a:spLocks noChangeArrowheads="1"/>
          </p:cNvSpPr>
          <p:nvPr/>
        </p:nvSpPr>
        <p:spPr bwMode="auto">
          <a:xfrm>
            <a:off x="4541839" y="2771776"/>
            <a:ext cx="242887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cxnSp>
        <p:nvCxnSpPr>
          <p:cNvPr id="56405" name="AutoShape 24"/>
          <p:cNvCxnSpPr>
            <a:cxnSpLocks noChangeShapeType="1"/>
            <a:stCxn id="211" idx="4"/>
            <a:endCxn id="223" idx="0"/>
          </p:cNvCxnSpPr>
          <p:nvPr/>
        </p:nvCxnSpPr>
        <p:spPr bwMode="auto">
          <a:xfrm rot="5400000">
            <a:off x="4538663" y="2647951"/>
            <a:ext cx="249238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" name="Oval 132"/>
          <p:cNvSpPr>
            <a:spLocks noChangeArrowheads="1"/>
          </p:cNvSpPr>
          <p:nvPr/>
        </p:nvSpPr>
        <p:spPr bwMode="auto">
          <a:xfrm>
            <a:off x="5373689" y="2070101"/>
            <a:ext cx="244475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36" name="Oval 132"/>
          <p:cNvSpPr>
            <a:spLocks noChangeArrowheads="1"/>
          </p:cNvSpPr>
          <p:nvPr/>
        </p:nvSpPr>
        <p:spPr bwMode="auto">
          <a:xfrm>
            <a:off x="5373689" y="2405063"/>
            <a:ext cx="244475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37" name="Oval 121"/>
          <p:cNvSpPr>
            <a:spLocks noChangeArrowheads="1"/>
          </p:cNvSpPr>
          <p:nvPr/>
        </p:nvSpPr>
        <p:spPr bwMode="auto">
          <a:xfrm>
            <a:off x="5213350" y="2746376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38" name="Oval 129"/>
          <p:cNvSpPr>
            <a:spLocks noChangeArrowheads="1"/>
          </p:cNvSpPr>
          <p:nvPr/>
        </p:nvSpPr>
        <p:spPr bwMode="auto">
          <a:xfrm>
            <a:off x="5505450" y="2746376"/>
            <a:ext cx="242888" cy="1317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cxnSp>
        <p:nvCxnSpPr>
          <p:cNvPr id="56410" name="AutoShape 24"/>
          <p:cNvCxnSpPr>
            <a:cxnSpLocks noChangeShapeType="1"/>
            <a:stCxn id="236" idx="4"/>
          </p:cNvCxnSpPr>
          <p:nvPr/>
        </p:nvCxnSpPr>
        <p:spPr bwMode="auto">
          <a:xfrm rot="5400000">
            <a:off x="5311776" y="2562226"/>
            <a:ext cx="207962" cy="160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1" name="AutoShape 24"/>
          <p:cNvCxnSpPr>
            <a:cxnSpLocks noChangeShapeType="1"/>
            <a:stCxn id="236" idx="4"/>
          </p:cNvCxnSpPr>
          <p:nvPr/>
        </p:nvCxnSpPr>
        <p:spPr bwMode="auto">
          <a:xfrm rot="16200000" flipH="1">
            <a:off x="5457032" y="2577307"/>
            <a:ext cx="207962" cy="130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2" name="AutoShape 24"/>
          <p:cNvCxnSpPr>
            <a:cxnSpLocks noChangeShapeType="1"/>
            <a:stCxn id="214" idx="4"/>
            <a:endCxn id="235" idx="0"/>
          </p:cNvCxnSpPr>
          <p:nvPr/>
        </p:nvCxnSpPr>
        <p:spPr bwMode="auto">
          <a:xfrm rot="16200000" flipH="1">
            <a:off x="5380832" y="1955007"/>
            <a:ext cx="222250" cy="79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413" name="AutoShape 24"/>
          <p:cNvCxnSpPr>
            <a:cxnSpLocks noChangeShapeType="1"/>
            <a:stCxn id="235" idx="4"/>
            <a:endCxn id="236" idx="0"/>
          </p:cNvCxnSpPr>
          <p:nvPr/>
        </p:nvCxnSpPr>
        <p:spPr bwMode="auto">
          <a:xfrm rot="16200000" flipH="1">
            <a:off x="5394325" y="2303463"/>
            <a:ext cx="20320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414" name="Rectangle 62"/>
          <p:cNvSpPr>
            <a:spLocks noChangeArrowheads="1"/>
          </p:cNvSpPr>
          <p:nvPr/>
        </p:nvSpPr>
        <p:spPr bwMode="auto">
          <a:xfrm>
            <a:off x="5181600" y="1676400"/>
            <a:ext cx="609600" cy="12779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5" name="Rectangle 88"/>
          <p:cNvSpPr>
            <a:spLocks noChangeArrowheads="1"/>
          </p:cNvSpPr>
          <p:nvPr/>
        </p:nvSpPr>
        <p:spPr bwMode="auto">
          <a:xfrm>
            <a:off x="5849938" y="2667000"/>
            <a:ext cx="582612" cy="609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6" name="Rectangle 88"/>
          <p:cNvSpPr>
            <a:spLocks noChangeArrowheads="1"/>
          </p:cNvSpPr>
          <p:nvPr/>
        </p:nvSpPr>
        <p:spPr bwMode="auto">
          <a:xfrm>
            <a:off x="5849938" y="2017713"/>
            <a:ext cx="582612" cy="609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7" name="Rectangle 88"/>
          <p:cNvSpPr>
            <a:spLocks noChangeArrowheads="1"/>
          </p:cNvSpPr>
          <p:nvPr/>
        </p:nvSpPr>
        <p:spPr bwMode="auto">
          <a:xfrm>
            <a:off x="4527551" y="1981200"/>
            <a:ext cx="582613" cy="99060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6418" name="Oval 118"/>
          <p:cNvSpPr>
            <a:spLocks noChangeArrowheads="1"/>
          </p:cNvSpPr>
          <p:nvPr/>
        </p:nvSpPr>
        <p:spPr bwMode="auto">
          <a:xfrm>
            <a:off x="4319589" y="1330326"/>
            <a:ext cx="242887" cy="131763"/>
          </a:xfrm>
          <a:prstGeom prst="ellipse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60" name="Oval 120"/>
          <p:cNvSpPr>
            <a:spLocks noChangeArrowheads="1"/>
          </p:cNvSpPr>
          <p:nvPr/>
        </p:nvSpPr>
        <p:spPr bwMode="auto">
          <a:xfrm>
            <a:off x="4319589" y="1054100"/>
            <a:ext cx="242887" cy="133350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4"/>
          <p:cNvSpPr>
            <a:spLocks noChangeArrowheads="1"/>
          </p:cNvSpPr>
          <p:nvPr/>
        </p:nvSpPr>
        <p:spPr bwMode="auto">
          <a:xfrm>
            <a:off x="6927850" y="2192339"/>
            <a:ext cx="2865438" cy="8413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76200">
            <a:solidFill>
              <a:srgbClr val="00E1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b="1">
              <a:latin typeface="Times New Roman" charset="0"/>
            </a:endParaRPr>
          </a:p>
        </p:txBody>
      </p:sp>
      <p:grpSp>
        <p:nvGrpSpPr>
          <p:cNvPr id="57347" name="Group 5"/>
          <p:cNvGrpSpPr>
            <a:grpSpLocks/>
          </p:cNvGrpSpPr>
          <p:nvPr/>
        </p:nvGrpSpPr>
        <p:grpSpPr bwMode="auto">
          <a:xfrm>
            <a:off x="7040563" y="609601"/>
            <a:ext cx="1227221" cy="1125207"/>
            <a:chOff x="2424" y="0"/>
            <a:chExt cx="864" cy="811"/>
          </a:xfrm>
        </p:grpSpPr>
        <p:sp>
          <p:nvSpPr>
            <p:cNvPr id="57558" name="Rectangle 6"/>
            <p:cNvSpPr>
              <a:spLocks noChangeArrowheads="1"/>
            </p:cNvSpPr>
            <p:nvPr/>
          </p:nvSpPr>
          <p:spPr bwMode="auto">
            <a:xfrm>
              <a:off x="2424" y="309"/>
              <a:ext cx="130" cy="266"/>
            </a:xfrm>
            <a:prstGeom prst="rect">
              <a:avLst/>
            </a:prstGeom>
            <a:gradFill rotWithShape="0">
              <a:gsLst>
                <a:gs pos="0">
                  <a:srgbClr val="F2FFF2"/>
                </a:gs>
                <a:gs pos="100000">
                  <a:srgbClr val="7FFF7F"/>
                </a:gs>
              </a:gsLst>
              <a:lin ang="5400000" scaled="1"/>
            </a:gradFill>
            <a:ln w="38100">
              <a:solidFill>
                <a:srgbClr val="00FF00"/>
              </a:solidFill>
              <a:miter lim="800000"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 useBgFill="1">
          <p:nvSpPr>
            <p:cNvPr id="57559" name="Text Box 7"/>
            <p:cNvSpPr txBox="1">
              <a:spLocks noChangeArrowheads="1"/>
            </p:cNvSpPr>
            <p:nvPr/>
          </p:nvSpPr>
          <p:spPr bwMode="auto">
            <a:xfrm>
              <a:off x="2472" y="0"/>
              <a:ext cx="816" cy="264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359" tIns="45680" rIns="91359" bIns="4568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ja-JP" altLang="en-US" b="1">
                  <a:latin typeface="Times New Roman" charset="0"/>
                </a:rPr>
                <a:t>入力概念</a:t>
              </a:r>
            </a:p>
          </p:txBody>
        </p:sp>
        <p:sp>
          <p:nvSpPr>
            <p:cNvPr id="57560" name="Oval 8"/>
            <p:cNvSpPr>
              <a:spLocks noChangeArrowheads="1"/>
            </p:cNvSpPr>
            <p:nvPr/>
          </p:nvSpPr>
          <p:spPr bwMode="auto">
            <a:xfrm>
              <a:off x="2568" y="15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1" name="Oval 9"/>
            <p:cNvSpPr>
              <a:spLocks noChangeArrowheads="1"/>
            </p:cNvSpPr>
            <p:nvPr/>
          </p:nvSpPr>
          <p:spPr bwMode="auto">
            <a:xfrm>
              <a:off x="2856" y="303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2" name="Oval 10"/>
            <p:cNvSpPr>
              <a:spLocks noChangeArrowheads="1"/>
            </p:cNvSpPr>
            <p:nvPr/>
          </p:nvSpPr>
          <p:spPr bwMode="auto">
            <a:xfrm>
              <a:off x="3000" y="15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3" name="Oval 11"/>
            <p:cNvSpPr>
              <a:spLocks noChangeArrowheads="1"/>
            </p:cNvSpPr>
            <p:nvPr/>
          </p:nvSpPr>
          <p:spPr bwMode="auto">
            <a:xfrm>
              <a:off x="2544" y="389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564" name="Oval 12"/>
            <p:cNvSpPr>
              <a:spLocks noChangeArrowheads="1"/>
            </p:cNvSpPr>
            <p:nvPr/>
          </p:nvSpPr>
          <p:spPr bwMode="auto">
            <a:xfrm>
              <a:off x="3024" y="437"/>
              <a:ext cx="183" cy="37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B001"/>
              </a:solidFill>
              <a:round/>
              <a:headEnd/>
              <a:tailEnd/>
            </a:ln>
          </p:spPr>
          <p:txBody>
            <a:bodyPr wrap="none" lIns="91359" tIns="45680" rIns="91359" bIns="4568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</p:grpSp>
      <p:sp>
        <p:nvSpPr>
          <p:cNvPr id="57348" name="Text Box 15"/>
          <p:cNvSpPr txBox="1">
            <a:spLocks noChangeArrowheads="1"/>
          </p:cNvSpPr>
          <p:nvPr/>
        </p:nvSpPr>
        <p:spPr bwMode="auto">
          <a:xfrm>
            <a:off x="7426326" y="2130425"/>
            <a:ext cx="19796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ja-JP" altLang="en-US" sz="2000" b="1">
                <a:solidFill>
                  <a:srgbClr val="FF3300"/>
                </a:solidFill>
                <a:latin typeface="Times New Roman" charset="0"/>
              </a:rPr>
              <a:t>関係構築モジュール</a:t>
            </a:r>
          </a:p>
        </p:txBody>
      </p:sp>
      <p:grpSp>
        <p:nvGrpSpPr>
          <p:cNvPr id="57349" name="Group 16"/>
          <p:cNvGrpSpPr>
            <a:grpSpLocks/>
          </p:cNvGrpSpPr>
          <p:nvPr/>
        </p:nvGrpSpPr>
        <p:grpSpPr bwMode="auto">
          <a:xfrm>
            <a:off x="6781800" y="2628901"/>
            <a:ext cx="3352800" cy="1516063"/>
            <a:chOff x="3243" y="2882"/>
            <a:chExt cx="2359" cy="1092"/>
          </a:xfrm>
        </p:grpSpPr>
        <p:grpSp>
          <p:nvGrpSpPr>
            <p:cNvPr id="57503" name="Group 17"/>
            <p:cNvGrpSpPr>
              <a:grpSpLocks/>
            </p:cNvGrpSpPr>
            <p:nvPr/>
          </p:nvGrpSpPr>
          <p:grpSpPr bwMode="auto">
            <a:xfrm>
              <a:off x="3243" y="3294"/>
              <a:ext cx="2359" cy="680"/>
              <a:chOff x="3243" y="3294"/>
              <a:chExt cx="2359" cy="680"/>
            </a:xfrm>
          </p:grpSpPr>
          <p:grpSp>
            <p:nvGrpSpPr>
              <p:cNvPr id="57511" name="Group 18"/>
              <p:cNvGrpSpPr>
                <a:grpSpLocks/>
              </p:cNvGrpSpPr>
              <p:nvPr/>
            </p:nvGrpSpPr>
            <p:grpSpPr bwMode="auto">
              <a:xfrm>
                <a:off x="3470" y="3336"/>
                <a:ext cx="1859" cy="544"/>
                <a:chOff x="3470" y="3336"/>
                <a:chExt cx="1859" cy="544"/>
              </a:xfrm>
            </p:grpSpPr>
            <p:sp>
              <p:nvSpPr>
                <p:cNvPr id="57513" name="Oval 19"/>
                <p:cNvSpPr>
                  <a:spLocks noChangeArrowheads="1"/>
                </p:cNvSpPr>
                <p:nvPr/>
              </p:nvSpPr>
              <p:spPr bwMode="auto">
                <a:xfrm>
                  <a:off x="4196" y="3472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14" name="Oval 20"/>
                <p:cNvSpPr>
                  <a:spLocks noChangeArrowheads="1"/>
                </p:cNvSpPr>
                <p:nvPr/>
              </p:nvSpPr>
              <p:spPr bwMode="auto">
                <a:xfrm>
                  <a:off x="4514" y="347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15" name="AutoShape 21"/>
                <p:cNvCxnSpPr>
                  <a:cxnSpLocks noChangeShapeType="1"/>
                  <a:stCxn id="57513" idx="6"/>
                  <a:endCxn id="57514" idx="2"/>
                </p:cNvCxnSpPr>
                <p:nvPr/>
              </p:nvCxnSpPr>
              <p:spPr bwMode="auto">
                <a:xfrm>
                  <a:off x="4294" y="3498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16" name="Oval 22"/>
                <p:cNvSpPr>
                  <a:spLocks noChangeArrowheads="1"/>
                </p:cNvSpPr>
                <p:nvPr/>
              </p:nvSpPr>
              <p:spPr bwMode="auto">
                <a:xfrm>
                  <a:off x="4259" y="360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17" name="Oval 23"/>
                <p:cNvSpPr>
                  <a:spLocks noChangeArrowheads="1"/>
                </p:cNvSpPr>
                <p:nvPr/>
              </p:nvSpPr>
              <p:spPr bwMode="auto">
                <a:xfrm>
                  <a:off x="4577" y="3610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18" name="AutoShape 24"/>
                <p:cNvCxnSpPr>
                  <a:cxnSpLocks noChangeShapeType="1"/>
                  <a:stCxn id="57516" idx="6"/>
                  <a:endCxn id="57517" idx="2"/>
                </p:cNvCxnSpPr>
                <p:nvPr/>
              </p:nvCxnSpPr>
              <p:spPr bwMode="auto">
                <a:xfrm>
                  <a:off x="4357" y="3634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19" name="Oval 25"/>
                <p:cNvSpPr>
                  <a:spLocks noChangeArrowheads="1"/>
                </p:cNvSpPr>
                <p:nvPr/>
              </p:nvSpPr>
              <p:spPr bwMode="auto">
                <a:xfrm>
                  <a:off x="4196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0" name="Oval 26"/>
                <p:cNvSpPr>
                  <a:spLocks noChangeArrowheads="1"/>
                </p:cNvSpPr>
                <p:nvPr/>
              </p:nvSpPr>
              <p:spPr bwMode="auto">
                <a:xfrm>
                  <a:off x="4514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1" name="AutoShape 27"/>
                <p:cNvCxnSpPr>
                  <a:cxnSpLocks noChangeShapeType="1"/>
                  <a:stCxn id="57519" idx="6"/>
                  <a:endCxn id="57520" idx="2"/>
                </p:cNvCxnSpPr>
                <p:nvPr/>
              </p:nvCxnSpPr>
              <p:spPr bwMode="auto">
                <a:xfrm>
                  <a:off x="4294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2" name="Oval 28"/>
                <p:cNvSpPr>
                  <a:spLocks noChangeArrowheads="1"/>
                </p:cNvSpPr>
                <p:nvPr/>
              </p:nvSpPr>
              <p:spPr bwMode="auto">
                <a:xfrm>
                  <a:off x="4740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3" name="Oval 29"/>
                <p:cNvSpPr>
                  <a:spLocks noChangeArrowheads="1"/>
                </p:cNvSpPr>
                <p:nvPr/>
              </p:nvSpPr>
              <p:spPr bwMode="auto">
                <a:xfrm>
                  <a:off x="5058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4" name="AutoShape 30"/>
                <p:cNvCxnSpPr>
                  <a:cxnSpLocks noChangeShapeType="1"/>
                  <a:stCxn id="57522" idx="6"/>
                  <a:endCxn id="57523" idx="2"/>
                </p:cNvCxnSpPr>
                <p:nvPr/>
              </p:nvCxnSpPr>
              <p:spPr bwMode="auto">
                <a:xfrm>
                  <a:off x="4838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5" name="Oval 31"/>
                <p:cNvSpPr>
                  <a:spLocks noChangeArrowheads="1"/>
                </p:cNvSpPr>
                <p:nvPr/>
              </p:nvSpPr>
              <p:spPr bwMode="auto">
                <a:xfrm>
                  <a:off x="4921" y="356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6" name="Oval 32"/>
                <p:cNvSpPr>
                  <a:spLocks noChangeArrowheads="1"/>
                </p:cNvSpPr>
                <p:nvPr/>
              </p:nvSpPr>
              <p:spPr bwMode="auto">
                <a:xfrm>
                  <a:off x="5239" y="356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27" name="AutoShape 33"/>
                <p:cNvCxnSpPr>
                  <a:cxnSpLocks noChangeShapeType="1"/>
                  <a:stCxn id="57525" idx="6"/>
                  <a:endCxn id="57526" idx="2"/>
                </p:cNvCxnSpPr>
                <p:nvPr/>
              </p:nvCxnSpPr>
              <p:spPr bwMode="auto">
                <a:xfrm>
                  <a:off x="5019" y="358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28" name="Oval 34"/>
                <p:cNvSpPr>
                  <a:spLocks noChangeArrowheads="1"/>
                </p:cNvSpPr>
                <p:nvPr/>
              </p:nvSpPr>
              <p:spPr bwMode="auto">
                <a:xfrm>
                  <a:off x="4740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29" name="Oval 35"/>
                <p:cNvSpPr>
                  <a:spLocks noChangeArrowheads="1"/>
                </p:cNvSpPr>
                <p:nvPr/>
              </p:nvSpPr>
              <p:spPr bwMode="auto">
                <a:xfrm>
                  <a:off x="5058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0" name="AutoShape 36"/>
                <p:cNvCxnSpPr>
                  <a:cxnSpLocks noChangeShapeType="1"/>
                  <a:stCxn id="57528" idx="6"/>
                  <a:endCxn id="57529" idx="2"/>
                </p:cNvCxnSpPr>
                <p:nvPr/>
              </p:nvCxnSpPr>
              <p:spPr bwMode="auto">
                <a:xfrm>
                  <a:off x="4838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1" name="Oval 37"/>
                <p:cNvSpPr>
                  <a:spLocks noChangeArrowheads="1"/>
                </p:cNvSpPr>
                <p:nvPr/>
              </p:nvSpPr>
              <p:spPr bwMode="auto">
                <a:xfrm>
                  <a:off x="4694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2" name="Oval 38"/>
                <p:cNvSpPr>
                  <a:spLocks noChangeArrowheads="1"/>
                </p:cNvSpPr>
                <p:nvPr/>
              </p:nvSpPr>
              <p:spPr bwMode="auto">
                <a:xfrm>
                  <a:off x="5012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3" name="AutoShape 39"/>
                <p:cNvCxnSpPr>
                  <a:cxnSpLocks noChangeShapeType="1"/>
                  <a:stCxn id="57531" idx="6"/>
                  <a:endCxn id="57532" idx="2"/>
                </p:cNvCxnSpPr>
                <p:nvPr/>
              </p:nvCxnSpPr>
              <p:spPr bwMode="auto">
                <a:xfrm>
                  <a:off x="4792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4" name="Oval 40"/>
                <p:cNvSpPr>
                  <a:spLocks noChangeArrowheads="1"/>
                </p:cNvSpPr>
                <p:nvPr/>
              </p:nvSpPr>
              <p:spPr bwMode="auto">
                <a:xfrm>
                  <a:off x="3651" y="3381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5" name="Oval 41"/>
                <p:cNvSpPr>
                  <a:spLocks noChangeArrowheads="1"/>
                </p:cNvSpPr>
                <p:nvPr/>
              </p:nvSpPr>
              <p:spPr bwMode="auto">
                <a:xfrm>
                  <a:off x="3969" y="338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6" name="AutoShape 42"/>
                <p:cNvCxnSpPr>
                  <a:cxnSpLocks noChangeShapeType="1"/>
                  <a:stCxn id="57534" idx="6"/>
                  <a:endCxn id="57535" idx="2"/>
                </p:cNvCxnSpPr>
                <p:nvPr/>
              </p:nvCxnSpPr>
              <p:spPr bwMode="auto">
                <a:xfrm>
                  <a:off x="3749" y="3407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37" name="Oval 43"/>
                <p:cNvSpPr>
                  <a:spLocks noChangeArrowheads="1"/>
                </p:cNvSpPr>
                <p:nvPr/>
              </p:nvSpPr>
              <p:spPr bwMode="auto">
                <a:xfrm>
                  <a:off x="3470" y="35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38" name="Oval 44"/>
                <p:cNvSpPr>
                  <a:spLocks noChangeArrowheads="1"/>
                </p:cNvSpPr>
                <p:nvPr/>
              </p:nvSpPr>
              <p:spPr bwMode="auto">
                <a:xfrm>
                  <a:off x="3788" y="355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39" name="AutoShape 45"/>
                <p:cNvCxnSpPr>
                  <a:cxnSpLocks noChangeShapeType="1"/>
                  <a:stCxn id="57537" idx="6"/>
                  <a:endCxn id="57538" idx="2"/>
                </p:cNvCxnSpPr>
                <p:nvPr/>
              </p:nvCxnSpPr>
              <p:spPr bwMode="auto">
                <a:xfrm>
                  <a:off x="3568" y="3581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0" name="Oval 46"/>
                <p:cNvSpPr>
                  <a:spLocks noChangeArrowheads="1"/>
                </p:cNvSpPr>
                <p:nvPr/>
              </p:nvSpPr>
              <p:spPr bwMode="auto">
                <a:xfrm>
                  <a:off x="3606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1" name="Oval 47"/>
                <p:cNvSpPr>
                  <a:spLocks noChangeArrowheads="1"/>
                </p:cNvSpPr>
                <p:nvPr/>
              </p:nvSpPr>
              <p:spPr bwMode="auto">
                <a:xfrm>
                  <a:off x="3924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2" name="AutoShape 48"/>
                <p:cNvCxnSpPr>
                  <a:cxnSpLocks noChangeShapeType="1"/>
                  <a:stCxn id="57540" idx="6"/>
                  <a:endCxn id="57541" idx="2"/>
                </p:cNvCxnSpPr>
                <p:nvPr/>
              </p:nvCxnSpPr>
              <p:spPr bwMode="auto">
                <a:xfrm>
                  <a:off x="3704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3" name="Oval 49"/>
                <p:cNvSpPr>
                  <a:spLocks noChangeArrowheads="1"/>
                </p:cNvSpPr>
                <p:nvPr/>
              </p:nvSpPr>
              <p:spPr bwMode="auto">
                <a:xfrm>
                  <a:off x="3742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4" name="Oval 50"/>
                <p:cNvSpPr>
                  <a:spLocks noChangeArrowheads="1"/>
                </p:cNvSpPr>
                <p:nvPr/>
              </p:nvSpPr>
              <p:spPr bwMode="auto">
                <a:xfrm>
                  <a:off x="4060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5" name="AutoShape 51"/>
                <p:cNvCxnSpPr>
                  <a:cxnSpLocks noChangeShapeType="1"/>
                  <a:stCxn id="57543" idx="6"/>
                  <a:endCxn id="57544" idx="2"/>
                </p:cNvCxnSpPr>
                <p:nvPr/>
              </p:nvCxnSpPr>
              <p:spPr bwMode="auto">
                <a:xfrm>
                  <a:off x="3840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6" name="Oval 52"/>
                <p:cNvSpPr>
                  <a:spLocks noChangeArrowheads="1"/>
                </p:cNvSpPr>
                <p:nvPr/>
              </p:nvSpPr>
              <p:spPr bwMode="auto">
                <a:xfrm>
                  <a:off x="483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47" name="Oval 53"/>
                <p:cNvSpPr>
                  <a:spLocks noChangeArrowheads="1"/>
                </p:cNvSpPr>
                <p:nvPr/>
              </p:nvSpPr>
              <p:spPr bwMode="auto">
                <a:xfrm>
                  <a:off x="514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48" name="AutoShape 54"/>
                <p:cNvCxnSpPr>
                  <a:cxnSpLocks noChangeShapeType="1"/>
                  <a:stCxn id="57546" idx="6"/>
                  <a:endCxn id="57547" idx="2"/>
                </p:cNvCxnSpPr>
                <p:nvPr/>
              </p:nvCxnSpPr>
              <p:spPr bwMode="auto">
                <a:xfrm>
                  <a:off x="492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49" name="Oval 55"/>
                <p:cNvSpPr>
                  <a:spLocks noChangeArrowheads="1"/>
                </p:cNvSpPr>
                <p:nvPr/>
              </p:nvSpPr>
              <p:spPr bwMode="auto">
                <a:xfrm>
                  <a:off x="4604" y="333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0" name="Oval 56"/>
                <p:cNvSpPr>
                  <a:spLocks noChangeArrowheads="1"/>
                </p:cNvSpPr>
                <p:nvPr/>
              </p:nvSpPr>
              <p:spPr bwMode="auto">
                <a:xfrm>
                  <a:off x="4922" y="333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1" name="AutoShape 57"/>
                <p:cNvCxnSpPr>
                  <a:cxnSpLocks noChangeShapeType="1"/>
                  <a:stCxn id="57549" idx="6"/>
                  <a:endCxn id="57550" idx="2"/>
                </p:cNvCxnSpPr>
                <p:nvPr/>
              </p:nvCxnSpPr>
              <p:spPr bwMode="auto">
                <a:xfrm>
                  <a:off x="4702" y="3362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52" name="Oval 58"/>
                <p:cNvSpPr>
                  <a:spLocks noChangeArrowheads="1"/>
                </p:cNvSpPr>
                <p:nvPr/>
              </p:nvSpPr>
              <p:spPr bwMode="auto">
                <a:xfrm>
                  <a:off x="347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3" name="Oval 59"/>
                <p:cNvSpPr>
                  <a:spLocks noChangeArrowheads="1"/>
                </p:cNvSpPr>
                <p:nvPr/>
              </p:nvSpPr>
              <p:spPr bwMode="auto">
                <a:xfrm>
                  <a:off x="378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4" name="AutoShape 60"/>
                <p:cNvCxnSpPr>
                  <a:cxnSpLocks noChangeShapeType="1"/>
                  <a:stCxn id="57552" idx="6"/>
                  <a:endCxn id="57553" idx="2"/>
                </p:cNvCxnSpPr>
                <p:nvPr/>
              </p:nvCxnSpPr>
              <p:spPr bwMode="auto">
                <a:xfrm>
                  <a:off x="356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555" name="Oval 61"/>
                <p:cNvSpPr>
                  <a:spLocks noChangeArrowheads="1"/>
                </p:cNvSpPr>
                <p:nvPr/>
              </p:nvSpPr>
              <p:spPr bwMode="auto">
                <a:xfrm>
                  <a:off x="3697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556" name="Oval 62"/>
                <p:cNvSpPr>
                  <a:spLocks noChangeArrowheads="1"/>
                </p:cNvSpPr>
                <p:nvPr/>
              </p:nvSpPr>
              <p:spPr bwMode="auto">
                <a:xfrm>
                  <a:off x="4015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557" name="AutoShape 63"/>
                <p:cNvCxnSpPr>
                  <a:cxnSpLocks noChangeShapeType="1"/>
                  <a:stCxn id="57555" idx="6"/>
                  <a:endCxn id="57556" idx="2"/>
                </p:cNvCxnSpPr>
                <p:nvPr/>
              </p:nvCxnSpPr>
              <p:spPr bwMode="auto">
                <a:xfrm>
                  <a:off x="3795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512" name="Oval 64"/>
              <p:cNvSpPr>
                <a:spLocks noChangeArrowheads="1"/>
              </p:cNvSpPr>
              <p:nvPr/>
            </p:nvSpPr>
            <p:spPr bwMode="auto">
              <a:xfrm>
                <a:off x="3243" y="3294"/>
                <a:ext cx="2359" cy="680"/>
              </a:xfrm>
              <a:prstGeom prst="ellips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</p:grpSp>
        <p:grpSp>
          <p:nvGrpSpPr>
            <p:cNvPr id="57504" name="Group 65"/>
            <p:cNvGrpSpPr>
              <a:grpSpLocks/>
            </p:cNvGrpSpPr>
            <p:nvPr/>
          </p:nvGrpSpPr>
          <p:grpSpPr bwMode="auto">
            <a:xfrm>
              <a:off x="3352" y="2882"/>
              <a:ext cx="2060" cy="1092"/>
              <a:chOff x="3379" y="2882"/>
              <a:chExt cx="2060" cy="1092"/>
            </a:xfrm>
          </p:grpSpPr>
          <p:sp>
            <p:nvSpPr>
              <p:cNvPr id="57505" name="Oval 66"/>
              <p:cNvSpPr>
                <a:spLocks noChangeArrowheads="1"/>
              </p:cNvSpPr>
              <p:nvPr/>
            </p:nvSpPr>
            <p:spPr bwMode="auto">
              <a:xfrm>
                <a:off x="3379" y="3290"/>
                <a:ext cx="1361" cy="681"/>
              </a:xfrm>
              <a:prstGeom prst="ellips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6" name="Oval 67"/>
              <p:cNvSpPr>
                <a:spLocks noChangeArrowheads="1"/>
              </p:cNvSpPr>
              <p:nvPr/>
            </p:nvSpPr>
            <p:spPr bwMode="auto">
              <a:xfrm>
                <a:off x="4078" y="3293"/>
                <a:ext cx="1361" cy="68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7" name="AutoShape 68"/>
              <p:cNvSpPr>
                <a:spLocks noChangeArrowheads="1"/>
              </p:cNvSpPr>
              <p:nvPr/>
            </p:nvSpPr>
            <p:spPr bwMode="auto">
              <a:xfrm flipV="1">
                <a:off x="3379" y="2973"/>
                <a:ext cx="1361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952 w 21600"/>
                  <a:gd name="T13" fmla="*/ 3954 h 21600"/>
                  <a:gd name="T14" fmla="*/ 17648 w 21600"/>
                  <a:gd name="T15" fmla="*/ 17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316" y="21600"/>
                    </a:lnTo>
                    <a:lnTo>
                      <a:pt x="172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2EDF6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8" name="AutoShape 69"/>
              <p:cNvSpPr>
                <a:spLocks noChangeArrowheads="1"/>
              </p:cNvSpPr>
              <p:nvPr/>
            </p:nvSpPr>
            <p:spPr bwMode="auto">
              <a:xfrm flipV="1">
                <a:off x="4105" y="2968"/>
                <a:ext cx="1323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245 w 21600"/>
                  <a:gd name="T13" fmla="*/ 4247 h 21600"/>
                  <a:gd name="T14" fmla="*/ 17355 w 21600"/>
                  <a:gd name="T15" fmla="*/ 1735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881" y="21600"/>
                    </a:lnTo>
                    <a:lnTo>
                      <a:pt x="1671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FF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509" name="AutoShape 70"/>
              <p:cNvSpPr>
                <a:spLocks noChangeArrowheads="1"/>
              </p:cNvSpPr>
              <p:nvPr/>
            </p:nvSpPr>
            <p:spPr bwMode="auto">
              <a:xfrm>
                <a:off x="3569" y="2882"/>
                <a:ext cx="817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ja-JP" sz="1600" b="1">
                    <a:solidFill>
                      <a:schemeClr val="accent2"/>
                    </a:solidFill>
                  </a:rPr>
                  <a:t>WordSpace</a:t>
                </a:r>
              </a:p>
            </p:txBody>
          </p:sp>
          <p:sp>
            <p:nvSpPr>
              <p:cNvPr id="57510" name="AutoShape 71"/>
              <p:cNvSpPr>
                <a:spLocks noChangeArrowheads="1"/>
              </p:cNvSpPr>
              <p:nvPr/>
            </p:nvSpPr>
            <p:spPr bwMode="auto">
              <a:xfrm>
                <a:off x="4423" y="2882"/>
                <a:ext cx="816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ja-JP" altLang="en-US" sz="1600" b="1">
                    <a:solidFill>
                      <a:schemeClr val="accent2"/>
                    </a:solidFill>
                  </a:rPr>
                  <a:t>相関ルール</a:t>
                </a:r>
              </a:p>
            </p:txBody>
          </p:sp>
        </p:grpSp>
      </p:grpSp>
      <p:sp>
        <p:nvSpPr>
          <p:cNvPr id="57350" name="Text Box 72"/>
          <p:cNvSpPr txBox="1">
            <a:spLocks noChangeArrowheads="1"/>
          </p:cNvSpPr>
          <p:nvPr/>
        </p:nvSpPr>
        <p:spPr bwMode="auto">
          <a:xfrm>
            <a:off x="7620001" y="3200400"/>
            <a:ext cx="14716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概念対集合</a:t>
            </a:r>
          </a:p>
        </p:txBody>
      </p:sp>
      <p:grpSp>
        <p:nvGrpSpPr>
          <p:cNvPr id="57351" name="Group 73"/>
          <p:cNvGrpSpPr>
            <a:grpSpLocks/>
          </p:cNvGrpSpPr>
          <p:nvPr/>
        </p:nvGrpSpPr>
        <p:grpSpPr bwMode="auto">
          <a:xfrm>
            <a:off x="8615364" y="682626"/>
            <a:ext cx="1176337" cy="1006475"/>
            <a:chOff x="249" y="2118"/>
            <a:chExt cx="788" cy="855"/>
          </a:xfrm>
        </p:grpSpPr>
        <p:grpSp>
          <p:nvGrpSpPr>
            <p:cNvPr id="57463" name="Group 74"/>
            <p:cNvGrpSpPr>
              <a:grpSpLocks/>
            </p:cNvGrpSpPr>
            <p:nvPr/>
          </p:nvGrpSpPr>
          <p:grpSpPr bwMode="auto">
            <a:xfrm>
              <a:off x="249" y="2118"/>
              <a:ext cx="652" cy="722"/>
              <a:chOff x="4785" y="2563"/>
              <a:chExt cx="912" cy="912"/>
            </a:xfrm>
          </p:grpSpPr>
          <p:sp>
            <p:nvSpPr>
              <p:cNvPr id="57494" name="Rectangle 7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95" name="Rectangle 7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96" name="Line 7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7" name="Line 7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8" name="Line 7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9" name="Line 8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0" name="Line 8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1" name="Line 8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502" name="Line 8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4" name="Group 84"/>
            <p:cNvGrpSpPr>
              <a:grpSpLocks/>
            </p:cNvGrpSpPr>
            <p:nvPr/>
          </p:nvGrpSpPr>
          <p:grpSpPr bwMode="auto">
            <a:xfrm>
              <a:off x="294" y="2164"/>
              <a:ext cx="652" cy="722"/>
              <a:chOff x="4785" y="2563"/>
              <a:chExt cx="912" cy="912"/>
            </a:xfrm>
          </p:grpSpPr>
          <p:sp>
            <p:nvSpPr>
              <p:cNvPr id="57485" name="Rectangle 8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86" name="Rectangle 8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87" name="Line 8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8" name="Line 8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9" name="Line 8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0" name="Line 9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1" name="Line 9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2" name="Line 9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93" name="Line 9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5" name="Group 94"/>
            <p:cNvGrpSpPr>
              <a:grpSpLocks/>
            </p:cNvGrpSpPr>
            <p:nvPr/>
          </p:nvGrpSpPr>
          <p:grpSpPr bwMode="auto">
            <a:xfrm>
              <a:off x="340" y="2205"/>
              <a:ext cx="652" cy="722"/>
              <a:chOff x="4785" y="2563"/>
              <a:chExt cx="912" cy="912"/>
            </a:xfrm>
          </p:grpSpPr>
          <p:sp>
            <p:nvSpPr>
              <p:cNvPr id="57476" name="Rectangle 9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77" name="Rectangle 9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78" name="Line 9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9" name="Line 9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0" name="Line 9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1" name="Line 10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2" name="Line 10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3" name="Line 10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84" name="Line 10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  <p:grpSp>
          <p:nvGrpSpPr>
            <p:cNvPr id="57466" name="Group 104"/>
            <p:cNvGrpSpPr>
              <a:grpSpLocks/>
            </p:cNvGrpSpPr>
            <p:nvPr/>
          </p:nvGrpSpPr>
          <p:grpSpPr bwMode="auto">
            <a:xfrm>
              <a:off x="385" y="2251"/>
              <a:ext cx="652" cy="722"/>
              <a:chOff x="4785" y="2563"/>
              <a:chExt cx="912" cy="912"/>
            </a:xfrm>
          </p:grpSpPr>
          <p:sp>
            <p:nvSpPr>
              <p:cNvPr id="57467" name="Rectangle 105"/>
              <p:cNvSpPr>
                <a:spLocks noChangeArrowheads="1"/>
              </p:cNvSpPr>
              <p:nvPr/>
            </p:nvSpPr>
            <p:spPr bwMode="auto">
              <a:xfrm>
                <a:off x="4855" y="2633"/>
                <a:ext cx="842" cy="84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468" name="Rectangle 106"/>
              <p:cNvSpPr>
                <a:spLocks noChangeArrowheads="1"/>
              </p:cNvSpPr>
              <p:nvPr/>
            </p:nvSpPr>
            <p:spPr bwMode="auto">
              <a:xfrm>
                <a:off x="4785" y="2563"/>
                <a:ext cx="842" cy="84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endParaRPr lang="ja-JP" altLang="ja-JP" sz="1400">
                  <a:latin typeface="ＭＳ Ｐゴシック" charset="-128"/>
                </a:endParaRPr>
              </a:p>
            </p:txBody>
          </p:sp>
          <p:sp>
            <p:nvSpPr>
              <p:cNvPr id="57469" name="Line 107"/>
              <p:cNvSpPr>
                <a:spLocks noChangeShapeType="1"/>
              </p:cNvSpPr>
              <p:nvPr/>
            </p:nvSpPr>
            <p:spPr bwMode="auto">
              <a:xfrm>
                <a:off x="4855" y="305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0" name="Line 108"/>
              <p:cNvSpPr>
                <a:spLocks noChangeShapeType="1"/>
              </p:cNvSpPr>
              <p:nvPr/>
            </p:nvSpPr>
            <p:spPr bwMode="auto">
              <a:xfrm>
                <a:off x="4855" y="312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1" name="Line 109"/>
              <p:cNvSpPr>
                <a:spLocks noChangeShapeType="1"/>
              </p:cNvSpPr>
              <p:nvPr/>
            </p:nvSpPr>
            <p:spPr bwMode="auto">
              <a:xfrm>
                <a:off x="4855" y="319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2" name="Line 110"/>
              <p:cNvSpPr>
                <a:spLocks noChangeShapeType="1"/>
              </p:cNvSpPr>
              <p:nvPr/>
            </p:nvSpPr>
            <p:spPr bwMode="auto">
              <a:xfrm>
                <a:off x="4855" y="326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3" name="Line 111"/>
              <p:cNvSpPr>
                <a:spLocks noChangeShapeType="1"/>
              </p:cNvSpPr>
              <p:nvPr/>
            </p:nvSpPr>
            <p:spPr bwMode="auto">
              <a:xfrm>
                <a:off x="4855" y="3335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4" name="Line 112"/>
              <p:cNvSpPr>
                <a:spLocks noChangeShapeType="1"/>
              </p:cNvSpPr>
              <p:nvPr/>
            </p:nvSpPr>
            <p:spPr bwMode="auto">
              <a:xfrm>
                <a:off x="4855" y="298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  <p:sp>
            <p:nvSpPr>
              <p:cNvPr id="57475" name="Line 113"/>
              <p:cNvSpPr>
                <a:spLocks noChangeShapeType="1"/>
              </p:cNvSpPr>
              <p:nvPr/>
            </p:nvSpPr>
            <p:spPr bwMode="auto">
              <a:xfrm>
                <a:off x="4855" y="2914"/>
                <a:ext cx="702" cy="0"/>
              </a:xfrm>
              <a:prstGeom prst="line">
                <a:avLst/>
              </a:prstGeom>
              <a:noFill/>
              <a:ln w="25400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 anchorCtr="1"/>
              <a:lstStyle/>
              <a:p>
                <a:endParaRPr lang="ja-JP" altLang="en-US"/>
              </a:p>
            </p:txBody>
          </p:sp>
        </p:grpSp>
      </p:grpSp>
      <p:grpSp>
        <p:nvGrpSpPr>
          <p:cNvPr id="57352" name="Group 114"/>
          <p:cNvGrpSpPr>
            <a:grpSpLocks/>
          </p:cNvGrpSpPr>
          <p:nvPr/>
        </p:nvGrpSpPr>
        <p:grpSpPr bwMode="auto">
          <a:xfrm>
            <a:off x="9001125" y="1187451"/>
            <a:ext cx="528638" cy="390525"/>
            <a:chOff x="4241" y="1525"/>
            <a:chExt cx="407" cy="317"/>
          </a:xfrm>
        </p:grpSpPr>
        <p:sp>
          <p:nvSpPr>
            <p:cNvPr id="57457" name="Oval 115"/>
            <p:cNvSpPr>
              <a:spLocks noChangeArrowheads="1"/>
            </p:cNvSpPr>
            <p:nvPr/>
          </p:nvSpPr>
          <p:spPr bwMode="auto">
            <a:xfrm>
              <a:off x="4241" y="1525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8" name="Oval 116"/>
            <p:cNvSpPr>
              <a:spLocks noChangeArrowheads="1"/>
            </p:cNvSpPr>
            <p:nvPr/>
          </p:nvSpPr>
          <p:spPr bwMode="auto">
            <a:xfrm>
              <a:off x="4422" y="1525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9" name="Oval 117"/>
            <p:cNvSpPr>
              <a:spLocks noChangeArrowheads="1"/>
            </p:cNvSpPr>
            <p:nvPr/>
          </p:nvSpPr>
          <p:spPr bwMode="auto">
            <a:xfrm>
              <a:off x="4377" y="1637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0" name="Oval 118"/>
            <p:cNvSpPr>
              <a:spLocks noChangeArrowheads="1"/>
            </p:cNvSpPr>
            <p:nvPr/>
          </p:nvSpPr>
          <p:spPr bwMode="auto">
            <a:xfrm>
              <a:off x="4558" y="1637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1" name="Oval 119"/>
            <p:cNvSpPr>
              <a:spLocks noChangeArrowheads="1"/>
            </p:cNvSpPr>
            <p:nvPr/>
          </p:nvSpPr>
          <p:spPr bwMode="auto">
            <a:xfrm>
              <a:off x="4287" y="1791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62" name="Oval 120"/>
            <p:cNvSpPr>
              <a:spLocks noChangeArrowheads="1"/>
            </p:cNvSpPr>
            <p:nvPr/>
          </p:nvSpPr>
          <p:spPr bwMode="auto">
            <a:xfrm>
              <a:off x="4468" y="1791"/>
              <a:ext cx="90" cy="51"/>
            </a:xfrm>
            <a:prstGeom prst="ellipse">
              <a:avLst/>
            </a:prstGeom>
            <a:solidFill>
              <a:srgbClr val="99FF99"/>
            </a:solidFill>
            <a:ln w="25400">
              <a:solidFill>
                <a:srgbClr val="33CC33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</p:grpSp>
      <p:sp>
        <p:nvSpPr>
          <p:cNvPr id="57353" name="Text Box 121"/>
          <p:cNvSpPr txBox="1">
            <a:spLocks noChangeArrowheads="1"/>
          </p:cNvSpPr>
          <p:nvPr/>
        </p:nvSpPr>
        <p:spPr bwMode="auto">
          <a:xfrm>
            <a:off x="8753475" y="833438"/>
            <a:ext cx="1003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1600" b="1"/>
              <a:t>専門文書</a:t>
            </a:r>
          </a:p>
        </p:txBody>
      </p:sp>
      <p:grpSp>
        <p:nvGrpSpPr>
          <p:cNvPr id="57354" name="Group 139"/>
          <p:cNvGrpSpPr>
            <a:grpSpLocks/>
          </p:cNvGrpSpPr>
          <p:nvPr/>
        </p:nvGrpSpPr>
        <p:grpSpPr bwMode="auto">
          <a:xfrm>
            <a:off x="7620000" y="4952999"/>
            <a:ext cx="1828800" cy="1046476"/>
            <a:chOff x="3564" y="3322"/>
            <a:chExt cx="1452" cy="900"/>
          </a:xfrm>
        </p:grpSpPr>
        <p:sp>
          <p:nvSpPr>
            <p:cNvPr id="57441" name="Oval 123"/>
            <p:cNvSpPr>
              <a:spLocks noChangeArrowheads="1"/>
            </p:cNvSpPr>
            <p:nvPr/>
          </p:nvSpPr>
          <p:spPr bwMode="auto">
            <a:xfrm>
              <a:off x="3564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2" name="Oval 124"/>
            <p:cNvSpPr>
              <a:spLocks noChangeArrowheads="1"/>
            </p:cNvSpPr>
            <p:nvPr/>
          </p:nvSpPr>
          <p:spPr bwMode="auto">
            <a:xfrm>
              <a:off x="4290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3" name="AutoShape 125"/>
            <p:cNvCxnSpPr>
              <a:cxnSpLocks noChangeShapeType="1"/>
              <a:stCxn id="57441" idx="6"/>
              <a:endCxn id="57442" idx="2"/>
            </p:cNvCxnSpPr>
            <p:nvPr/>
          </p:nvCxnSpPr>
          <p:spPr bwMode="auto">
            <a:xfrm>
              <a:off x="3972" y="3513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44" name="Oval 126"/>
            <p:cNvSpPr>
              <a:spLocks noChangeArrowheads="1"/>
            </p:cNvSpPr>
            <p:nvPr/>
          </p:nvSpPr>
          <p:spPr bwMode="auto">
            <a:xfrm>
              <a:off x="3654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5" name="Oval 127"/>
            <p:cNvSpPr>
              <a:spLocks noChangeArrowheads="1"/>
            </p:cNvSpPr>
            <p:nvPr/>
          </p:nvSpPr>
          <p:spPr bwMode="auto">
            <a:xfrm>
              <a:off x="4426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6" name="AutoShape 128"/>
            <p:cNvCxnSpPr>
              <a:cxnSpLocks noChangeShapeType="1"/>
              <a:stCxn id="57444" idx="6"/>
              <a:endCxn id="57445" idx="2"/>
            </p:cNvCxnSpPr>
            <p:nvPr/>
          </p:nvCxnSpPr>
          <p:spPr bwMode="auto">
            <a:xfrm>
              <a:off x="4062" y="3739"/>
              <a:ext cx="3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47" name="Oval 129"/>
            <p:cNvSpPr>
              <a:spLocks noChangeArrowheads="1"/>
            </p:cNvSpPr>
            <p:nvPr/>
          </p:nvSpPr>
          <p:spPr bwMode="auto">
            <a:xfrm>
              <a:off x="3836" y="3853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48" name="Oval 130"/>
            <p:cNvSpPr>
              <a:spLocks noChangeArrowheads="1"/>
            </p:cNvSpPr>
            <p:nvPr/>
          </p:nvSpPr>
          <p:spPr bwMode="auto">
            <a:xfrm>
              <a:off x="4517" y="3854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49" name="AutoShape 131"/>
            <p:cNvCxnSpPr>
              <a:cxnSpLocks noChangeShapeType="1"/>
              <a:stCxn id="57447" idx="6"/>
              <a:endCxn id="57448" idx="2"/>
            </p:cNvCxnSpPr>
            <p:nvPr/>
          </p:nvCxnSpPr>
          <p:spPr bwMode="auto">
            <a:xfrm>
              <a:off x="4244" y="3921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50" name="Oval 132"/>
            <p:cNvSpPr>
              <a:spLocks noChangeArrowheads="1"/>
            </p:cNvSpPr>
            <p:nvPr/>
          </p:nvSpPr>
          <p:spPr bwMode="auto">
            <a:xfrm>
              <a:off x="3927" y="4079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451" name="Oval 133"/>
            <p:cNvSpPr>
              <a:spLocks noChangeArrowheads="1"/>
            </p:cNvSpPr>
            <p:nvPr/>
          </p:nvSpPr>
          <p:spPr bwMode="auto">
            <a:xfrm>
              <a:off x="4608" y="4080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452" name="AutoShape 134"/>
            <p:cNvCxnSpPr>
              <a:cxnSpLocks noChangeShapeType="1"/>
              <a:stCxn id="57450" idx="6"/>
              <a:endCxn id="57451" idx="2"/>
            </p:cNvCxnSpPr>
            <p:nvPr/>
          </p:nvCxnSpPr>
          <p:spPr bwMode="auto">
            <a:xfrm>
              <a:off x="4335" y="4147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453" name="Text Box 135"/>
            <p:cNvSpPr txBox="1">
              <a:spLocks noChangeArrowheads="1"/>
            </p:cNvSpPr>
            <p:nvPr/>
          </p:nvSpPr>
          <p:spPr bwMode="auto">
            <a:xfrm>
              <a:off x="3882" y="3322"/>
              <a:ext cx="5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has-a</a:t>
              </a:r>
            </a:p>
          </p:txBody>
        </p:sp>
        <p:sp>
          <p:nvSpPr>
            <p:cNvPr id="57454" name="Text Box 136"/>
            <p:cNvSpPr txBox="1">
              <a:spLocks noChangeArrowheads="1"/>
            </p:cNvSpPr>
            <p:nvPr/>
          </p:nvSpPr>
          <p:spPr bwMode="auto">
            <a:xfrm>
              <a:off x="4024" y="3570"/>
              <a:ext cx="35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link</a:t>
              </a:r>
            </a:p>
          </p:txBody>
        </p:sp>
        <p:sp>
          <p:nvSpPr>
            <p:cNvPr id="57455" name="Text Box 137"/>
            <p:cNvSpPr txBox="1">
              <a:spLocks noChangeArrowheads="1"/>
            </p:cNvSpPr>
            <p:nvPr/>
          </p:nvSpPr>
          <p:spPr bwMode="auto">
            <a:xfrm>
              <a:off x="4197" y="3753"/>
              <a:ext cx="36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title</a:t>
              </a:r>
            </a:p>
          </p:txBody>
        </p:sp>
        <p:sp>
          <p:nvSpPr>
            <p:cNvPr id="57456" name="Text Box 138"/>
            <p:cNvSpPr txBox="1">
              <a:spLocks noChangeArrowheads="1"/>
            </p:cNvSpPr>
            <p:nvPr/>
          </p:nvSpPr>
          <p:spPr bwMode="auto">
            <a:xfrm>
              <a:off x="4154" y="3957"/>
              <a:ext cx="55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knows</a:t>
              </a:r>
            </a:p>
          </p:txBody>
        </p:sp>
      </p:grpSp>
      <p:sp>
        <p:nvSpPr>
          <p:cNvPr id="57355" name="Oval 141"/>
          <p:cNvSpPr>
            <a:spLocks noChangeArrowheads="1"/>
          </p:cNvSpPr>
          <p:nvPr/>
        </p:nvSpPr>
        <p:spPr bwMode="auto">
          <a:xfrm>
            <a:off x="7162800" y="4572000"/>
            <a:ext cx="2667000" cy="1524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7356" name="Text Box 142"/>
          <p:cNvSpPr txBox="1">
            <a:spLocks noChangeArrowheads="1"/>
          </p:cNvSpPr>
          <p:nvPr/>
        </p:nvSpPr>
        <p:spPr bwMode="auto">
          <a:xfrm>
            <a:off x="8750300" y="4165601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Comic Sans MS" charset="0"/>
              </a:rPr>
              <a:t>関係洗練</a:t>
            </a:r>
          </a:p>
        </p:txBody>
      </p:sp>
      <p:sp>
        <p:nvSpPr>
          <p:cNvPr id="57357" name="Text Box 144"/>
          <p:cNvSpPr txBox="1">
            <a:spLocks noChangeArrowheads="1"/>
          </p:cNvSpPr>
          <p:nvPr/>
        </p:nvSpPr>
        <p:spPr bwMode="auto">
          <a:xfrm>
            <a:off x="7745414" y="4629150"/>
            <a:ext cx="1474787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非階層関係</a:t>
            </a:r>
          </a:p>
        </p:txBody>
      </p:sp>
      <p:sp>
        <p:nvSpPr>
          <p:cNvPr id="57358" name="AutoShape 4"/>
          <p:cNvSpPr>
            <a:spLocks noChangeArrowheads="1"/>
          </p:cNvSpPr>
          <p:nvPr/>
        </p:nvSpPr>
        <p:spPr bwMode="auto">
          <a:xfrm>
            <a:off x="2432050" y="2116139"/>
            <a:ext cx="2865438" cy="8413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76200">
            <a:solidFill>
              <a:srgbClr val="00E1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ja-JP" altLang="ja-JP" b="1">
              <a:latin typeface="Times New Roman" charset="0"/>
            </a:endParaRP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2930526" y="2054225"/>
            <a:ext cx="19796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ja-JP" altLang="en-US" sz="2000" b="1">
                <a:solidFill>
                  <a:srgbClr val="FF3300"/>
                </a:solidFill>
                <a:latin typeface="Times New Roman" charset="0"/>
              </a:rPr>
              <a:t>関係構築モジュール</a:t>
            </a:r>
          </a:p>
        </p:txBody>
      </p:sp>
      <p:grpSp>
        <p:nvGrpSpPr>
          <p:cNvPr id="57360" name="Group 16"/>
          <p:cNvGrpSpPr>
            <a:grpSpLocks/>
          </p:cNvGrpSpPr>
          <p:nvPr/>
        </p:nvGrpSpPr>
        <p:grpSpPr bwMode="auto">
          <a:xfrm>
            <a:off x="2286000" y="2552701"/>
            <a:ext cx="3352800" cy="1516063"/>
            <a:chOff x="3243" y="2882"/>
            <a:chExt cx="2359" cy="1092"/>
          </a:xfrm>
        </p:grpSpPr>
        <p:grpSp>
          <p:nvGrpSpPr>
            <p:cNvPr id="57386" name="Group 17"/>
            <p:cNvGrpSpPr>
              <a:grpSpLocks/>
            </p:cNvGrpSpPr>
            <p:nvPr/>
          </p:nvGrpSpPr>
          <p:grpSpPr bwMode="auto">
            <a:xfrm>
              <a:off x="3243" y="3294"/>
              <a:ext cx="2359" cy="680"/>
              <a:chOff x="3243" y="3294"/>
              <a:chExt cx="2359" cy="680"/>
            </a:xfrm>
          </p:grpSpPr>
          <p:grpSp>
            <p:nvGrpSpPr>
              <p:cNvPr id="57394" name="Group 18"/>
              <p:cNvGrpSpPr>
                <a:grpSpLocks/>
              </p:cNvGrpSpPr>
              <p:nvPr/>
            </p:nvGrpSpPr>
            <p:grpSpPr bwMode="auto">
              <a:xfrm>
                <a:off x="3470" y="3336"/>
                <a:ext cx="1859" cy="544"/>
                <a:chOff x="3470" y="3336"/>
                <a:chExt cx="1859" cy="544"/>
              </a:xfrm>
            </p:grpSpPr>
            <p:sp>
              <p:nvSpPr>
                <p:cNvPr id="57396" name="Oval 19"/>
                <p:cNvSpPr>
                  <a:spLocks noChangeArrowheads="1"/>
                </p:cNvSpPr>
                <p:nvPr/>
              </p:nvSpPr>
              <p:spPr bwMode="auto">
                <a:xfrm>
                  <a:off x="4196" y="3472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397" name="Oval 20"/>
                <p:cNvSpPr>
                  <a:spLocks noChangeArrowheads="1"/>
                </p:cNvSpPr>
                <p:nvPr/>
              </p:nvSpPr>
              <p:spPr bwMode="auto">
                <a:xfrm>
                  <a:off x="4514" y="347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398" name="AutoShape 21"/>
                <p:cNvCxnSpPr>
                  <a:cxnSpLocks noChangeShapeType="1"/>
                  <a:stCxn id="57396" idx="6"/>
                  <a:endCxn id="57397" idx="2"/>
                </p:cNvCxnSpPr>
                <p:nvPr/>
              </p:nvCxnSpPr>
              <p:spPr bwMode="auto">
                <a:xfrm>
                  <a:off x="4294" y="3498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399" name="Oval 22"/>
                <p:cNvSpPr>
                  <a:spLocks noChangeArrowheads="1"/>
                </p:cNvSpPr>
                <p:nvPr/>
              </p:nvSpPr>
              <p:spPr bwMode="auto">
                <a:xfrm>
                  <a:off x="4259" y="360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0" name="Oval 23"/>
                <p:cNvSpPr>
                  <a:spLocks noChangeArrowheads="1"/>
                </p:cNvSpPr>
                <p:nvPr/>
              </p:nvSpPr>
              <p:spPr bwMode="auto">
                <a:xfrm>
                  <a:off x="4577" y="3610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1" name="AutoShape 24"/>
                <p:cNvCxnSpPr>
                  <a:cxnSpLocks noChangeShapeType="1"/>
                  <a:stCxn id="57399" idx="6"/>
                  <a:endCxn id="57400" idx="2"/>
                </p:cNvCxnSpPr>
                <p:nvPr/>
              </p:nvCxnSpPr>
              <p:spPr bwMode="auto">
                <a:xfrm>
                  <a:off x="4357" y="3634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2" name="Oval 25"/>
                <p:cNvSpPr>
                  <a:spLocks noChangeArrowheads="1"/>
                </p:cNvSpPr>
                <p:nvPr/>
              </p:nvSpPr>
              <p:spPr bwMode="auto">
                <a:xfrm>
                  <a:off x="4196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3" name="Oval 26"/>
                <p:cNvSpPr>
                  <a:spLocks noChangeArrowheads="1"/>
                </p:cNvSpPr>
                <p:nvPr/>
              </p:nvSpPr>
              <p:spPr bwMode="auto">
                <a:xfrm>
                  <a:off x="4514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4" name="AutoShape 27"/>
                <p:cNvCxnSpPr>
                  <a:cxnSpLocks noChangeShapeType="1"/>
                  <a:stCxn id="57402" idx="6"/>
                  <a:endCxn id="57403" idx="2"/>
                </p:cNvCxnSpPr>
                <p:nvPr/>
              </p:nvCxnSpPr>
              <p:spPr bwMode="auto">
                <a:xfrm>
                  <a:off x="4294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5" name="Oval 28"/>
                <p:cNvSpPr>
                  <a:spLocks noChangeArrowheads="1"/>
                </p:cNvSpPr>
                <p:nvPr/>
              </p:nvSpPr>
              <p:spPr bwMode="auto">
                <a:xfrm>
                  <a:off x="4740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6" name="Oval 29"/>
                <p:cNvSpPr>
                  <a:spLocks noChangeArrowheads="1"/>
                </p:cNvSpPr>
                <p:nvPr/>
              </p:nvSpPr>
              <p:spPr bwMode="auto">
                <a:xfrm>
                  <a:off x="5058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07" name="AutoShape 30"/>
                <p:cNvCxnSpPr>
                  <a:cxnSpLocks noChangeShapeType="1"/>
                  <a:stCxn id="57405" idx="6"/>
                  <a:endCxn id="57406" idx="2"/>
                </p:cNvCxnSpPr>
                <p:nvPr/>
              </p:nvCxnSpPr>
              <p:spPr bwMode="auto">
                <a:xfrm>
                  <a:off x="4838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08" name="Oval 31"/>
                <p:cNvSpPr>
                  <a:spLocks noChangeArrowheads="1"/>
                </p:cNvSpPr>
                <p:nvPr/>
              </p:nvSpPr>
              <p:spPr bwMode="auto">
                <a:xfrm>
                  <a:off x="4921" y="356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09" name="Oval 32"/>
                <p:cNvSpPr>
                  <a:spLocks noChangeArrowheads="1"/>
                </p:cNvSpPr>
                <p:nvPr/>
              </p:nvSpPr>
              <p:spPr bwMode="auto">
                <a:xfrm>
                  <a:off x="5239" y="356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0" name="AutoShape 33"/>
                <p:cNvCxnSpPr>
                  <a:cxnSpLocks noChangeShapeType="1"/>
                  <a:stCxn id="57408" idx="6"/>
                  <a:endCxn id="57409" idx="2"/>
                </p:cNvCxnSpPr>
                <p:nvPr/>
              </p:nvCxnSpPr>
              <p:spPr bwMode="auto">
                <a:xfrm>
                  <a:off x="5019" y="358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1" name="Oval 34"/>
                <p:cNvSpPr>
                  <a:spLocks noChangeArrowheads="1"/>
                </p:cNvSpPr>
                <p:nvPr/>
              </p:nvSpPr>
              <p:spPr bwMode="auto">
                <a:xfrm>
                  <a:off x="4740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2" name="Oval 35"/>
                <p:cNvSpPr>
                  <a:spLocks noChangeArrowheads="1"/>
                </p:cNvSpPr>
                <p:nvPr/>
              </p:nvSpPr>
              <p:spPr bwMode="auto">
                <a:xfrm>
                  <a:off x="5058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3" name="AutoShape 36"/>
                <p:cNvCxnSpPr>
                  <a:cxnSpLocks noChangeShapeType="1"/>
                  <a:stCxn id="57411" idx="6"/>
                  <a:endCxn id="57412" idx="2"/>
                </p:cNvCxnSpPr>
                <p:nvPr/>
              </p:nvCxnSpPr>
              <p:spPr bwMode="auto">
                <a:xfrm>
                  <a:off x="4838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4" name="Oval 37"/>
                <p:cNvSpPr>
                  <a:spLocks noChangeArrowheads="1"/>
                </p:cNvSpPr>
                <p:nvPr/>
              </p:nvSpPr>
              <p:spPr bwMode="auto">
                <a:xfrm>
                  <a:off x="4694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5" name="Oval 38"/>
                <p:cNvSpPr>
                  <a:spLocks noChangeArrowheads="1"/>
                </p:cNvSpPr>
                <p:nvPr/>
              </p:nvSpPr>
              <p:spPr bwMode="auto">
                <a:xfrm>
                  <a:off x="5012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6" name="AutoShape 39"/>
                <p:cNvCxnSpPr>
                  <a:cxnSpLocks noChangeShapeType="1"/>
                  <a:stCxn id="57414" idx="6"/>
                  <a:endCxn id="57415" idx="2"/>
                </p:cNvCxnSpPr>
                <p:nvPr/>
              </p:nvCxnSpPr>
              <p:spPr bwMode="auto">
                <a:xfrm>
                  <a:off x="4792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17" name="Oval 40"/>
                <p:cNvSpPr>
                  <a:spLocks noChangeArrowheads="1"/>
                </p:cNvSpPr>
                <p:nvPr/>
              </p:nvSpPr>
              <p:spPr bwMode="auto">
                <a:xfrm>
                  <a:off x="3651" y="3381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18" name="Oval 41"/>
                <p:cNvSpPr>
                  <a:spLocks noChangeArrowheads="1"/>
                </p:cNvSpPr>
                <p:nvPr/>
              </p:nvSpPr>
              <p:spPr bwMode="auto">
                <a:xfrm>
                  <a:off x="3969" y="338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19" name="AutoShape 42"/>
                <p:cNvCxnSpPr>
                  <a:cxnSpLocks noChangeShapeType="1"/>
                  <a:stCxn id="57417" idx="6"/>
                  <a:endCxn id="57418" idx="2"/>
                </p:cNvCxnSpPr>
                <p:nvPr/>
              </p:nvCxnSpPr>
              <p:spPr bwMode="auto">
                <a:xfrm>
                  <a:off x="3749" y="3407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0" name="Oval 43"/>
                <p:cNvSpPr>
                  <a:spLocks noChangeArrowheads="1"/>
                </p:cNvSpPr>
                <p:nvPr/>
              </p:nvSpPr>
              <p:spPr bwMode="auto">
                <a:xfrm>
                  <a:off x="3470" y="35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1" name="Oval 44"/>
                <p:cNvSpPr>
                  <a:spLocks noChangeArrowheads="1"/>
                </p:cNvSpPr>
                <p:nvPr/>
              </p:nvSpPr>
              <p:spPr bwMode="auto">
                <a:xfrm>
                  <a:off x="3788" y="355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2" name="AutoShape 45"/>
                <p:cNvCxnSpPr>
                  <a:cxnSpLocks noChangeShapeType="1"/>
                  <a:stCxn id="57420" idx="6"/>
                  <a:endCxn id="57421" idx="2"/>
                </p:cNvCxnSpPr>
                <p:nvPr/>
              </p:nvCxnSpPr>
              <p:spPr bwMode="auto">
                <a:xfrm>
                  <a:off x="3568" y="3581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3" name="Oval 46"/>
                <p:cNvSpPr>
                  <a:spLocks noChangeArrowheads="1"/>
                </p:cNvSpPr>
                <p:nvPr/>
              </p:nvSpPr>
              <p:spPr bwMode="auto">
                <a:xfrm>
                  <a:off x="3606" y="3653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4" name="Oval 47"/>
                <p:cNvSpPr>
                  <a:spLocks noChangeArrowheads="1"/>
                </p:cNvSpPr>
                <p:nvPr/>
              </p:nvSpPr>
              <p:spPr bwMode="auto">
                <a:xfrm>
                  <a:off x="3924" y="3655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5" name="AutoShape 48"/>
                <p:cNvCxnSpPr>
                  <a:cxnSpLocks noChangeShapeType="1"/>
                  <a:stCxn id="57423" idx="6"/>
                  <a:endCxn id="57424" idx="2"/>
                </p:cNvCxnSpPr>
                <p:nvPr/>
              </p:nvCxnSpPr>
              <p:spPr bwMode="auto">
                <a:xfrm>
                  <a:off x="3704" y="3679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6" name="Oval 49"/>
                <p:cNvSpPr>
                  <a:spLocks noChangeArrowheads="1"/>
                </p:cNvSpPr>
                <p:nvPr/>
              </p:nvSpPr>
              <p:spPr bwMode="auto">
                <a:xfrm>
                  <a:off x="3742" y="3827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27" name="Oval 50"/>
                <p:cNvSpPr>
                  <a:spLocks noChangeArrowheads="1"/>
                </p:cNvSpPr>
                <p:nvPr/>
              </p:nvSpPr>
              <p:spPr bwMode="auto">
                <a:xfrm>
                  <a:off x="4060" y="3829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28" name="AutoShape 51"/>
                <p:cNvCxnSpPr>
                  <a:cxnSpLocks noChangeShapeType="1"/>
                  <a:stCxn id="57426" idx="6"/>
                  <a:endCxn id="57427" idx="2"/>
                </p:cNvCxnSpPr>
                <p:nvPr/>
              </p:nvCxnSpPr>
              <p:spPr bwMode="auto">
                <a:xfrm>
                  <a:off x="3840" y="3853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29" name="Oval 52"/>
                <p:cNvSpPr>
                  <a:spLocks noChangeArrowheads="1"/>
                </p:cNvSpPr>
                <p:nvPr/>
              </p:nvSpPr>
              <p:spPr bwMode="auto">
                <a:xfrm>
                  <a:off x="483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0" name="Oval 53"/>
                <p:cNvSpPr>
                  <a:spLocks noChangeArrowheads="1"/>
                </p:cNvSpPr>
                <p:nvPr/>
              </p:nvSpPr>
              <p:spPr bwMode="auto">
                <a:xfrm>
                  <a:off x="514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1" name="AutoShape 54"/>
                <p:cNvCxnSpPr>
                  <a:cxnSpLocks noChangeShapeType="1"/>
                  <a:stCxn id="57429" idx="6"/>
                  <a:endCxn id="57430" idx="2"/>
                </p:cNvCxnSpPr>
                <p:nvPr/>
              </p:nvCxnSpPr>
              <p:spPr bwMode="auto">
                <a:xfrm>
                  <a:off x="492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2" name="Oval 55"/>
                <p:cNvSpPr>
                  <a:spLocks noChangeArrowheads="1"/>
                </p:cNvSpPr>
                <p:nvPr/>
              </p:nvSpPr>
              <p:spPr bwMode="auto">
                <a:xfrm>
                  <a:off x="4604" y="333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3" name="Oval 56"/>
                <p:cNvSpPr>
                  <a:spLocks noChangeArrowheads="1"/>
                </p:cNvSpPr>
                <p:nvPr/>
              </p:nvSpPr>
              <p:spPr bwMode="auto">
                <a:xfrm>
                  <a:off x="4922" y="3338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4" name="AutoShape 57"/>
                <p:cNvCxnSpPr>
                  <a:cxnSpLocks noChangeShapeType="1"/>
                  <a:stCxn id="57432" idx="6"/>
                  <a:endCxn id="57433" idx="2"/>
                </p:cNvCxnSpPr>
                <p:nvPr/>
              </p:nvCxnSpPr>
              <p:spPr bwMode="auto">
                <a:xfrm>
                  <a:off x="4702" y="3362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5" name="Oval 58"/>
                <p:cNvSpPr>
                  <a:spLocks noChangeArrowheads="1"/>
                </p:cNvSpPr>
                <p:nvPr/>
              </p:nvSpPr>
              <p:spPr bwMode="auto">
                <a:xfrm>
                  <a:off x="3470" y="374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6" name="Oval 59"/>
                <p:cNvSpPr>
                  <a:spLocks noChangeArrowheads="1"/>
                </p:cNvSpPr>
                <p:nvPr/>
              </p:nvSpPr>
              <p:spPr bwMode="auto">
                <a:xfrm>
                  <a:off x="3788" y="374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37" name="AutoShape 60"/>
                <p:cNvCxnSpPr>
                  <a:cxnSpLocks noChangeShapeType="1"/>
                  <a:stCxn id="57435" idx="6"/>
                  <a:endCxn id="57436" idx="2"/>
                </p:cNvCxnSpPr>
                <p:nvPr/>
              </p:nvCxnSpPr>
              <p:spPr bwMode="auto">
                <a:xfrm>
                  <a:off x="3568" y="377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7438" name="Oval 61"/>
                <p:cNvSpPr>
                  <a:spLocks noChangeArrowheads="1"/>
                </p:cNvSpPr>
                <p:nvPr/>
              </p:nvSpPr>
              <p:spPr bwMode="auto">
                <a:xfrm>
                  <a:off x="3697" y="3464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sp>
              <p:nvSpPr>
                <p:cNvPr id="57439" name="Oval 62"/>
                <p:cNvSpPr>
                  <a:spLocks noChangeArrowheads="1"/>
                </p:cNvSpPr>
                <p:nvPr/>
              </p:nvSpPr>
              <p:spPr bwMode="auto">
                <a:xfrm>
                  <a:off x="4015" y="3466"/>
                  <a:ext cx="90" cy="51"/>
                </a:xfrm>
                <a:prstGeom prst="ellipse">
                  <a:avLst/>
                </a:prstGeom>
                <a:solidFill>
                  <a:srgbClr val="99FF99"/>
                </a:solidFill>
                <a:ln w="25400">
                  <a:solidFill>
                    <a:srgbClr val="33CC3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/>
                  <a:endParaRPr lang="ja-JP" altLang="en-US"/>
                </a:p>
              </p:txBody>
            </p:sp>
            <p:cxnSp>
              <p:nvCxnSpPr>
                <p:cNvPr id="57440" name="AutoShape 63"/>
                <p:cNvCxnSpPr>
                  <a:cxnSpLocks noChangeShapeType="1"/>
                  <a:stCxn id="57438" idx="6"/>
                  <a:endCxn id="57439" idx="2"/>
                </p:cNvCxnSpPr>
                <p:nvPr/>
              </p:nvCxnSpPr>
              <p:spPr bwMode="auto">
                <a:xfrm>
                  <a:off x="3795" y="3490"/>
                  <a:ext cx="212" cy="2"/>
                </a:xfrm>
                <a:prstGeom prst="straightConnector1">
                  <a:avLst/>
                </a:prstGeom>
                <a:noFill/>
                <a:ln w="38100">
                  <a:solidFill>
                    <a:srgbClr val="66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395" name="Oval 64"/>
              <p:cNvSpPr>
                <a:spLocks noChangeArrowheads="1"/>
              </p:cNvSpPr>
              <p:nvPr/>
            </p:nvSpPr>
            <p:spPr bwMode="auto">
              <a:xfrm>
                <a:off x="3243" y="3294"/>
                <a:ext cx="2359" cy="680"/>
              </a:xfrm>
              <a:prstGeom prst="ellips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</p:grpSp>
        <p:grpSp>
          <p:nvGrpSpPr>
            <p:cNvPr id="57387" name="Group 65"/>
            <p:cNvGrpSpPr>
              <a:grpSpLocks/>
            </p:cNvGrpSpPr>
            <p:nvPr/>
          </p:nvGrpSpPr>
          <p:grpSpPr bwMode="auto">
            <a:xfrm>
              <a:off x="3352" y="2882"/>
              <a:ext cx="2060" cy="1092"/>
              <a:chOff x="3379" y="2882"/>
              <a:chExt cx="2060" cy="1092"/>
            </a:xfrm>
          </p:grpSpPr>
          <p:sp>
            <p:nvSpPr>
              <p:cNvPr id="57388" name="Oval 66"/>
              <p:cNvSpPr>
                <a:spLocks noChangeArrowheads="1"/>
              </p:cNvSpPr>
              <p:nvPr/>
            </p:nvSpPr>
            <p:spPr bwMode="auto">
              <a:xfrm>
                <a:off x="3379" y="3290"/>
                <a:ext cx="1361" cy="681"/>
              </a:xfrm>
              <a:prstGeom prst="ellipse">
                <a:avLst/>
              </a:prstGeom>
              <a:noFill/>
              <a:ln w="38100">
                <a:solidFill>
                  <a:srgbClr val="99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89" name="Oval 67"/>
              <p:cNvSpPr>
                <a:spLocks noChangeArrowheads="1"/>
              </p:cNvSpPr>
              <p:nvPr/>
            </p:nvSpPr>
            <p:spPr bwMode="auto">
              <a:xfrm>
                <a:off x="4078" y="3293"/>
                <a:ext cx="1361" cy="68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0" name="AutoShape 68"/>
              <p:cNvSpPr>
                <a:spLocks noChangeArrowheads="1"/>
              </p:cNvSpPr>
              <p:nvPr/>
            </p:nvSpPr>
            <p:spPr bwMode="auto">
              <a:xfrm flipV="1">
                <a:off x="3379" y="2973"/>
                <a:ext cx="1361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952 w 21600"/>
                  <a:gd name="T13" fmla="*/ 3954 h 21600"/>
                  <a:gd name="T14" fmla="*/ 17648 w 21600"/>
                  <a:gd name="T15" fmla="*/ 176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316" y="21600"/>
                    </a:lnTo>
                    <a:lnTo>
                      <a:pt x="172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E2EDF6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1" name="AutoShape 69"/>
              <p:cNvSpPr>
                <a:spLocks noChangeArrowheads="1"/>
              </p:cNvSpPr>
              <p:nvPr/>
            </p:nvSpPr>
            <p:spPr bwMode="auto">
              <a:xfrm flipV="1">
                <a:off x="4105" y="2968"/>
                <a:ext cx="1323" cy="59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245 w 21600"/>
                  <a:gd name="T13" fmla="*/ 4247 h 21600"/>
                  <a:gd name="T14" fmla="*/ 17355 w 21600"/>
                  <a:gd name="T15" fmla="*/ 1735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4881" y="21600"/>
                    </a:lnTo>
                    <a:lnTo>
                      <a:pt x="1671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FFFF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ja-JP" altLang="en-US"/>
              </a:p>
            </p:txBody>
          </p:sp>
          <p:sp>
            <p:nvSpPr>
              <p:cNvPr id="57392" name="AutoShape 70"/>
              <p:cNvSpPr>
                <a:spLocks noChangeArrowheads="1"/>
              </p:cNvSpPr>
              <p:nvPr/>
            </p:nvSpPr>
            <p:spPr bwMode="auto">
              <a:xfrm>
                <a:off x="3569" y="2882"/>
                <a:ext cx="817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ja-JP" sz="1600" b="1">
                    <a:solidFill>
                      <a:schemeClr val="accent2"/>
                    </a:solidFill>
                  </a:rPr>
                  <a:t>WordSpace</a:t>
                </a:r>
              </a:p>
            </p:txBody>
          </p:sp>
          <p:sp>
            <p:nvSpPr>
              <p:cNvPr id="57393" name="AutoShape 71"/>
              <p:cNvSpPr>
                <a:spLocks noChangeArrowheads="1"/>
              </p:cNvSpPr>
              <p:nvPr/>
            </p:nvSpPr>
            <p:spPr bwMode="auto">
              <a:xfrm>
                <a:off x="4423" y="2882"/>
                <a:ext cx="816" cy="363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ja-JP" altLang="en-US" sz="1600" b="1">
                    <a:solidFill>
                      <a:schemeClr val="accent2"/>
                    </a:solidFill>
                  </a:rPr>
                  <a:t>相関ルール</a:t>
                </a:r>
              </a:p>
            </p:txBody>
          </p:sp>
        </p:grpSp>
      </p:grpSp>
      <p:sp>
        <p:nvSpPr>
          <p:cNvPr id="57361" name="Text Box 72"/>
          <p:cNvSpPr txBox="1">
            <a:spLocks noChangeArrowheads="1"/>
          </p:cNvSpPr>
          <p:nvPr/>
        </p:nvSpPr>
        <p:spPr bwMode="auto">
          <a:xfrm>
            <a:off x="3124201" y="3124200"/>
            <a:ext cx="14716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概念対集合</a:t>
            </a:r>
          </a:p>
        </p:txBody>
      </p:sp>
      <p:grpSp>
        <p:nvGrpSpPr>
          <p:cNvPr id="57362" name="Group 139"/>
          <p:cNvGrpSpPr>
            <a:grpSpLocks/>
          </p:cNvGrpSpPr>
          <p:nvPr/>
        </p:nvGrpSpPr>
        <p:grpSpPr bwMode="auto">
          <a:xfrm>
            <a:off x="3124200" y="4876799"/>
            <a:ext cx="1828800" cy="1046476"/>
            <a:chOff x="3564" y="3322"/>
            <a:chExt cx="1452" cy="900"/>
          </a:xfrm>
        </p:grpSpPr>
        <p:sp>
          <p:nvSpPr>
            <p:cNvPr id="57370" name="Oval 123"/>
            <p:cNvSpPr>
              <a:spLocks noChangeArrowheads="1"/>
            </p:cNvSpPr>
            <p:nvPr/>
          </p:nvSpPr>
          <p:spPr bwMode="auto">
            <a:xfrm>
              <a:off x="3564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1" name="Oval 124"/>
            <p:cNvSpPr>
              <a:spLocks noChangeArrowheads="1"/>
            </p:cNvSpPr>
            <p:nvPr/>
          </p:nvSpPr>
          <p:spPr bwMode="auto">
            <a:xfrm>
              <a:off x="4290" y="3445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2" name="AutoShape 125"/>
            <p:cNvCxnSpPr>
              <a:cxnSpLocks noChangeShapeType="1"/>
              <a:stCxn id="57370" idx="6"/>
              <a:endCxn id="57371" idx="2"/>
            </p:cNvCxnSpPr>
            <p:nvPr/>
          </p:nvCxnSpPr>
          <p:spPr bwMode="auto">
            <a:xfrm>
              <a:off x="3972" y="3513"/>
              <a:ext cx="31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3" name="Oval 126"/>
            <p:cNvSpPr>
              <a:spLocks noChangeArrowheads="1"/>
            </p:cNvSpPr>
            <p:nvPr/>
          </p:nvSpPr>
          <p:spPr bwMode="auto">
            <a:xfrm>
              <a:off x="3654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4" name="Oval 127"/>
            <p:cNvSpPr>
              <a:spLocks noChangeArrowheads="1"/>
            </p:cNvSpPr>
            <p:nvPr/>
          </p:nvSpPr>
          <p:spPr bwMode="auto">
            <a:xfrm>
              <a:off x="4426" y="3671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5" name="AutoShape 128"/>
            <p:cNvCxnSpPr>
              <a:cxnSpLocks noChangeShapeType="1"/>
              <a:stCxn id="57373" idx="6"/>
              <a:endCxn id="57374" idx="2"/>
            </p:cNvCxnSpPr>
            <p:nvPr/>
          </p:nvCxnSpPr>
          <p:spPr bwMode="auto">
            <a:xfrm>
              <a:off x="4062" y="3739"/>
              <a:ext cx="3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6" name="Oval 129"/>
            <p:cNvSpPr>
              <a:spLocks noChangeArrowheads="1"/>
            </p:cNvSpPr>
            <p:nvPr/>
          </p:nvSpPr>
          <p:spPr bwMode="auto">
            <a:xfrm>
              <a:off x="3836" y="3853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77" name="Oval 130"/>
            <p:cNvSpPr>
              <a:spLocks noChangeArrowheads="1"/>
            </p:cNvSpPr>
            <p:nvPr/>
          </p:nvSpPr>
          <p:spPr bwMode="auto">
            <a:xfrm>
              <a:off x="4517" y="3854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78" name="AutoShape 131"/>
            <p:cNvCxnSpPr>
              <a:cxnSpLocks noChangeShapeType="1"/>
              <a:stCxn id="57376" idx="6"/>
              <a:endCxn id="57377" idx="2"/>
            </p:cNvCxnSpPr>
            <p:nvPr/>
          </p:nvCxnSpPr>
          <p:spPr bwMode="auto">
            <a:xfrm>
              <a:off x="4244" y="3921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79" name="Oval 132"/>
            <p:cNvSpPr>
              <a:spLocks noChangeArrowheads="1"/>
            </p:cNvSpPr>
            <p:nvPr/>
          </p:nvSpPr>
          <p:spPr bwMode="auto">
            <a:xfrm>
              <a:off x="3927" y="4079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sp>
          <p:nvSpPr>
            <p:cNvPr id="57380" name="Oval 133"/>
            <p:cNvSpPr>
              <a:spLocks noChangeArrowheads="1"/>
            </p:cNvSpPr>
            <p:nvPr/>
          </p:nvSpPr>
          <p:spPr bwMode="auto">
            <a:xfrm>
              <a:off x="4608" y="4080"/>
              <a:ext cx="408" cy="136"/>
            </a:xfrm>
            <a:prstGeom prst="ellipse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ja-JP" altLang="en-US"/>
            </a:p>
          </p:txBody>
        </p:sp>
        <p:cxnSp>
          <p:nvCxnSpPr>
            <p:cNvPr id="57381" name="AutoShape 134"/>
            <p:cNvCxnSpPr>
              <a:cxnSpLocks noChangeShapeType="1"/>
              <a:stCxn id="57379" idx="6"/>
              <a:endCxn id="57380" idx="2"/>
            </p:cNvCxnSpPr>
            <p:nvPr/>
          </p:nvCxnSpPr>
          <p:spPr bwMode="auto">
            <a:xfrm>
              <a:off x="4335" y="4147"/>
              <a:ext cx="273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382" name="Text Box 135"/>
            <p:cNvSpPr txBox="1">
              <a:spLocks noChangeArrowheads="1"/>
            </p:cNvSpPr>
            <p:nvPr/>
          </p:nvSpPr>
          <p:spPr bwMode="auto">
            <a:xfrm>
              <a:off x="3882" y="3322"/>
              <a:ext cx="50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has-a</a:t>
              </a:r>
            </a:p>
          </p:txBody>
        </p:sp>
        <p:sp>
          <p:nvSpPr>
            <p:cNvPr id="57383" name="Text Box 136"/>
            <p:cNvSpPr txBox="1">
              <a:spLocks noChangeArrowheads="1"/>
            </p:cNvSpPr>
            <p:nvPr/>
          </p:nvSpPr>
          <p:spPr bwMode="auto">
            <a:xfrm>
              <a:off x="4024" y="3570"/>
              <a:ext cx="35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link</a:t>
              </a:r>
            </a:p>
          </p:txBody>
        </p:sp>
        <p:sp>
          <p:nvSpPr>
            <p:cNvPr id="57384" name="Text Box 137"/>
            <p:cNvSpPr txBox="1">
              <a:spLocks noChangeArrowheads="1"/>
            </p:cNvSpPr>
            <p:nvPr/>
          </p:nvSpPr>
          <p:spPr bwMode="auto">
            <a:xfrm>
              <a:off x="4197" y="3753"/>
              <a:ext cx="36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title</a:t>
              </a:r>
            </a:p>
          </p:txBody>
        </p:sp>
        <p:sp>
          <p:nvSpPr>
            <p:cNvPr id="57385" name="Text Box 138"/>
            <p:cNvSpPr txBox="1">
              <a:spLocks noChangeArrowheads="1"/>
            </p:cNvSpPr>
            <p:nvPr/>
          </p:nvSpPr>
          <p:spPr bwMode="auto">
            <a:xfrm>
              <a:off x="4154" y="3957"/>
              <a:ext cx="55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ja-JP" sz="1400"/>
                <a:t>knows</a:t>
              </a:r>
            </a:p>
          </p:txBody>
        </p:sp>
      </p:grpSp>
      <p:sp>
        <p:nvSpPr>
          <p:cNvPr id="57363" name="Oval 141"/>
          <p:cNvSpPr>
            <a:spLocks noChangeArrowheads="1"/>
          </p:cNvSpPr>
          <p:nvPr/>
        </p:nvSpPr>
        <p:spPr bwMode="auto">
          <a:xfrm>
            <a:off x="2667000" y="4495800"/>
            <a:ext cx="2667000" cy="1524000"/>
          </a:xfrm>
          <a:prstGeom prst="ellips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7364" name="Text Box 142"/>
          <p:cNvSpPr txBox="1">
            <a:spLocks noChangeArrowheads="1"/>
          </p:cNvSpPr>
          <p:nvPr/>
        </p:nvSpPr>
        <p:spPr bwMode="auto">
          <a:xfrm>
            <a:off x="4254500" y="4089401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>
                <a:latin typeface="Comic Sans MS" charset="0"/>
              </a:rPr>
              <a:t>関係洗練</a:t>
            </a:r>
          </a:p>
        </p:txBody>
      </p:sp>
      <p:sp>
        <p:nvSpPr>
          <p:cNvPr id="57365" name="Text Box 144"/>
          <p:cNvSpPr txBox="1">
            <a:spLocks noChangeArrowheads="1"/>
          </p:cNvSpPr>
          <p:nvPr/>
        </p:nvSpPr>
        <p:spPr bwMode="auto">
          <a:xfrm>
            <a:off x="3200401" y="4572000"/>
            <a:ext cx="1712913" cy="400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000" b="1">
                <a:solidFill>
                  <a:srgbClr val="006600"/>
                </a:solidFill>
                <a:latin typeface="Times New Roman" charset="0"/>
              </a:rPr>
              <a:t>その他の関係</a:t>
            </a:r>
          </a:p>
        </p:txBody>
      </p:sp>
      <p:sp>
        <p:nvSpPr>
          <p:cNvPr id="57366" name="AutoShape 146"/>
          <p:cNvSpPr>
            <a:spLocks noChangeArrowheads="1"/>
          </p:cNvSpPr>
          <p:nvPr/>
        </p:nvSpPr>
        <p:spPr bwMode="auto">
          <a:xfrm rot="5400000">
            <a:off x="3732213" y="3997325"/>
            <a:ext cx="423862" cy="573088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21" name="AutoShape 146"/>
          <p:cNvSpPr>
            <a:spLocks noChangeArrowheads="1"/>
          </p:cNvSpPr>
          <p:nvPr/>
        </p:nvSpPr>
        <p:spPr bwMode="auto">
          <a:xfrm rot="2155567">
            <a:off x="7466013" y="1697038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22" name="AutoShape 146"/>
          <p:cNvSpPr>
            <a:spLocks noChangeArrowheads="1"/>
          </p:cNvSpPr>
          <p:nvPr/>
        </p:nvSpPr>
        <p:spPr bwMode="auto">
          <a:xfrm rot="8248395">
            <a:off x="8761413" y="1701800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223" name="AutoShape 146"/>
          <p:cNvSpPr>
            <a:spLocks noChangeArrowheads="1"/>
          </p:cNvSpPr>
          <p:nvPr/>
        </p:nvSpPr>
        <p:spPr bwMode="auto">
          <a:xfrm rot="5400000">
            <a:off x="8277225" y="4219575"/>
            <a:ext cx="457200" cy="40005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Oval 4"/>
          <p:cNvSpPr>
            <a:spLocks noChangeArrowheads="1"/>
          </p:cNvSpPr>
          <p:nvPr/>
        </p:nvSpPr>
        <p:spPr bwMode="auto">
          <a:xfrm>
            <a:off x="2566989" y="1628775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act</a:t>
            </a:r>
          </a:p>
        </p:txBody>
      </p:sp>
      <p:sp>
        <p:nvSpPr>
          <p:cNvPr id="58371" name="Oval 5"/>
          <p:cNvSpPr>
            <a:spLocks noChangeArrowheads="1"/>
          </p:cNvSpPr>
          <p:nvPr/>
        </p:nvSpPr>
        <p:spPr bwMode="auto">
          <a:xfrm>
            <a:off x="2279651" y="2492375"/>
            <a:ext cx="898525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aim</a:t>
            </a:r>
          </a:p>
        </p:txBody>
      </p:sp>
      <p:sp>
        <p:nvSpPr>
          <p:cNvPr id="58372" name="Oval 6"/>
          <p:cNvSpPr>
            <a:spLocks noChangeArrowheads="1"/>
          </p:cNvSpPr>
          <p:nvPr/>
        </p:nvSpPr>
        <p:spPr bwMode="auto">
          <a:xfrm>
            <a:off x="3432175" y="2492375"/>
            <a:ext cx="1728788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behavior</a:t>
            </a:r>
          </a:p>
        </p:txBody>
      </p:sp>
      <p:cxnSp>
        <p:nvCxnSpPr>
          <p:cNvPr id="58373" name="AutoShape 7"/>
          <p:cNvCxnSpPr>
            <a:cxnSpLocks noChangeShapeType="1"/>
            <a:stCxn id="58371" idx="0"/>
            <a:endCxn id="58370" idx="4"/>
          </p:cNvCxnSpPr>
          <p:nvPr/>
        </p:nvCxnSpPr>
        <p:spPr bwMode="auto">
          <a:xfrm flipV="1">
            <a:off x="2728913" y="2060575"/>
            <a:ext cx="703262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74" name="AutoShape 8"/>
          <p:cNvCxnSpPr>
            <a:cxnSpLocks noChangeShapeType="1"/>
            <a:stCxn id="58372" idx="0"/>
            <a:endCxn id="58370" idx="4"/>
          </p:cNvCxnSpPr>
          <p:nvPr/>
        </p:nvCxnSpPr>
        <p:spPr bwMode="auto">
          <a:xfrm flipH="1" flipV="1">
            <a:off x="3432175" y="2060575"/>
            <a:ext cx="865188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75" name="Oval 9"/>
          <p:cNvSpPr>
            <a:spLocks noChangeArrowheads="1"/>
          </p:cNvSpPr>
          <p:nvPr/>
        </p:nvSpPr>
        <p:spPr bwMode="auto">
          <a:xfrm>
            <a:off x="2287588" y="4814888"/>
            <a:ext cx="647700" cy="5762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time</a:t>
            </a:r>
          </a:p>
        </p:txBody>
      </p:sp>
      <p:sp>
        <p:nvSpPr>
          <p:cNvPr id="58376" name="Oval 10"/>
          <p:cNvSpPr>
            <a:spLocks noChangeArrowheads="1"/>
          </p:cNvSpPr>
          <p:nvPr/>
        </p:nvSpPr>
        <p:spPr bwMode="auto">
          <a:xfrm>
            <a:off x="4340226" y="4814888"/>
            <a:ext cx="612775" cy="5762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offer</a:t>
            </a:r>
          </a:p>
        </p:txBody>
      </p:sp>
      <p:cxnSp>
        <p:nvCxnSpPr>
          <p:cNvPr id="58377" name="AutoShape 11"/>
          <p:cNvCxnSpPr>
            <a:cxnSpLocks noChangeShapeType="1"/>
            <a:stCxn id="58375" idx="6"/>
            <a:endCxn id="58376" idx="2"/>
          </p:cNvCxnSpPr>
          <p:nvPr/>
        </p:nvCxnSpPr>
        <p:spPr bwMode="auto">
          <a:xfrm>
            <a:off x="2935289" y="5103813"/>
            <a:ext cx="14049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78" name="Text Box 12"/>
          <p:cNvSpPr txBox="1">
            <a:spLocks noChangeArrowheads="1"/>
          </p:cNvSpPr>
          <p:nvPr/>
        </p:nvSpPr>
        <p:spPr bwMode="auto">
          <a:xfrm>
            <a:off x="2935289" y="4572000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attribute</a:t>
            </a:r>
          </a:p>
        </p:txBody>
      </p:sp>
      <p:sp>
        <p:nvSpPr>
          <p:cNvPr id="58379" name="Text Box 13"/>
          <p:cNvSpPr txBox="1">
            <a:spLocks noChangeArrowheads="1"/>
          </p:cNvSpPr>
          <p:nvPr/>
        </p:nvSpPr>
        <p:spPr bwMode="auto">
          <a:xfrm>
            <a:off x="3863976" y="1916113"/>
            <a:ext cx="67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is-a</a:t>
            </a:r>
          </a:p>
        </p:txBody>
      </p:sp>
      <p:sp>
        <p:nvSpPr>
          <p:cNvPr id="58380" name="Text Box 14"/>
          <p:cNvSpPr txBox="1">
            <a:spLocks noChangeArrowheads="1"/>
          </p:cNvSpPr>
          <p:nvPr/>
        </p:nvSpPr>
        <p:spPr bwMode="auto">
          <a:xfrm>
            <a:off x="2351089" y="1989138"/>
            <a:ext cx="67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is-a</a:t>
            </a:r>
          </a:p>
        </p:txBody>
      </p:sp>
      <p:sp>
        <p:nvSpPr>
          <p:cNvPr id="58381" name="Rectangle 15"/>
          <p:cNvSpPr>
            <a:spLocks noChangeArrowheads="1"/>
          </p:cNvSpPr>
          <p:nvPr/>
        </p:nvSpPr>
        <p:spPr bwMode="auto">
          <a:xfrm>
            <a:off x="2147888" y="1371600"/>
            <a:ext cx="2881312" cy="1905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382" name="Rectangle 16"/>
          <p:cNvSpPr>
            <a:spLocks noChangeArrowheads="1"/>
          </p:cNvSpPr>
          <p:nvPr/>
        </p:nvSpPr>
        <p:spPr bwMode="auto">
          <a:xfrm>
            <a:off x="2147888" y="4038600"/>
            <a:ext cx="2881312" cy="2057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383" name="Text Box 17"/>
          <p:cNvSpPr txBox="1">
            <a:spLocks noChangeArrowheads="1"/>
          </p:cNvSpPr>
          <p:nvPr/>
        </p:nvSpPr>
        <p:spPr bwMode="auto">
          <a:xfrm>
            <a:off x="2135189" y="904876"/>
            <a:ext cx="1412875" cy="466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/>
              <a:t>階層関係</a:t>
            </a:r>
          </a:p>
        </p:txBody>
      </p:sp>
      <p:sp>
        <p:nvSpPr>
          <p:cNvPr id="58384" name="Text Box 18"/>
          <p:cNvSpPr txBox="1">
            <a:spLocks noChangeArrowheads="1"/>
          </p:cNvSpPr>
          <p:nvPr/>
        </p:nvSpPr>
        <p:spPr bwMode="auto">
          <a:xfrm>
            <a:off x="2133601" y="3571876"/>
            <a:ext cx="1717675" cy="4667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/>
              <a:t>非階層関係</a:t>
            </a:r>
          </a:p>
        </p:txBody>
      </p:sp>
      <p:sp>
        <p:nvSpPr>
          <p:cNvPr id="58385" name="Text Box 20"/>
          <p:cNvSpPr txBox="1">
            <a:spLocks noChangeArrowheads="1"/>
          </p:cNvSpPr>
          <p:nvPr/>
        </p:nvSpPr>
        <p:spPr bwMode="auto">
          <a:xfrm>
            <a:off x="7391401" y="4797425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attribute</a:t>
            </a:r>
          </a:p>
        </p:txBody>
      </p:sp>
      <p:sp>
        <p:nvSpPr>
          <p:cNvPr id="58386" name="Oval 21"/>
          <p:cNvSpPr>
            <a:spLocks noChangeArrowheads="1"/>
          </p:cNvSpPr>
          <p:nvPr/>
        </p:nvSpPr>
        <p:spPr bwMode="auto">
          <a:xfrm>
            <a:off x="7319964" y="2062163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act</a:t>
            </a:r>
          </a:p>
        </p:txBody>
      </p:sp>
      <p:sp>
        <p:nvSpPr>
          <p:cNvPr id="58387" name="Oval 22"/>
          <p:cNvSpPr>
            <a:spLocks noChangeArrowheads="1"/>
          </p:cNvSpPr>
          <p:nvPr/>
        </p:nvSpPr>
        <p:spPr bwMode="auto">
          <a:xfrm>
            <a:off x="6745289" y="2925763"/>
            <a:ext cx="898525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aim</a:t>
            </a:r>
          </a:p>
        </p:txBody>
      </p:sp>
      <p:sp>
        <p:nvSpPr>
          <p:cNvPr id="58388" name="Oval 23"/>
          <p:cNvSpPr>
            <a:spLocks noChangeArrowheads="1"/>
          </p:cNvSpPr>
          <p:nvPr/>
        </p:nvSpPr>
        <p:spPr bwMode="auto">
          <a:xfrm>
            <a:off x="8329614" y="2925763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/>
              <a:t>behavior</a:t>
            </a:r>
          </a:p>
        </p:txBody>
      </p:sp>
      <p:cxnSp>
        <p:nvCxnSpPr>
          <p:cNvPr id="58389" name="AutoShape 24"/>
          <p:cNvCxnSpPr>
            <a:cxnSpLocks noChangeShapeType="1"/>
            <a:stCxn id="58387" idx="0"/>
            <a:endCxn id="58386" idx="4"/>
          </p:cNvCxnSpPr>
          <p:nvPr/>
        </p:nvCxnSpPr>
        <p:spPr bwMode="auto">
          <a:xfrm flipV="1">
            <a:off x="7194550" y="2493963"/>
            <a:ext cx="99060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0" name="AutoShape 25"/>
          <p:cNvCxnSpPr>
            <a:cxnSpLocks noChangeShapeType="1"/>
            <a:stCxn id="58388" idx="0"/>
            <a:endCxn id="58386" idx="4"/>
          </p:cNvCxnSpPr>
          <p:nvPr/>
        </p:nvCxnSpPr>
        <p:spPr bwMode="auto">
          <a:xfrm flipH="1" flipV="1">
            <a:off x="8185150" y="2493963"/>
            <a:ext cx="100965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1" name="AutoShape 26"/>
          <p:cNvCxnSpPr>
            <a:cxnSpLocks noChangeShapeType="1"/>
            <a:stCxn id="58387" idx="0"/>
            <a:endCxn id="58409" idx="3"/>
          </p:cNvCxnSpPr>
          <p:nvPr/>
        </p:nvCxnSpPr>
        <p:spPr bwMode="auto">
          <a:xfrm flipV="1">
            <a:off x="7194551" y="1709739"/>
            <a:ext cx="377825" cy="12160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2" name="AutoShape 27"/>
          <p:cNvCxnSpPr>
            <a:cxnSpLocks noChangeShapeType="1"/>
            <a:stCxn id="58386" idx="0"/>
            <a:endCxn id="58409" idx="4"/>
          </p:cNvCxnSpPr>
          <p:nvPr/>
        </p:nvCxnSpPr>
        <p:spPr bwMode="auto">
          <a:xfrm flipV="1">
            <a:off x="8185150" y="1773239"/>
            <a:ext cx="0" cy="2889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3" name="AutoShape 28"/>
          <p:cNvCxnSpPr>
            <a:cxnSpLocks noChangeShapeType="1"/>
            <a:stCxn id="58388" idx="0"/>
            <a:endCxn id="58409" idx="5"/>
          </p:cNvCxnSpPr>
          <p:nvPr/>
        </p:nvCxnSpPr>
        <p:spPr bwMode="auto">
          <a:xfrm flipH="1" flipV="1">
            <a:off x="8796338" y="1709739"/>
            <a:ext cx="398462" cy="12160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4" name="AutoShape 30"/>
          <p:cNvCxnSpPr>
            <a:cxnSpLocks noChangeShapeType="1"/>
            <a:stCxn id="58385" idx="2"/>
            <a:endCxn id="58411" idx="0"/>
          </p:cNvCxnSpPr>
          <p:nvPr/>
        </p:nvCxnSpPr>
        <p:spPr bwMode="auto">
          <a:xfrm flipH="1">
            <a:off x="6692900" y="5254625"/>
            <a:ext cx="1341438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95" name="AutoShape 31"/>
          <p:cNvCxnSpPr>
            <a:cxnSpLocks noChangeShapeType="1"/>
            <a:stCxn id="58385" idx="2"/>
            <a:endCxn id="58412" idx="0"/>
          </p:cNvCxnSpPr>
          <p:nvPr/>
        </p:nvCxnSpPr>
        <p:spPr bwMode="auto">
          <a:xfrm>
            <a:off x="8034339" y="5254625"/>
            <a:ext cx="1482725" cy="40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96" name="Text Box 32"/>
          <p:cNvSpPr txBox="1">
            <a:spLocks noChangeArrowheads="1"/>
          </p:cNvSpPr>
          <p:nvPr/>
        </p:nvSpPr>
        <p:spPr bwMode="auto">
          <a:xfrm>
            <a:off x="6167438" y="5157789"/>
            <a:ext cx="1509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rdfs:domain</a:t>
            </a:r>
          </a:p>
        </p:txBody>
      </p:sp>
      <p:sp>
        <p:nvSpPr>
          <p:cNvPr id="58397" name="Text Box 33"/>
          <p:cNvSpPr txBox="1">
            <a:spLocks noChangeArrowheads="1"/>
          </p:cNvSpPr>
          <p:nvPr/>
        </p:nvSpPr>
        <p:spPr bwMode="auto">
          <a:xfrm>
            <a:off x="8543926" y="5157789"/>
            <a:ext cx="1325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rdfs:range</a:t>
            </a:r>
          </a:p>
        </p:txBody>
      </p:sp>
      <p:sp>
        <p:nvSpPr>
          <p:cNvPr id="58398" name="Oval 34"/>
          <p:cNvSpPr>
            <a:spLocks noChangeArrowheads="1"/>
          </p:cNvSpPr>
          <p:nvPr/>
        </p:nvSpPr>
        <p:spPr bwMode="auto">
          <a:xfrm>
            <a:off x="7175500" y="4149725"/>
            <a:ext cx="1728788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/>
              <a:t>owl:ObjectProperty</a:t>
            </a:r>
          </a:p>
        </p:txBody>
      </p:sp>
      <p:sp>
        <p:nvSpPr>
          <p:cNvPr id="58399" name="Rectangle 35"/>
          <p:cNvSpPr>
            <a:spLocks noChangeArrowheads="1"/>
          </p:cNvSpPr>
          <p:nvPr/>
        </p:nvSpPr>
        <p:spPr bwMode="auto">
          <a:xfrm>
            <a:off x="5880101" y="1341438"/>
            <a:ext cx="4537075" cy="19431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8400" name="AutoShape 36"/>
          <p:cNvCxnSpPr>
            <a:cxnSpLocks noChangeShapeType="1"/>
            <a:stCxn id="58385" idx="0"/>
            <a:endCxn id="58398" idx="4"/>
          </p:cNvCxnSpPr>
          <p:nvPr/>
        </p:nvCxnSpPr>
        <p:spPr bwMode="auto">
          <a:xfrm flipV="1">
            <a:off x="8034338" y="4581525"/>
            <a:ext cx="6350" cy="2159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01" name="Rectangle 37"/>
          <p:cNvSpPr>
            <a:spLocks noChangeArrowheads="1"/>
          </p:cNvSpPr>
          <p:nvPr/>
        </p:nvSpPr>
        <p:spPr bwMode="auto">
          <a:xfrm>
            <a:off x="5880101" y="4038601"/>
            <a:ext cx="4537075" cy="20542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cxnSp>
        <p:nvCxnSpPr>
          <p:cNvPr id="58402" name="AutoShape 38"/>
          <p:cNvCxnSpPr>
            <a:cxnSpLocks noChangeShapeType="1"/>
          </p:cNvCxnSpPr>
          <p:nvPr/>
        </p:nvCxnSpPr>
        <p:spPr bwMode="auto">
          <a:xfrm>
            <a:off x="8183563" y="645953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03" name="Text Box 39"/>
          <p:cNvSpPr txBox="1">
            <a:spLocks noChangeArrowheads="1"/>
          </p:cNvSpPr>
          <p:nvPr/>
        </p:nvSpPr>
        <p:spPr bwMode="auto">
          <a:xfrm>
            <a:off x="9336088" y="6237289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rdf:type</a:t>
            </a:r>
          </a:p>
        </p:txBody>
      </p:sp>
      <p:sp>
        <p:nvSpPr>
          <p:cNvPr id="58404" name="Rectangle 40"/>
          <p:cNvSpPr>
            <a:spLocks noChangeArrowheads="1"/>
          </p:cNvSpPr>
          <p:nvPr/>
        </p:nvSpPr>
        <p:spPr bwMode="auto">
          <a:xfrm>
            <a:off x="8039100" y="6172200"/>
            <a:ext cx="2376488" cy="50323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58405" name="Text Box 41"/>
          <p:cNvSpPr txBox="1">
            <a:spLocks noChangeArrowheads="1"/>
          </p:cNvSpPr>
          <p:nvPr/>
        </p:nvSpPr>
        <p:spPr bwMode="auto">
          <a:xfrm>
            <a:off x="8535988" y="2276476"/>
            <a:ext cx="1809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rdfs:subClassOf</a:t>
            </a:r>
          </a:p>
        </p:txBody>
      </p:sp>
      <p:sp>
        <p:nvSpPr>
          <p:cNvPr id="58406" name="Text Box 42"/>
          <p:cNvSpPr txBox="1">
            <a:spLocks noChangeArrowheads="1"/>
          </p:cNvSpPr>
          <p:nvPr/>
        </p:nvSpPr>
        <p:spPr bwMode="auto">
          <a:xfrm>
            <a:off x="5951538" y="2276476"/>
            <a:ext cx="1809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/>
              <a:t>rdfs:subClassOf</a:t>
            </a:r>
          </a:p>
        </p:txBody>
      </p:sp>
      <p:sp>
        <p:nvSpPr>
          <p:cNvPr id="58407" name="Text Box 43"/>
          <p:cNvSpPr txBox="1">
            <a:spLocks noChangeArrowheads="1"/>
          </p:cNvSpPr>
          <p:nvPr/>
        </p:nvSpPr>
        <p:spPr bwMode="auto">
          <a:xfrm>
            <a:off x="5880100" y="855663"/>
            <a:ext cx="3221038" cy="4619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/>
              <a:t>階層関係 </a:t>
            </a:r>
            <a:r>
              <a:rPr lang="en-US" altLang="ja-JP" sz="2400"/>
              <a:t>(RDF</a:t>
            </a:r>
            <a:r>
              <a:rPr lang="ja-JP" altLang="en-US" sz="2400"/>
              <a:t>モデル</a:t>
            </a:r>
            <a:r>
              <a:rPr lang="en-US" altLang="ja-JP" sz="2400"/>
              <a:t>)</a:t>
            </a:r>
          </a:p>
        </p:txBody>
      </p:sp>
      <p:sp>
        <p:nvSpPr>
          <p:cNvPr id="58408" name="Text Box 44"/>
          <p:cNvSpPr txBox="1">
            <a:spLocks noChangeArrowheads="1"/>
          </p:cNvSpPr>
          <p:nvPr/>
        </p:nvSpPr>
        <p:spPr bwMode="auto">
          <a:xfrm>
            <a:off x="5880101" y="3581401"/>
            <a:ext cx="3529013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/>
              <a:t>非階層関係 </a:t>
            </a:r>
            <a:r>
              <a:rPr lang="en-US" altLang="ja-JP" sz="2400"/>
              <a:t>(RDF</a:t>
            </a:r>
            <a:r>
              <a:rPr lang="ja-JP" altLang="en-US" sz="2400"/>
              <a:t>モデル</a:t>
            </a:r>
            <a:r>
              <a:rPr lang="en-US" altLang="ja-JP" sz="2400"/>
              <a:t>)</a:t>
            </a:r>
          </a:p>
        </p:txBody>
      </p:sp>
      <p:sp>
        <p:nvSpPr>
          <p:cNvPr id="58409" name="Oval 45"/>
          <p:cNvSpPr>
            <a:spLocks noChangeArrowheads="1"/>
          </p:cNvSpPr>
          <p:nvPr/>
        </p:nvSpPr>
        <p:spPr bwMode="auto">
          <a:xfrm>
            <a:off x="7319964" y="1341438"/>
            <a:ext cx="1728787" cy="431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/>
              <a:t>owl:Class</a:t>
            </a:r>
          </a:p>
        </p:txBody>
      </p:sp>
      <p:cxnSp>
        <p:nvCxnSpPr>
          <p:cNvPr id="58410" name="AutoShape 46"/>
          <p:cNvCxnSpPr>
            <a:cxnSpLocks noChangeShapeType="1"/>
            <a:stCxn id="58411" idx="3"/>
            <a:endCxn id="58413" idx="1"/>
          </p:cNvCxnSpPr>
          <p:nvPr/>
        </p:nvCxnSpPr>
        <p:spPr bwMode="auto">
          <a:xfrm>
            <a:off x="7072313" y="5889626"/>
            <a:ext cx="392112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411" name="Text Box 47"/>
          <p:cNvSpPr txBox="1">
            <a:spLocks noChangeArrowheads="1"/>
          </p:cNvSpPr>
          <p:nvPr/>
        </p:nvSpPr>
        <p:spPr bwMode="auto">
          <a:xfrm>
            <a:off x="6311901" y="5661025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time</a:t>
            </a:r>
          </a:p>
        </p:txBody>
      </p:sp>
      <p:sp>
        <p:nvSpPr>
          <p:cNvPr id="58412" name="Text Box 48"/>
          <p:cNvSpPr txBox="1">
            <a:spLocks noChangeArrowheads="1"/>
          </p:cNvSpPr>
          <p:nvPr/>
        </p:nvSpPr>
        <p:spPr bwMode="auto">
          <a:xfrm>
            <a:off x="9120188" y="56610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400"/>
              <a:t>offer</a:t>
            </a:r>
          </a:p>
        </p:txBody>
      </p:sp>
      <p:sp>
        <p:nvSpPr>
          <p:cNvPr id="58413" name="Rectangle 49"/>
          <p:cNvSpPr>
            <a:spLocks noChangeArrowheads="1"/>
          </p:cNvSpPr>
          <p:nvPr/>
        </p:nvSpPr>
        <p:spPr bwMode="auto">
          <a:xfrm>
            <a:off x="7464426" y="5695951"/>
            <a:ext cx="1273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2000"/>
              <a:t>owl:Class</a:t>
            </a:r>
          </a:p>
        </p:txBody>
      </p:sp>
      <p:cxnSp>
        <p:nvCxnSpPr>
          <p:cNvPr id="58414" name="AutoShape 50"/>
          <p:cNvCxnSpPr>
            <a:cxnSpLocks noChangeShapeType="1"/>
            <a:stCxn id="58412" idx="1"/>
            <a:endCxn id="58413" idx="3"/>
          </p:cNvCxnSpPr>
          <p:nvPr/>
        </p:nvCxnSpPr>
        <p:spPr bwMode="auto">
          <a:xfrm flipH="1">
            <a:off x="8737600" y="5889626"/>
            <a:ext cx="382588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正方形/長方形 46"/>
          <p:cNvSpPr/>
          <p:nvPr/>
        </p:nvSpPr>
        <p:spPr>
          <a:xfrm>
            <a:off x="12573000" y="1306513"/>
            <a:ext cx="6400800" cy="50165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ja-JP" sz="1600" dirty="0"/>
              <a:t>&lt;</a:t>
            </a:r>
            <a:r>
              <a:rPr lang="en-US" altLang="ja-JP" sz="1600" dirty="0" err="1"/>
              <a:t>rdf:RDF</a:t>
            </a:r>
            <a:endParaRPr lang="en-US" altLang="ja-JP" sz="1600" dirty="0"/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xmlns:rdf</a:t>
            </a:r>
            <a:r>
              <a:rPr lang="en-US" altLang="ja-JP" sz="1600" dirty="0"/>
              <a:t>="http://www.w3.org/1999/02/22-rdf-syntax-ns#"</a:t>
            </a:r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xmlns:owl</a:t>
            </a:r>
            <a:r>
              <a:rPr lang="en-US" altLang="ja-JP" sz="1600" dirty="0"/>
              <a:t>="http://www.w3.org/2002/07/owl#"</a:t>
            </a:r>
          </a:p>
          <a:p>
            <a:pPr>
              <a:defRPr/>
            </a:pPr>
            <a:r>
              <a:rPr lang="en-US" altLang="ja-JP" sz="1600" dirty="0"/>
              <a:t>    </a:t>
            </a:r>
            <a:r>
              <a:rPr lang="en-US" altLang="ja-JP" sz="1600" dirty="0" err="1"/>
              <a:t>xmlns:rdfs</a:t>
            </a:r>
            <a:r>
              <a:rPr lang="en-US" altLang="ja-JP" sz="1600" dirty="0"/>
              <a:t>="http://www.w3.org/2000/01/rdf-schema#"</a:t>
            </a:r>
          </a:p>
          <a:p>
            <a:pPr>
              <a:defRPr/>
            </a:pPr>
            <a:r>
              <a:rPr lang="en-US" altLang="ja-JP" sz="1600" dirty="0"/>
              <a:t>  </a:t>
            </a:r>
            <a:r>
              <a:rPr lang="en-US" altLang="ja-JP" sz="1600" dirty="0" err="1"/>
              <a:t>xml:base</a:t>
            </a:r>
            <a:r>
              <a:rPr lang="en-US" altLang="ja-JP" sz="1600" dirty="0"/>
              <a:t>="http://www.yamaguti.comp.ae.keio.ac.jp/mmm/doddle/"&gt;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="behavior"&gt;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  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="act"/&gt;</a:t>
            </a:r>
          </a:p>
          <a:p>
            <a:pPr>
              <a:defRPr/>
            </a:pPr>
            <a:r>
              <a:rPr lang="en-US" altLang="ja-JP" sz="1600" dirty="0"/>
              <a:t>    &lt;/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="time"/&gt;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="aim"&gt;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rdfs:subClassOf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="#act"/&gt;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owl:Class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="offer"/&gt;</a:t>
            </a:r>
          </a:p>
          <a:p>
            <a:pPr>
              <a:defRPr/>
            </a:pPr>
            <a:r>
              <a:rPr lang="en-US" altLang="ja-JP" sz="1600" dirty="0"/>
              <a:t>  &lt;</a:t>
            </a:r>
            <a:r>
              <a:rPr lang="en-US" altLang="ja-JP" sz="1600" dirty="0" err="1"/>
              <a:t>owl:ObjectProperty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rdf:ID</a:t>
            </a:r>
            <a:r>
              <a:rPr lang="en-US" altLang="ja-JP" sz="1600" dirty="0"/>
              <a:t>="attribute"&gt;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rdfs:domain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="#time"/&gt;</a:t>
            </a:r>
          </a:p>
          <a:p>
            <a:pPr>
              <a:defRPr/>
            </a:pPr>
            <a:r>
              <a:rPr lang="en-US" altLang="ja-JP" sz="1600" dirty="0"/>
              <a:t>    &lt;</a:t>
            </a:r>
            <a:r>
              <a:rPr lang="en-US" altLang="ja-JP" sz="1600" dirty="0" err="1"/>
              <a:t>rdfs:range</a:t>
            </a:r>
            <a:r>
              <a:rPr lang="en-US" altLang="ja-JP" sz="1600" dirty="0"/>
              <a:t> </a:t>
            </a:r>
            <a:r>
              <a:rPr lang="en-US" altLang="ja-JP" sz="1600" dirty="0" err="1"/>
              <a:t>rdf:resource</a:t>
            </a:r>
            <a:r>
              <a:rPr lang="en-US" altLang="ja-JP" sz="1600" dirty="0"/>
              <a:t>="#offer"/&gt;</a:t>
            </a:r>
          </a:p>
          <a:p>
            <a:pPr>
              <a:defRPr/>
            </a:pPr>
            <a:r>
              <a:rPr lang="en-US" altLang="ja-JP" sz="1600" dirty="0"/>
              <a:t>  &lt;/</a:t>
            </a:r>
            <a:r>
              <a:rPr lang="en-US" altLang="ja-JP" sz="1600" dirty="0" err="1"/>
              <a:t>owl:ObjectProperty</a:t>
            </a:r>
            <a:r>
              <a:rPr lang="en-US" altLang="ja-JP" sz="1600" dirty="0"/>
              <a:t>&gt;</a:t>
            </a:r>
          </a:p>
          <a:p>
            <a:pPr>
              <a:defRPr/>
            </a:pPr>
            <a:r>
              <a:rPr lang="en-US" altLang="ja-JP" sz="1600" dirty="0"/>
              <a:t>&lt;/</a:t>
            </a:r>
            <a:r>
              <a:rPr lang="en-US" altLang="ja-JP" sz="1600" dirty="0" err="1"/>
              <a:t>rdf:RDF</a:t>
            </a:r>
            <a:r>
              <a:rPr lang="en-US" altLang="ja-JP" sz="1600" dirty="0"/>
              <a:t>&gt;</a:t>
            </a:r>
          </a:p>
        </p:txBody>
      </p:sp>
      <p:sp>
        <p:nvSpPr>
          <p:cNvPr id="58416" name="Text Box 43"/>
          <p:cNvSpPr txBox="1">
            <a:spLocks noChangeArrowheads="1"/>
          </p:cNvSpPr>
          <p:nvPr/>
        </p:nvSpPr>
        <p:spPr bwMode="auto">
          <a:xfrm>
            <a:off x="12573000" y="838201"/>
            <a:ext cx="4735513" cy="4619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2400"/>
              <a:t> </a:t>
            </a:r>
            <a:r>
              <a:rPr lang="en-US" altLang="ja-JP" sz="2400"/>
              <a:t>OWL</a:t>
            </a:r>
            <a:r>
              <a:rPr lang="ja-JP" altLang="en-US" sz="2400"/>
              <a:t>オントロジー</a:t>
            </a:r>
            <a:r>
              <a:rPr lang="en-US" altLang="ja-JP" sz="2400"/>
              <a:t>(RDF/XML</a:t>
            </a:r>
            <a:r>
              <a:rPr lang="ja-JP" altLang="en-US" sz="2400"/>
              <a:t>形式</a:t>
            </a:r>
            <a:r>
              <a:rPr lang="en-US" altLang="ja-JP" sz="2400"/>
              <a:t>)</a:t>
            </a:r>
          </a:p>
        </p:txBody>
      </p:sp>
      <p:sp>
        <p:nvSpPr>
          <p:cNvPr id="49" name="AutoShape 146"/>
          <p:cNvSpPr>
            <a:spLocks noChangeArrowheads="1"/>
          </p:cNvSpPr>
          <p:nvPr/>
        </p:nvSpPr>
        <p:spPr bwMode="auto">
          <a:xfrm>
            <a:off x="5105400" y="1905000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0" name="AutoShape 146"/>
          <p:cNvSpPr>
            <a:spLocks noChangeArrowheads="1"/>
          </p:cNvSpPr>
          <p:nvPr/>
        </p:nvSpPr>
        <p:spPr bwMode="auto">
          <a:xfrm>
            <a:off x="5105400" y="4648200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1" name="AutoShape 146"/>
          <p:cNvSpPr>
            <a:spLocks noChangeArrowheads="1"/>
          </p:cNvSpPr>
          <p:nvPr/>
        </p:nvSpPr>
        <p:spPr bwMode="auto">
          <a:xfrm>
            <a:off x="10363200" y="3276600"/>
            <a:ext cx="685800" cy="838200"/>
          </a:xfrm>
          <a:prstGeom prst="rightArrow">
            <a:avLst>
              <a:gd name="adj1" fmla="val 50000"/>
              <a:gd name="adj2" fmla="val 57148"/>
            </a:avLst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371600" y="4395788"/>
            <a:ext cx="11049000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>
                <a:latin typeface="Meiryo" charset="-128"/>
                <a:ea typeface="Meiryo" charset="-128"/>
                <a:cs typeface="Meiryo" charset="-128"/>
              </a:rPr>
              <a:t>Java VM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2725400" y="3215557"/>
            <a:ext cx="1219200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Apache</a:t>
            </a:r>
          </a:p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Jena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9982200" y="3215557"/>
            <a:ext cx="1219200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Meiryo" charset="-128"/>
                <a:ea typeface="Meiryo" charset="-128"/>
                <a:cs typeface="Meiryo" charset="-128"/>
              </a:rPr>
              <a:t>MR</a:t>
            </a:r>
            <a:r>
              <a:rPr lang="en-US" altLang="ja-JP" sz="2000" baseline="30000">
                <a:latin typeface="Meiryo" charset="-128"/>
                <a:ea typeface="Meiryo" charset="-128"/>
                <a:cs typeface="Meiryo" charset="-128"/>
              </a:rPr>
              <a:t>3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9982200" y="2556135"/>
            <a:ext cx="1219200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視覚化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12725400" y="2556135"/>
            <a:ext cx="1219200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変換</a:t>
            </a:r>
            <a:endParaRPr lang="en-US" altLang="ja-JP" b="1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7303958" y="2556135"/>
            <a:ext cx="2678242" cy="659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オントロジー構築・洗練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3502702" y="2556134"/>
            <a:ext cx="3807502" cy="3714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入力モジュール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7303958" y="3215557"/>
            <a:ext cx="2678242" cy="6468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extJWNL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3505200" y="3215557"/>
            <a:ext cx="17526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Stanford Parser</a:t>
            </a:r>
          </a:p>
        </p:txBody>
      </p:sp>
      <p:sp>
        <p:nvSpPr>
          <p:cNvPr id="59405" name="Rectangle 9"/>
          <p:cNvSpPr>
            <a:spLocks noChangeArrowheads="1"/>
          </p:cNvSpPr>
          <p:nvPr/>
        </p:nvSpPr>
        <p:spPr bwMode="auto">
          <a:xfrm>
            <a:off x="1371600" y="3862387"/>
            <a:ext cx="11049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400" dirty="0">
                <a:latin typeface="Meiryo" charset="-128"/>
                <a:ea typeface="Meiryo" charset="-128"/>
                <a:cs typeface="Meiryo" charset="-128"/>
              </a:rPr>
              <a:t>Java Swing</a:t>
            </a:r>
          </a:p>
        </p:txBody>
      </p:sp>
      <p:sp>
        <p:nvSpPr>
          <p:cNvPr id="59406" name="Rectangle 9"/>
          <p:cNvSpPr>
            <a:spLocks noChangeArrowheads="1"/>
          </p:cNvSpPr>
          <p:nvPr/>
        </p:nvSpPr>
        <p:spPr bwMode="auto">
          <a:xfrm>
            <a:off x="1371600" y="3215557"/>
            <a:ext cx="2133600" cy="6468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Swoogle</a:t>
            </a:r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 </a:t>
            </a:r>
          </a:p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Web</a:t>
            </a:r>
            <a:r>
              <a:rPr lang="ja-JP" altLang="en-US" sz="2000" dirty="0">
                <a:latin typeface="Meiryo" charset="-128"/>
                <a:ea typeface="Meiryo" charset="-128"/>
                <a:cs typeface="Meiryo" charset="-128"/>
              </a:rPr>
              <a:t>サービス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7" name="Rectangle 8"/>
          <p:cNvSpPr>
            <a:spLocks noChangeArrowheads="1"/>
          </p:cNvSpPr>
          <p:nvPr/>
        </p:nvSpPr>
        <p:spPr bwMode="auto">
          <a:xfrm>
            <a:off x="1370351" y="2556135"/>
            <a:ext cx="2133600" cy="6720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オントロジー選択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sz="2000" b="1" dirty="0">
                <a:latin typeface="Meiryo" charset="-128"/>
                <a:ea typeface="Meiryo" charset="-128"/>
                <a:cs typeface="Meiryo" charset="-128"/>
              </a:rPr>
              <a:t>モジュール</a:t>
            </a:r>
            <a:endParaRPr lang="en-US" altLang="ja-JP" sz="2000" b="1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8" name="Rectangle 10"/>
          <p:cNvSpPr>
            <a:spLocks noChangeArrowheads="1"/>
          </p:cNvSpPr>
          <p:nvPr/>
        </p:nvSpPr>
        <p:spPr bwMode="auto">
          <a:xfrm>
            <a:off x="3502702" y="2927557"/>
            <a:ext cx="1750102" cy="28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>
                <a:latin typeface="Meiryo" charset="-128"/>
                <a:ea typeface="Meiryo" charset="-128"/>
                <a:cs typeface="Meiryo" charset="-128"/>
              </a:rPr>
              <a:t>CaboCha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9409" name="Rectangle 10"/>
          <p:cNvSpPr>
            <a:spLocks noChangeArrowheads="1"/>
          </p:cNvSpPr>
          <p:nvPr/>
        </p:nvSpPr>
        <p:spPr bwMode="auto">
          <a:xfrm>
            <a:off x="3502702" y="3538387"/>
            <a:ext cx="17526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Apache POI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5257800" y="3538387"/>
            <a:ext cx="2054902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>
                <a:latin typeface="Meiryo" charset="-128"/>
                <a:ea typeface="Meiryo" charset="-128"/>
                <a:cs typeface="Meiryo" charset="-128"/>
              </a:rPr>
              <a:t>Apache </a:t>
            </a:r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PDFBox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255302" y="3215557"/>
            <a:ext cx="2057400" cy="3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ja-JP" sz="2000" dirty="0" err="1">
                <a:latin typeface="Meiryo" charset="-128"/>
                <a:ea typeface="Meiryo" charset="-128"/>
                <a:cs typeface="Meiryo" charset="-128"/>
              </a:rPr>
              <a:t>lucene-gosen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260298" y="2927557"/>
            <a:ext cx="2049906" cy="28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sz="2000" dirty="0">
                <a:latin typeface="Meiryo" charset="-128"/>
                <a:ea typeface="Meiryo" charset="-128"/>
                <a:cs typeface="Meiryo" charset="-128"/>
              </a:rPr>
              <a:t>言選</a:t>
            </a:r>
            <a:endParaRPr lang="en-US" altLang="ja-JP" sz="2000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ChangeArrowheads="1"/>
          </p:cNvSpPr>
          <p:nvPr/>
        </p:nvSpPr>
        <p:spPr bwMode="auto">
          <a:xfrm>
            <a:off x="1524000" y="304801"/>
            <a:ext cx="92964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?label ?description 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{?concept rdfs:label ?label} UNION {?concept rdfs:comment ?description} UNION  {?concept daml03:label ?label} UNION   </a:t>
            </a:r>
          </a:p>
          <a:p>
            <a:pPr eaLnBrk="1" hangingPunct="1"/>
            <a:r>
              <a:rPr lang="en-US" altLang="ja-JP" sz="1200"/>
              <a:t>   {?concept daml03:comment ?description} UNION {?concept daml10:label ?label} UNION  {?concept daml10:comment ?description} 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0419" name="Text Box 6"/>
          <p:cNvSpPr txBox="1">
            <a:spLocks noChangeArrowheads="1"/>
          </p:cNvSpPr>
          <p:nvPr/>
        </p:nvSpPr>
        <p:spPr bwMode="auto">
          <a:xfrm>
            <a:off x="1524000" y="0"/>
            <a:ext cx="238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ラベル・説明抽出テンプレート</a:t>
            </a:r>
          </a:p>
        </p:txBody>
      </p:sp>
      <p:sp>
        <p:nvSpPr>
          <p:cNvPr id="60420" name="Rectangle 10"/>
          <p:cNvSpPr>
            <a:spLocks noChangeArrowheads="1"/>
          </p:cNvSpPr>
          <p:nvPr/>
        </p:nvSpPr>
        <p:spPr bwMode="auto">
          <a:xfrm>
            <a:off x="1524000" y="2362201"/>
            <a:ext cx="111252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 rdfs: &lt;http://www.w3.org/2000/01/rdf-schema#&gt; 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?subConcept </a:t>
            </a:r>
          </a:p>
          <a:p>
            <a:pPr eaLnBrk="1" hangingPunct="1"/>
            <a:r>
              <a:rPr lang="en-US" altLang="ja-JP" sz="1200"/>
              <a:t>WHERE { </a:t>
            </a:r>
          </a:p>
          <a:p>
            <a:pPr eaLnBrk="1" hangingPunct="1"/>
            <a:r>
              <a:rPr lang="en-US" altLang="ja-JP" sz="1200"/>
              <a:t>    {?subConcept rdfs:subClassOf ?concept} UNION {?subConcept rdfs:subPropertyOf ?concept} UNION {?subConcept daml03:subClassOf ?concept} UNION</a:t>
            </a:r>
          </a:p>
          <a:p>
            <a:pPr eaLnBrk="1" hangingPunct="1"/>
            <a:r>
              <a:rPr lang="en-US" altLang="ja-JP" sz="1200"/>
              <a:t>    {?subConcept daml03:subPropertyOf ?concept} UNION {?subConcept daml10:subClassOf ?concept} UNION {?subConcept daml10:subPropertyOf ?concept}</a:t>
            </a:r>
          </a:p>
          <a:p>
            <a:pPr eaLnBrk="1" hangingPunct="1"/>
            <a:r>
              <a:rPr lang="en-US" altLang="ja-JP" sz="1200"/>
              <a:t>}                	</a:t>
            </a:r>
          </a:p>
        </p:txBody>
      </p:sp>
      <p:sp>
        <p:nvSpPr>
          <p:cNvPr id="60421" name="Text Box 11"/>
          <p:cNvSpPr txBox="1">
            <a:spLocks noChangeArrowheads="1"/>
          </p:cNvSpPr>
          <p:nvPr/>
        </p:nvSpPr>
        <p:spPr bwMode="auto">
          <a:xfrm>
            <a:off x="1524001" y="2057400"/>
            <a:ext cx="2601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上位・下位関係抽出テンプレート</a:t>
            </a:r>
          </a:p>
        </p:txBody>
      </p:sp>
      <p:sp>
        <p:nvSpPr>
          <p:cNvPr id="60422" name="Rectangle 12"/>
          <p:cNvSpPr>
            <a:spLocks noChangeArrowheads="1"/>
          </p:cNvSpPr>
          <p:nvPr/>
        </p:nvSpPr>
        <p:spPr bwMode="auto">
          <a:xfrm>
            <a:off x="1524000" y="4565650"/>
            <a:ext cx="10668000" cy="229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rdf: &lt;http://www.w3.org/1999/02/22-rdf-syntax-ns#&gt;</a:t>
            </a:r>
          </a:p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en-US" altLang="ja-JP" sz="1200"/>
              <a:t>PREFIX owl: &lt;http://www.w3.org/2002/07/owl#&gt;</a:t>
            </a:r>
          </a:p>
          <a:p>
            <a:pPr eaLnBrk="1" hangingPunct="1"/>
            <a:r>
              <a:rPr lang="en-US" altLang="ja-JP" sz="1200"/>
              <a:t>PREFIX daml03: &lt;http://www.daml.org/2001/03/daml+oil#&gt;</a:t>
            </a:r>
          </a:p>
          <a:p>
            <a:pPr eaLnBrk="1" hangingPunct="1"/>
            <a:r>
              <a:rPr lang="en-US" altLang="ja-JP" sz="1200"/>
              <a:t>PREFIX daml10: &lt;http://www.w3.org/2001/10/daml+oil#&gt;</a:t>
            </a:r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?class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 {?class rdf:type rdfs:Class} UNION {?class rdf:type owl:Class} UNION  {?class rdf:type owl:Restriction} UNION {?class rdf:type owl:DataRange} UNION </a:t>
            </a:r>
          </a:p>
          <a:p>
            <a:pPr eaLnBrk="1" hangingPunct="1"/>
            <a:r>
              <a:rPr lang="en-US" altLang="ja-JP" sz="1200"/>
              <a:t>    {?class rdf:type daml03:Class} UNION {?class rdf:type daml03:Datatype} UNION {?class rdf:type daml03:Restriction} UNION </a:t>
            </a:r>
          </a:p>
          <a:p>
            <a:pPr eaLnBrk="1" hangingPunct="1"/>
            <a:r>
              <a:rPr lang="en-US" altLang="ja-JP" sz="1200"/>
              <a:t>    {?class rdf:type daml10:Class} UNION {?class rdf:type daml10:Datatype} UNION {?class rdf:type daml10:Restriction}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0423" name="Text Box 13"/>
          <p:cNvSpPr txBox="1">
            <a:spLocks noChangeArrowheads="1"/>
          </p:cNvSpPr>
          <p:nvPr/>
        </p:nvSpPr>
        <p:spPr bwMode="auto">
          <a:xfrm>
            <a:off x="1447800" y="4162425"/>
            <a:ext cx="18938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400"/>
              <a:t>クラス抽出テンプレート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ChangeArrowheads="1"/>
          </p:cNvSpPr>
          <p:nvPr/>
        </p:nvSpPr>
        <p:spPr bwMode="auto">
          <a:xfrm>
            <a:off x="1524000" y="533400"/>
            <a:ext cx="11315700" cy="302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rdf: &lt;http://www.w3.org/1999/02/22-rdf-syntax-ns#&gt;</a:t>
            </a:r>
          </a:p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en-US" altLang="ja-JP" sz="1200"/>
              <a:t>PREFIX owl:  &lt;http://www.w3.org/2002/07/owl#&gt;</a:t>
            </a:r>
          </a:p>
          <a:p>
            <a:pPr eaLnBrk="1" hangingPunct="1"/>
            <a:r>
              <a:rPr lang="en-US" altLang="ja-JP" sz="1200"/>
              <a:t>PREFIX daml03: &lt;http://www.daml.org/2001/03/daml+oil#&gt;</a:t>
            </a:r>
          </a:p>
          <a:p>
            <a:pPr eaLnBrk="1" hangingPunct="1"/>
            <a:r>
              <a:rPr lang="en-US" altLang="ja-JP" sz="1200"/>
              <a:t>PREFIX daml10: &lt;http://www.w3.org/2001/10/daml+oil#&gt;</a:t>
            </a:r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?property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{?property rdf:type rdf:Property} UNION {?property rdf:type owl:ObjectProperty} UNION  {?property rdf:type owl:DatatypeProperty} UNION</a:t>
            </a:r>
          </a:p>
          <a:p>
            <a:pPr eaLnBrk="1" hangingPunct="1"/>
            <a:r>
              <a:rPr lang="en-US" altLang="ja-JP" sz="1200"/>
              <a:t>   {?property rdf:type owl:AnnotationProperty} UNION {?property rdf:type owl:FunctionalProperty} UNION {?property rdf:type owl:InverseFunctionalProperty} UNION         </a:t>
            </a:r>
          </a:p>
          <a:p>
            <a:pPr eaLnBrk="1" hangingPunct="1"/>
            <a:r>
              <a:rPr lang="en-US" altLang="ja-JP" sz="1200"/>
              <a:t>   {?property rdf:type owl:SymmetricProperty} UNION {?property rdf:type owl:OntologyProperty} UNION {?property rdf:type owl:TransitiveProperty} UNION </a:t>
            </a:r>
          </a:p>
          <a:p>
            <a:pPr eaLnBrk="1" hangingPunct="1"/>
            <a:r>
              <a:rPr lang="en-US" altLang="ja-JP" sz="1200"/>
              <a:t>   {?property rdf:type daml03:Property} UNION {?property rdf:type daml03:ObjectProperty} UNION {?property rdf:type daml03:DatatypeProperty} UNION   </a:t>
            </a:r>
          </a:p>
          <a:p>
            <a:pPr eaLnBrk="1" hangingPunct="1"/>
            <a:r>
              <a:rPr lang="en-US" altLang="ja-JP" sz="1200"/>
              <a:t>   {?property rdf:type daml03:TransitiveProperty} UNION {?property rdf:type daml03:DatatypeProperty} UNION {?property rdf:type daml03:UniqueProperty}  UNION </a:t>
            </a:r>
          </a:p>
          <a:p>
            <a:pPr eaLnBrk="1" hangingPunct="1"/>
            <a:r>
              <a:rPr lang="en-US" altLang="ja-JP" sz="1200"/>
              <a:t>   {?property rdf:type daml10:Property} UNION {?property rdf:type daml10:ObjectProperty} UNION {?property rdf:type daml10:DatatypeProperty} UNION  </a:t>
            </a:r>
          </a:p>
          <a:p>
            <a:pPr eaLnBrk="1" hangingPunct="1"/>
            <a:r>
              <a:rPr lang="en-US" altLang="ja-JP" sz="1200"/>
              <a:t>   {?property rdf:type daml10:TransitiveProperty} UNION {?property rdf:type daml10:DatatypeProperty} UNION {?property rdf:type daml10:UniqueProperty}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1443" name="Text Box 5"/>
          <p:cNvSpPr txBox="1">
            <a:spLocks noChangeArrowheads="1"/>
          </p:cNvSpPr>
          <p:nvPr/>
        </p:nvSpPr>
        <p:spPr bwMode="auto">
          <a:xfrm>
            <a:off x="1524001" y="152401"/>
            <a:ext cx="2784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プロパティ抽出テンプレート</a:t>
            </a:r>
          </a:p>
        </p:txBody>
      </p:sp>
      <p:sp>
        <p:nvSpPr>
          <p:cNvPr id="61444" name="Rectangle 6"/>
          <p:cNvSpPr>
            <a:spLocks noChangeArrowheads="1"/>
          </p:cNvSpPr>
          <p:nvPr/>
        </p:nvSpPr>
        <p:spPr bwMode="auto">
          <a:xfrm>
            <a:off x="1524000" y="4495801"/>
            <a:ext cx="9067800" cy="1744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200"/>
              <a:t>PREFIX rdfs: &lt;http://www.w3.org/2000/01/rdf-schema#&gt;</a:t>
            </a:r>
          </a:p>
          <a:p>
            <a:pPr eaLnBrk="1" hangingPunct="1"/>
            <a:r>
              <a:rPr lang="pt-BR" altLang="ja-JP" sz="1200"/>
              <a:t>PREFIX daml03: &lt;http://www.daml.org/2001/03/daml+oil#&gt;</a:t>
            </a:r>
          </a:p>
          <a:p>
            <a:pPr eaLnBrk="1" hangingPunct="1"/>
            <a:r>
              <a:rPr lang="pt-BR" altLang="ja-JP" sz="1200"/>
              <a:t>PREFIX daml10: &lt;http://www.w3.org/2001/10/daml+oil#&gt;</a:t>
            </a:r>
            <a:endParaRPr lang="en-US" altLang="ja-JP" sz="1200"/>
          </a:p>
          <a:p>
            <a:pPr eaLnBrk="1" hangingPunct="1"/>
            <a:endParaRPr lang="en-US" altLang="ja-JP" sz="1200"/>
          </a:p>
          <a:p>
            <a:pPr eaLnBrk="1" hangingPunct="1"/>
            <a:r>
              <a:rPr lang="en-US" altLang="ja-JP" sz="1200"/>
              <a:t>SELECT ?property ?domain ?range</a:t>
            </a:r>
          </a:p>
          <a:p>
            <a:pPr eaLnBrk="1" hangingPunct="1"/>
            <a:r>
              <a:rPr lang="en-US" altLang="ja-JP" sz="1200"/>
              <a:t>WHERE {</a:t>
            </a:r>
          </a:p>
          <a:p>
            <a:pPr eaLnBrk="1" hangingPunct="1"/>
            <a:r>
              <a:rPr lang="en-US" altLang="ja-JP" sz="1200"/>
              <a:t>    {?property rdfs:domain ?domain} UNION  {?property rdfs:range ?range} UNION {?property daml03:domain ?domain} UNION</a:t>
            </a:r>
          </a:p>
          <a:p>
            <a:pPr eaLnBrk="1" hangingPunct="1"/>
            <a:r>
              <a:rPr lang="en-US" altLang="ja-JP" sz="1200"/>
              <a:t>    {?property daml03:range ?range} UNION {?property daml10:domain ?domain} UNION {?property daml10:range ?range}</a:t>
            </a:r>
          </a:p>
          <a:p>
            <a:pPr eaLnBrk="1" hangingPunct="1"/>
            <a:r>
              <a:rPr lang="en-US" altLang="ja-JP" sz="1200"/>
              <a:t>}</a:t>
            </a:r>
          </a:p>
        </p:txBody>
      </p:sp>
      <p:sp>
        <p:nvSpPr>
          <p:cNvPr id="61445" name="Text Box 7"/>
          <p:cNvSpPr txBox="1">
            <a:spLocks noChangeArrowheads="1"/>
          </p:cNvSpPr>
          <p:nvPr/>
        </p:nvSpPr>
        <p:spPr bwMode="auto">
          <a:xfrm>
            <a:off x="1600201" y="4038601"/>
            <a:ext cx="3159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/>
              <a:t>その他の関係抽出テンプレート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25" name="正方形/長方形 24"/>
          <p:cNvSpPr/>
          <p:nvPr/>
        </p:nvSpPr>
        <p:spPr>
          <a:xfrm>
            <a:off x="2133600" y="685800"/>
            <a:ext cx="7848600" cy="106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2133600" y="1796534"/>
            <a:ext cx="7848600" cy="39179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27" name="正方形/長方形 26"/>
          <p:cNvSpPr/>
          <p:nvPr/>
        </p:nvSpPr>
        <p:spPr>
          <a:xfrm>
            <a:off x="2133600" y="5714446"/>
            <a:ext cx="7848600" cy="30535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28" name="テキスト ボックス 27"/>
          <p:cNvSpPr txBox="1">
            <a:spLocks noChangeAspect="1"/>
          </p:cNvSpPr>
          <p:nvPr/>
        </p:nvSpPr>
        <p:spPr>
          <a:xfrm>
            <a:off x="8153400" y="10345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9" name="テキスト ボックス 28"/>
          <p:cNvSpPr txBox="1">
            <a:spLocks noChangeAspect="1"/>
          </p:cNvSpPr>
          <p:nvPr/>
        </p:nvSpPr>
        <p:spPr>
          <a:xfrm>
            <a:off x="8153400" y="242906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30" name="テキスト ボックス 29"/>
          <p:cNvSpPr txBox="1">
            <a:spLocks noChangeAspect="1"/>
          </p:cNvSpPr>
          <p:nvPr/>
        </p:nvSpPr>
        <p:spPr>
          <a:xfrm>
            <a:off x="7848600" y="570977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02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33600" y="685800"/>
            <a:ext cx="7848600" cy="1066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33600" y="1828800"/>
            <a:ext cx="4191000" cy="4191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6324600" y="1839022"/>
            <a:ext cx="2819400" cy="41807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686800" y="1062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5791200" y="19003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テキスト ボックス 7"/>
          <p:cNvSpPr txBox="1">
            <a:spLocks noChangeAspect="1"/>
          </p:cNvSpPr>
          <p:nvPr/>
        </p:nvSpPr>
        <p:spPr>
          <a:xfrm>
            <a:off x="8686800" y="19870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1004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33600" y="685800"/>
            <a:ext cx="7848600" cy="1905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33600" y="2895600"/>
            <a:ext cx="7848600" cy="32572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153588" y="6160867"/>
            <a:ext cx="3485213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2286000" y="1062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テキスト ボックス 7"/>
          <p:cNvSpPr txBox="1">
            <a:spLocks noChangeAspect="1"/>
          </p:cNvSpPr>
          <p:nvPr/>
        </p:nvSpPr>
        <p:spPr>
          <a:xfrm>
            <a:off x="9448800" y="30919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133600" y="2590800"/>
            <a:ext cx="19812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7924800" y="2590800"/>
            <a:ext cx="2057400" cy="304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4132403" y="251354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7597466" y="2518206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9448800" y="6152804"/>
            <a:ext cx="598472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5655672" y="603146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9107725" y="604089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8822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-16239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53588" y="649504"/>
            <a:ext cx="6304613" cy="11030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2153588" y="5356486"/>
            <a:ext cx="6304613" cy="3713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151090" y="5734707"/>
            <a:ext cx="1963711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001000" y="86761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8033666" y="533400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53588" y="1810512"/>
            <a:ext cx="589613" cy="35234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816902" y="1810512"/>
            <a:ext cx="5641298" cy="35234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テキスト ボックス 9"/>
          <p:cNvSpPr txBox="1">
            <a:spLocks noChangeAspect="1"/>
          </p:cNvSpPr>
          <p:nvPr/>
        </p:nvSpPr>
        <p:spPr>
          <a:xfrm>
            <a:off x="2263744" y="290726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7992256" y="266700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114800" y="5727870"/>
            <a:ext cx="17526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2969277" y="598147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4863010" y="596780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5867400" y="5730368"/>
            <a:ext cx="25908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7" name="テキスト ボックス 16"/>
          <p:cNvSpPr txBox="1">
            <a:spLocks noChangeAspect="1"/>
          </p:cNvSpPr>
          <p:nvPr/>
        </p:nvSpPr>
        <p:spPr>
          <a:xfrm>
            <a:off x="6999133" y="596780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7726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3733800" y="872282"/>
            <a:ext cx="1524000" cy="2707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8426436" y="651790"/>
            <a:ext cx="1555765" cy="54442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4830344" y="77833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テキスト ボックス 6"/>
          <p:cNvSpPr txBox="1">
            <a:spLocks noChangeAspect="1"/>
          </p:cNvSpPr>
          <p:nvPr/>
        </p:nvSpPr>
        <p:spPr>
          <a:xfrm>
            <a:off x="5257800" y="395714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87258" y="2691985"/>
            <a:ext cx="6173742" cy="32689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187258" y="1143000"/>
            <a:ext cx="6173742" cy="152150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5486400" y="177557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177922" y="6145487"/>
            <a:ext cx="1555879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3" name="テキスト ボックス 12"/>
          <p:cNvSpPr txBox="1">
            <a:spLocks noChangeAspect="1"/>
          </p:cNvSpPr>
          <p:nvPr/>
        </p:nvSpPr>
        <p:spPr>
          <a:xfrm>
            <a:off x="9105900" y="318922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3762531" y="602735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8229600" y="6129505"/>
            <a:ext cx="1752600" cy="2399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6" name="テキスト ボックス 15"/>
          <p:cNvSpPr txBox="1">
            <a:spLocks noChangeAspect="1"/>
          </p:cNvSpPr>
          <p:nvPr/>
        </p:nvSpPr>
        <p:spPr>
          <a:xfrm>
            <a:off x="7873535" y="598844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5334000" y="872281"/>
            <a:ext cx="1524000" cy="2707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テキスト ボックス 9"/>
          <p:cNvSpPr txBox="1">
            <a:spLocks noChangeAspect="1"/>
          </p:cNvSpPr>
          <p:nvPr/>
        </p:nvSpPr>
        <p:spPr>
          <a:xfrm>
            <a:off x="6449400" y="767091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7253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8" y="0"/>
            <a:ext cx="805494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542317" y="662137"/>
            <a:ext cx="1617831" cy="2711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8094688" y="651509"/>
            <a:ext cx="1963712" cy="27223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5" name="テキスト ボックス 4"/>
          <p:cNvSpPr txBox="1">
            <a:spLocks noChangeAspect="1"/>
          </p:cNvSpPr>
          <p:nvPr/>
        </p:nvSpPr>
        <p:spPr>
          <a:xfrm>
            <a:off x="3161529" y="24337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6" name="テキスト ボックス 5"/>
          <p:cNvSpPr txBox="1">
            <a:spLocks noChangeAspect="1"/>
          </p:cNvSpPr>
          <p:nvPr/>
        </p:nvSpPr>
        <p:spPr>
          <a:xfrm>
            <a:off x="8912877" y="194426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572000" y="3373895"/>
            <a:ext cx="2667000" cy="18288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187258" y="651791"/>
            <a:ext cx="2308542" cy="45509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テキスト ボックス 8"/>
          <p:cNvSpPr txBox="1">
            <a:spLocks noChangeAspect="1"/>
          </p:cNvSpPr>
          <p:nvPr/>
        </p:nvSpPr>
        <p:spPr>
          <a:xfrm>
            <a:off x="7075333" y="154509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7299260" y="3393548"/>
            <a:ext cx="2759141" cy="18091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1" name="テキスト ボックス 10"/>
          <p:cNvSpPr txBox="1">
            <a:spLocks noChangeAspect="1"/>
          </p:cNvSpPr>
          <p:nvPr/>
        </p:nvSpPr>
        <p:spPr>
          <a:xfrm>
            <a:off x="5940244" y="406476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テキスト ボックス 11"/>
          <p:cNvSpPr txBox="1">
            <a:spLocks noChangeAspect="1"/>
          </p:cNvSpPr>
          <p:nvPr/>
        </p:nvSpPr>
        <p:spPr>
          <a:xfrm>
            <a:off x="8565556" y="4064762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184760" y="5236422"/>
            <a:ext cx="7873640" cy="11213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8585543" y="5528311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6236349" y="662137"/>
            <a:ext cx="1840851" cy="2711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テキスト ボックス 15"/>
          <p:cNvSpPr txBox="1">
            <a:spLocks noChangeAspect="1"/>
          </p:cNvSpPr>
          <p:nvPr/>
        </p:nvSpPr>
        <p:spPr>
          <a:xfrm>
            <a:off x="5171231" y="1905873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0759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891" y="0"/>
            <a:ext cx="3539021" cy="6858000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590" y="-2452"/>
            <a:ext cx="3571301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355753" y="277470"/>
            <a:ext cx="3494087" cy="3058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5882890" y="274379"/>
            <a:ext cx="3539021" cy="2672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2357186" y="575399"/>
            <a:ext cx="3492653" cy="4960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5909195" y="594729"/>
            <a:ext cx="3512714" cy="493949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345252" y="5544561"/>
            <a:ext cx="3504586" cy="9258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5895434" y="5541624"/>
            <a:ext cx="3525705" cy="8952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2355752" y="6480900"/>
            <a:ext cx="3494086" cy="3508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5895743" y="6451069"/>
            <a:ext cx="3526167" cy="3508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651152" y="208170"/>
            <a:ext cx="415498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１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214251" y="150723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961303" y="2875169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501885" y="297366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131340" y="5605852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084385" y="5612535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3952" y="646240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6757051" y="6451068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6" name="テキスト ボックス 5"/>
          <p:cNvSpPr txBox="1">
            <a:spLocks noChangeArrowheads="1"/>
          </p:cNvSpPr>
          <p:nvPr/>
        </p:nvSpPr>
        <p:spPr bwMode="auto">
          <a:xfrm>
            <a:off x="4501359" y="239711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完全照合語</a:t>
            </a:r>
          </a:p>
        </p:txBody>
      </p:sp>
      <p:sp>
        <p:nvSpPr>
          <p:cNvPr id="71687" name="テキスト ボックス 6"/>
          <p:cNvSpPr txBox="1">
            <a:spLocks noChangeArrowheads="1"/>
          </p:cNvSpPr>
          <p:nvPr/>
        </p:nvSpPr>
        <p:spPr bwMode="auto">
          <a:xfrm>
            <a:off x="6258908" y="90488"/>
            <a:ext cx="15696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完全照合語</a:t>
            </a:r>
            <a:endParaRPr lang="en-US" altLang="ja-JP" b="1" dirty="0">
              <a:latin typeface="Meiryo" charset="-128"/>
              <a:ea typeface="Meiryo" charset="-128"/>
              <a:cs typeface="Meiryo" charset="-128"/>
            </a:endParaRPr>
          </a:p>
          <a:p>
            <a:pPr algn="ctr" eaLnBrk="1" hangingPunct="1"/>
            <a:r>
              <a:rPr lang="ja-JP" altLang="en-US" b="1" dirty="0">
                <a:latin typeface="Meiryo" charset="-128"/>
                <a:ea typeface="Meiryo" charset="-128"/>
                <a:cs typeface="Meiryo" charset="-128"/>
              </a:rPr>
              <a:t>（自動追加）</a:t>
            </a:r>
          </a:p>
        </p:txBody>
      </p:sp>
      <p:sp>
        <p:nvSpPr>
          <p:cNvPr id="71688" name="テキスト ボックス 7"/>
          <p:cNvSpPr txBox="1">
            <a:spLocks noChangeArrowheads="1"/>
          </p:cNvSpPr>
          <p:nvPr/>
        </p:nvSpPr>
        <p:spPr bwMode="auto">
          <a:xfrm>
            <a:off x="8352110" y="228600"/>
            <a:ext cx="1346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部分照合語</a:t>
            </a:r>
          </a:p>
        </p:txBody>
      </p:sp>
      <p:sp>
        <p:nvSpPr>
          <p:cNvPr id="71691" name="テキスト ボックス 10"/>
          <p:cNvSpPr txBox="1">
            <a:spLocks noChangeArrowheads="1"/>
          </p:cNvSpPr>
          <p:nvPr/>
        </p:nvSpPr>
        <p:spPr bwMode="auto">
          <a:xfrm>
            <a:off x="4865183" y="3455988"/>
            <a:ext cx="22621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完全照合オプション</a:t>
            </a:r>
          </a:p>
        </p:txBody>
      </p:sp>
      <p:sp>
        <p:nvSpPr>
          <p:cNvPr id="71692" name="テキスト ボックス 11"/>
          <p:cNvSpPr txBox="1">
            <a:spLocks noChangeArrowheads="1"/>
          </p:cNvSpPr>
          <p:nvPr/>
        </p:nvSpPr>
        <p:spPr bwMode="auto">
          <a:xfrm>
            <a:off x="4865182" y="5164546"/>
            <a:ext cx="22621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ja-JP" altLang="en-US" b="1">
                <a:latin typeface="Meiryo" charset="-128"/>
                <a:ea typeface="Meiryo" charset="-128"/>
                <a:cs typeface="Meiryo" charset="-128"/>
              </a:rPr>
              <a:t>部分照合オプション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10" y="609600"/>
            <a:ext cx="1607291" cy="2668823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384" y="690514"/>
            <a:ext cx="1844212" cy="264475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140" y="700944"/>
            <a:ext cx="1776140" cy="262961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251" y="685801"/>
            <a:ext cx="1817234" cy="265013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596" y="3825876"/>
            <a:ext cx="9144000" cy="1322538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0596" y="5534434"/>
            <a:ext cx="9144000" cy="13235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43" y="0"/>
            <a:ext cx="7938914" cy="6858000"/>
          </a:xfrm>
          <a:prstGeom prst="rect">
            <a:avLst/>
          </a:prstGeom>
        </p:spPr>
      </p:pic>
      <p:sp>
        <p:nvSpPr>
          <p:cNvPr id="12" name="正方形/長方形 11"/>
          <p:cNvSpPr/>
          <p:nvPr/>
        </p:nvSpPr>
        <p:spPr>
          <a:xfrm>
            <a:off x="2209800" y="649504"/>
            <a:ext cx="2286000" cy="17126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4579058" y="3537250"/>
            <a:ext cx="5403143" cy="27873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 dirty="0"/>
          </a:p>
        </p:txBody>
      </p:sp>
      <p:sp>
        <p:nvSpPr>
          <p:cNvPr id="14" name="テキスト ボックス 13"/>
          <p:cNvSpPr txBox="1">
            <a:spLocks noChangeAspect="1"/>
          </p:cNvSpPr>
          <p:nvPr/>
        </p:nvSpPr>
        <p:spPr>
          <a:xfrm>
            <a:off x="3210900" y="1443134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>
            <a:spLocks noChangeAspect="1"/>
          </p:cNvSpPr>
          <p:nvPr/>
        </p:nvSpPr>
        <p:spPr>
          <a:xfrm>
            <a:off x="7097100" y="466724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209800" y="2384685"/>
            <a:ext cx="2286000" cy="40161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4572000" y="649504"/>
            <a:ext cx="5410200" cy="28494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8" name="テキスト ボックス 17"/>
          <p:cNvSpPr txBox="1">
            <a:spLocks noChangeAspect="1"/>
          </p:cNvSpPr>
          <p:nvPr/>
        </p:nvSpPr>
        <p:spPr>
          <a:xfrm>
            <a:off x="7097100" y="1810629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>
            <a:spLocks noChangeAspect="1"/>
          </p:cNvSpPr>
          <p:nvPr/>
        </p:nvSpPr>
        <p:spPr>
          <a:xfrm>
            <a:off x="3189133" y="392949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3" y="1535008"/>
            <a:ext cx="6293569" cy="334279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535009"/>
            <a:ext cx="3219450" cy="2682875"/>
          </a:xfrm>
          <a:prstGeom prst="rect">
            <a:avLst/>
          </a:prstGeom>
        </p:spPr>
      </p:pic>
      <p:sp>
        <p:nvSpPr>
          <p:cNvPr id="16" name="正方形/長方形 15"/>
          <p:cNvSpPr/>
          <p:nvPr/>
        </p:nvSpPr>
        <p:spPr>
          <a:xfrm>
            <a:off x="1486810" y="1741592"/>
            <a:ext cx="5483902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7" name="テキスト ボックス 16"/>
          <p:cNvSpPr txBox="1">
            <a:spLocks noChangeAspect="1"/>
          </p:cNvSpPr>
          <p:nvPr/>
        </p:nvSpPr>
        <p:spPr>
          <a:xfrm>
            <a:off x="7003004" y="1602755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1484312" y="1976438"/>
            <a:ext cx="3124200" cy="25083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4631096" y="1976438"/>
            <a:ext cx="3124200" cy="25083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0" name="正方形/長方形 19"/>
          <p:cNvSpPr/>
          <p:nvPr/>
        </p:nvSpPr>
        <p:spPr>
          <a:xfrm>
            <a:off x="7848600" y="1524001"/>
            <a:ext cx="3219450" cy="26938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1480465" y="4484790"/>
            <a:ext cx="6274831" cy="39300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22" name="テキスト ボックス 21"/>
          <p:cNvSpPr txBox="1">
            <a:spLocks noChangeAspect="1"/>
          </p:cNvSpPr>
          <p:nvPr/>
        </p:nvSpPr>
        <p:spPr>
          <a:xfrm>
            <a:off x="3018812" y="284173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3" name="テキスト ボックス 22"/>
          <p:cNvSpPr txBox="1">
            <a:spLocks noChangeAspect="1"/>
          </p:cNvSpPr>
          <p:nvPr/>
        </p:nvSpPr>
        <p:spPr>
          <a:xfrm>
            <a:off x="6193196" y="2841737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4" name="テキスト ボックス 23"/>
          <p:cNvSpPr txBox="1">
            <a:spLocks noChangeAspect="1"/>
          </p:cNvSpPr>
          <p:nvPr/>
        </p:nvSpPr>
        <p:spPr>
          <a:xfrm>
            <a:off x="4749645" y="4496628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25" name="テキスト ボックス 24"/>
          <p:cNvSpPr txBox="1">
            <a:spLocks noChangeAspect="1"/>
          </p:cNvSpPr>
          <p:nvPr/>
        </p:nvSpPr>
        <p:spPr>
          <a:xfrm>
            <a:off x="9386578" y="2887180"/>
            <a:ext cx="327334" cy="36933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824" y="0"/>
            <a:ext cx="2534897" cy="4337050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0"/>
            <a:ext cx="2501890" cy="4337050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2743200" y="7057"/>
            <a:ext cx="2467059" cy="13747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2743200" y="1369571"/>
            <a:ext cx="2467058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368926" y="1381831"/>
            <a:ext cx="2504795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743200" y="1601787"/>
            <a:ext cx="2467058" cy="258921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5368926" y="1608138"/>
            <a:ext cx="2504795" cy="25503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820275" y="47245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445081" y="4746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854289" y="1198973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3837692" y="242958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445081" y="2429581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730682" y="4344106"/>
            <a:ext cx="2514409" cy="36988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Is-a</a:t>
            </a: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階層パネル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370054" y="4349750"/>
            <a:ext cx="2503667" cy="36988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Has-a</a:t>
            </a:r>
            <a:r>
              <a:rPr lang="ja-JP" altLang="en-US" dirty="0">
                <a:latin typeface="Meiryo" charset="-128"/>
                <a:ea typeface="Meiryo" charset="-128"/>
                <a:cs typeface="Meiryo" charset="-128"/>
              </a:rPr>
              <a:t>階層パネル</a:t>
            </a:r>
          </a:p>
        </p:txBody>
      </p:sp>
      <p:sp>
        <p:nvSpPr>
          <p:cNvPr id="75800" name="正方形/長方形 24"/>
          <p:cNvSpPr>
            <a:spLocks noChangeArrowheads="1"/>
          </p:cNvSpPr>
          <p:nvPr/>
        </p:nvSpPr>
        <p:spPr bwMode="auto">
          <a:xfrm>
            <a:off x="6861279" y="5395032"/>
            <a:ext cx="2571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75801" name="正方形/長方形 25"/>
          <p:cNvSpPr>
            <a:spLocks noChangeArrowheads="1"/>
          </p:cNvSpPr>
          <p:nvPr/>
        </p:nvSpPr>
        <p:spPr bwMode="auto">
          <a:xfrm>
            <a:off x="6861279" y="5658557"/>
            <a:ext cx="2667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単一継承のベストマッチノード</a:t>
            </a:r>
          </a:p>
        </p:txBody>
      </p:sp>
      <p:sp>
        <p:nvSpPr>
          <p:cNvPr id="75802" name="正方形/長方形 26"/>
          <p:cNvSpPr>
            <a:spLocks noChangeArrowheads="1"/>
          </p:cNvSpPr>
          <p:nvPr/>
        </p:nvSpPr>
        <p:spPr bwMode="auto">
          <a:xfrm>
            <a:off x="6861279" y="6128457"/>
            <a:ext cx="2667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多重継承のベストマッチノード</a:t>
            </a:r>
          </a:p>
        </p:txBody>
      </p:sp>
      <p:sp>
        <p:nvSpPr>
          <p:cNvPr id="75803" name="正方形/長方形 27"/>
          <p:cNvSpPr>
            <a:spLocks noChangeArrowheads="1"/>
          </p:cNvSpPr>
          <p:nvPr/>
        </p:nvSpPr>
        <p:spPr bwMode="auto">
          <a:xfrm>
            <a:off x="6861279" y="5895095"/>
            <a:ext cx="2095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5368926" y="-4273"/>
            <a:ext cx="2504795" cy="13738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539747" y="1196094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413" y="5873750"/>
            <a:ext cx="2093365" cy="527528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568" y="5377773"/>
            <a:ext cx="203200" cy="2032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568" y="5650198"/>
            <a:ext cx="203200" cy="203200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568" y="5911565"/>
            <a:ext cx="203200" cy="203200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568" y="6169025"/>
            <a:ext cx="203200" cy="203200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8575" y="4944723"/>
            <a:ext cx="1764213" cy="18580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43001"/>
            <a:ext cx="9144000" cy="451578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559588" y="1447800"/>
            <a:ext cx="2936212" cy="42109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4495800" y="1447798"/>
            <a:ext cx="3048000" cy="42109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7550046" y="1447798"/>
            <a:ext cx="3124200" cy="42109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853447" y="40386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63347" y="26670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911347" y="2590800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/>
              <a:t>3</a:t>
            </a:r>
            <a:endParaRPr lang="ja-JP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0"/>
            <a:ext cx="9091914" cy="685800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4452458" y="3505200"/>
            <a:ext cx="6248400" cy="27432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420205" y="4539734"/>
            <a:ext cx="312906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/>
              <a:t>1</a:t>
            </a:r>
            <a:endParaRPr lang="ja-JP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正方形/長方形 5"/>
          <p:cNvSpPr>
            <a:spLocks noChangeArrowheads="1"/>
          </p:cNvSpPr>
          <p:nvPr/>
        </p:nvSpPr>
        <p:spPr bwMode="auto">
          <a:xfrm>
            <a:off x="2286000" y="409576"/>
            <a:ext cx="2277836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sp>
        <p:nvSpPr>
          <p:cNvPr id="78855" name="正方形/長方形 6"/>
          <p:cNvSpPr>
            <a:spLocks noChangeArrowheads="1"/>
          </p:cNvSpPr>
          <p:nvPr/>
        </p:nvSpPr>
        <p:spPr bwMode="auto">
          <a:xfrm>
            <a:off x="2286000" y="673101"/>
            <a:ext cx="2362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単一継承のベストマッチノード</a:t>
            </a:r>
          </a:p>
        </p:txBody>
      </p:sp>
      <p:sp>
        <p:nvSpPr>
          <p:cNvPr id="78856" name="正方形/長方形 7"/>
          <p:cNvSpPr>
            <a:spLocks noChangeArrowheads="1"/>
          </p:cNvSpPr>
          <p:nvPr/>
        </p:nvSpPr>
        <p:spPr bwMode="auto">
          <a:xfrm>
            <a:off x="2286000" y="1143001"/>
            <a:ext cx="2362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多重継承のベストマッチノード</a:t>
            </a:r>
          </a:p>
        </p:txBody>
      </p:sp>
      <p:sp>
        <p:nvSpPr>
          <p:cNvPr id="78857" name="正方形/長方形 8"/>
          <p:cNvSpPr>
            <a:spLocks noChangeArrowheads="1"/>
          </p:cNvSpPr>
          <p:nvPr/>
        </p:nvSpPr>
        <p:spPr bwMode="auto">
          <a:xfrm>
            <a:off x="2286000" y="909639"/>
            <a:ext cx="1856014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多重継承の</a:t>
            </a:r>
            <a:r>
              <a:rPr lang="en-US" altLang="ja-JP" sz="1200" dirty="0">
                <a:latin typeface="Meiryo" charset="-128"/>
                <a:ea typeface="Meiryo" charset="-128"/>
                <a:cs typeface="Meiryo" charset="-128"/>
              </a:rPr>
              <a:t>SIN</a:t>
            </a:r>
            <a:r>
              <a:rPr lang="ja-JP" altLang="en-US" sz="1200" dirty="0">
                <a:latin typeface="Meiryo" charset="-128"/>
                <a:ea typeface="Meiryo" charset="-128"/>
                <a:cs typeface="Meiryo" charset="-128"/>
              </a:rPr>
              <a:t>ノード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22054"/>
            <a:ext cx="180000" cy="18000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217354"/>
            <a:ext cx="180000" cy="180000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62112"/>
            <a:ext cx="180000" cy="1800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69" y="431054"/>
            <a:ext cx="180000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888" y="0"/>
            <a:ext cx="8402224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981200" y="647700"/>
            <a:ext cx="4123544" cy="10266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104744" y="645614"/>
            <a:ext cx="4106056" cy="10191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981200" y="1674327"/>
            <a:ext cx="2438400" cy="24246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4419600" y="1676400"/>
            <a:ext cx="5791200" cy="914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4419601" y="2625141"/>
            <a:ext cx="5791199" cy="14738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1987446" y="4101046"/>
            <a:ext cx="8223354" cy="54506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1981200" y="4646114"/>
            <a:ext cx="4114800" cy="17546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104744" y="4648200"/>
            <a:ext cx="4106056" cy="1752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092266" y="1197927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1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302122" y="923782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2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036733" y="263473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3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151533" y="2093826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4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190941" y="3459180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5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172200" y="4188914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6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74933" y="5338791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7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996038" y="5338791"/>
            <a:ext cx="327334" cy="36933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ja-JP" dirty="0">
                <a:latin typeface="Meiryo" charset="-128"/>
                <a:ea typeface="Meiryo" charset="-128"/>
                <a:cs typeface="Meiryo" charset="-128"/>
              </a:rPr>
              <a:t>8</a:t>
            </a:r>
            <a:endParaRPr lang="ja-JP" altLang="en-US" dirty="0">
              <a:latin typeface="Meiryo" charset="-128"/>
              <a:ea typeface="Meiryo" charset="-128"/>
              <a:cs typeface="Meiry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2290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2"/>
</p:tagLst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CFFCC"/>
        </a:solidFill>
        <a:ln w="9525">
          <a:solidFill>
            <a:schemeClr val="tx1"/>
          </a:solidFill>
          <a:round/>
          <a:headEnd/>
          <a:tailEnd/>
        </a:ln>
      </a:spPr>
      <a:bodyPr wrap="none" anchor="ctr"/>
      <a:lstStyle>
        <a:defPPr algn="ctr">
          <a:defRPr/>
        </a:defPPr>
      </a:lstStyle>
    </a:sp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41419</TotalTime>
  <Words>2301</Words>
  <Application>Microsoft Macintosh PowerPoint</Application>
  <PresentationFormat>ワイド画面</PresentationFormat>
  <Paragraphs>705</Paragraphs>
  <Slides>30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6" baseType="lpstr">
      <vt:lpstr>ＭＳ Ｐゴシック</vt:lpstr>
      <vt:lpstr>Meiryo</vt:lpstr>
      <vt:lpstr>Arial</vt:lpstr>
      <vt:lpstr>Comic Sans MS</vt:lpstr>
      <vt:lpstr>Times New Roman</vt:lpstr>
      <vt:lpstr>標準デザイン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階層構築・洗練</vt:lpstr>
      <vt:lpstr>PowerPoint プレゼンテーション</vt:lpstr>
      <vt:lpstr>文脈類似概念対の獲得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t_morita</dc:creator>
  <cp:lastModifiedBy>森田　武史</cp:lastModifiedBy>
  <cp:revision>917</cp:revision>
  <cp:lastPrinted>1601-01-01T00:00:00Z</cp:lastPrinted>
  <dcterms:created xsi:type="dcterms:W3CDTF">1601-01-01T00:00:00Z</dcterms:created>
  <dcterms:modified xsi:type="dcterms:W3CDTF">2026-06-14T12:35:35Z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